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71" r:id="rId2"/>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6" r:id="rId47"/>
    <p:sldId id="317" r:id="rId48"/>
    <p:sldId id="318" r:id="rId49"/>
    <p:sldId id="319"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Lst>
  <p:sldSz cx="12192000" cy="6858000"/>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F56EB6-59DB-4AD9-9F74-8F572FB6F0B5}" v="3620" dt="2024-02-06T10:05:20.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18" autoAdjust="0"/>
    <p:restoredTop sz="94222" autoAdjust="0"/>
  </p:normalViewPr>
  <p:slideViewPr>
    <p:cSldViewPr snapToGrid="0">
      <p:cViewPr varScale="1">
        <p:scale>
          <a:sx n="161" d="100"/>
          <a:sy n="161" d="100"/>
        </p:scale>
        <p:origin x="312"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 MOMMER" userId="719dc0502fd0643e" providerId="LiveId" clId="{9932E42A-4BBD-4E14-93BB-5AF8FABD04D4}"/>
    <pc:docChg chg="custSel addSld delSld modSld sldOrd">
      <pc:chgData name="Christophe MOMMER" userId="719dc0502fd0643e" providerId="LiveId" clId="{9932E42A-4BBD-4E14-93BB-5AF8FABD04D4}" dt="2021-08-24T09:28:42.465" v="57" actId="1076"/>
      <pc:docMkLst>
        <pc:docMk/>
      </pc:docMkLst>
      <pc:sldChg chg="addSp delSp modSp add mod ord setBg">
        <pc:chgData name="Christophe MOMMER" userId="719dc0502fd0643e" providerId="LiveId" clId="{9932E42A-4BBD-4E14-93BB-5AF8FABD04D4}" dt="2021-08-24T09:28:42.465" v="57" actId="1076"/>
        <pc:sldMkLst>
          <pc:docMk/>
          <pc:sldMk cId="1305305238" sldId="271"/>
        </pc:sldMkLst>
        <pc:spChg chg="mod">
          <ac:chgData name="Christophe MOMMER" userId="719dc0502fd0643e" providerId="LiveId" clId="{9932E42A-4BBD-4E14-93BB-5AF8FABD04D4}" dt="2021-08-24T09:27:52.233" v="39" actId="1076"/>
          <ac:spMkLst>
            <pc:docMk/>
            <pc:sldMk cId="1305305238" sldId="271"/>
            <ac:spMk id="2" creationId="{6A23380E-1AC7-4EC3-8A26-1760179AE200}"/>
          </ac:spMkLst>
        </pc:spChg>
        <pc:spChg chg="mod">
          <ac:chgData name="Christophe MOMMER" userId="719dc0502fd0643e" providerId="LiveId" clId="{9932E42A-4BBD-4E14-93BB-5AF8FABD04D4}" dt="2021-08-24T09:28:17.897" v="53" actId="1076"/>
          <ac:spMkLst>
            <pc:docMk/>
            <pc:sldMk cId="1305305238" sldId="271"/>
            <ac:spMk id="8" creationId="{24ACAD10-D0B4-41AF-8F55-5AA99F5D6199}"/>
          </ac:spMkLst>
        </pc:spChg>
        <pc:spChg chg="mod">
          <ac:chgData name="Christophe MOMMER" userId="719dc0502fd0643e" providerId="LiveId" clId="{9932E42A-4BBD-4E14-93BB-5AF8FABD04D4}" dt="2021-08-24T09:28:09.799" v="48" actId="1076"/>
          <ac:spMkLst>
            <pc:docMk/>
            <pc:sldMk cId="1305305238" sldId="271"/>
            <ac:spMk id="9" creationId="{ED158F36-04B9-4140-8D6A-CEB01E1A002C}"/>
          </ac:spMkLst>
        </pc:spChg>
        <pc:picChg chg="del">
          <ac:chgData name="Christophe MOMMER" userId="719dc0502fd0643e" providerId="LiveId" clId="{9932E42A-4BBD-4E14-93BB-5AF8FABD04D4}" dt="2021-08-24T09:28:19.460" v="54" actId="478"/>
          <ac:picMkLst>
            <pc:docMk/>
            <pc:sldMk cId="1305305238" sldId="271"/>
            <ac:picMk id="4" creationId="{390F316A-1DCE-4275-8F63-D477681BB62E}"/>
          </ac:picMkLst>
        </pc:picChg>
        <pc:picChg chg="add mod">
          <ac:chgData name="Christophe MOMMER" userId="719dc0502fd0643e" providerId="LiveId" clId="{9932E42A-4BBD-4E14-93BB-5AF8FABD04D4}" dt="2021-08-24T09:28:42.465" v="57" actId="1076"/>
          <ac:picMkLst>
            <pc:docMk/>
            <pc:sldMk cId="1305305238" sldId="271"/>
            <ac:picMk id="5" creationId="{C70F896A-B3C6-45DE-B895-5192F7C73875}"/>
          </ac:picMkLst>
        </pc:picChg>
      </pc:sldChg>
      <pc:sldChg chg="delSp add del ord setBg delDesignElem">
        <pc:chgData name="Christophe MOMMER" userId="719dc0502fd0643e" providerId="LiveId" clId="{9932E42A-4BBD-4E14-93BB-5AF8FABD04D4}" dt="2021-08-24T09:27:17.995" v="4" actId="47"/>
        <pc:sldMkLst>
          <pc:docMk/>
          <pc:sldMk cId="3551880160" sldId="271"/>
        </pc:sldMkLst>
        <pc:spChg chg="del">
          <ac:chgData name="Christophe MOMMER" userId="719dc0502fd0643e" providerId="LiveId" clId="{9932E42A-4BBD-4E14-93BB-5AF8FABD04D4}" dt="2021-08-24T09:27:15.310" v="1"/>
          <ac:spMkLst>
            <pc:docMk/>
            <pc:sldMk cId="3551880160" sldId="271"/>
            <ac:spMk id="21" creationId="{158B3569-73B2-4D05-8E95-886A6EE17F1F}"/>
          </ac:spMkLst>
        </pc:spChg>
        <pc:spChg chg="del">
          <ac:chgData name="Christophe MOMMER" userId="719dc0502fd0643e" providerId="LiveId" clId="{9932E42A-4BBD-4E14-93BB-5AF8FABD04D4}" dt="2021-08-24T09:27:15.310" v="1"/>
          <ac:spMkLst>
            <pc:docMk/>
            <pc:sldMk cId="3551880160" sldId="271"/>
            <ac:spMk id="23" creationId="{B71758F4-3F46-45DA-8AC5-4E508DA080BA}"/>
          </ac:spMkLst>
        </pc:spChg>
        <pc:spChg chg="del">
          <ac:chgData name="Christophe MOMMER" userId="719dc0502fd0643e" providerId="LiveId" clId="{9932E42A-4BBD-4E14-93BB-5AF8FABD04D4}" dt="2021-08-24T09:27:15.310" v="1"/>
          <ac:spMkLst>
            <pc:docMk/>
            <pc:sldMk cId="3551880160" sldId="271"/>
            <ac:spMk id="27" creationId="{8D61482F-F3C5-4D66-8C5D-C6BBE3E1275C}"/>
          </ac:spMkLst>
        </pc:spChg>
        <pc:cxnChg chg="del">
          <ac:chgData name="Christophe MOMMER" userId="719dc0502fd0643e" providerId="LiveId" clId="{9932E42A-4BBD-4E14-93BB-5AF8FABD04D4}" dt="2021-08-24T09:27:15.310" v="1"/>
          <ac:cxnSpMkLst>
            <pc:docMk/>
            <pc:sldMk cId="3551880160" sldId="271"/>
            <ac:cxnSpMk id="25" creationId="{56020367-4FD5-4596-8E10-C5F095CD8DBF}"/>
          </ac:cxnSpMkLst>
        </pc:cxnChg>
      </pc:sldChg>
    </pc:docChg>
  </pc:docChgLst>
  <pc:docChgLst>
    <pc:chgData name="Christophe MOMMER" userId="719dc0502fd0643e" providerId="LiveId" clId="{2B6D5FB9-4339-4D94-8F03-ED190C43C3D9}"/>
    <pc:docChg chg="custSel addSld modSld">
      <pc:chgData name="Christophe MOMMER" userId="719dc0502fd0643e" providerId="LiveId" clId="{2B6D5FB9-4339-4D94-8F03-ED190C43C3D9}" dt="2021-12-07T10:03:36.553" v="365"/>
      <pc:docMkLst>
        <pc:docMk/>
      </pc:docMkLst>
      <pc:sldChg chg="delSp modSp mod delAnim modAnim">
        <pc:chgData name="Christophe MOMMER" userId="719dc0502fd0643e" providerId="LiveId" clId="{2B6D5FB9-4339-4D94-8F03-ED190C43C3D9}" dt="2021-12-07T10:03:11.388" v="293"/>
        <pc:sldMkLst>
          <pc:docMk/>
          <pc:sldMk cId="1060296681" sldId="256"/>
        </pc:sldMkLst>
        <pc:spChg chg="mod">
          <ac:chgData name="Christophe MOMMER" userId="719dc0502fd0643e" providerId="LiveId" clId="{2B6D5FB9-4339-4D94-8F03-ED190C43C3D9}" dt="2021-12-07T09:59:02.240" v="13" actId="20577"/>
          <ac:spMkLst>
            <pc:docMk/>
            <pc:sldMk cId="1060296681" sldId="256"/>
            <ac:spMk id="2" creationId="{5CA23E14-01ED-4A5E-8D1E-EB71885E55F9}"/>
          </ac:spMkLst>
        </pc:spChg>
        <pc:spChg chg="mod">
          <ac:chgData name="Christophe MOMMER" userId="719dc0502fd0643e" providerId="LiveId" clId="{2B6D5FB9-4339-4D94-8F03-ED190C43C3D9}" dt="2021-12-07T10:03:05.002" v="291" actId="20577"/>
          <ac:spMkLst>
            <pc:docMk/>
            <pc:sldMk cId="1060296681" sldId="256"/>
            <ac:spMk id="9" creationId="{50344EAD-8675-433E-AA31-409659FDFD0C}"/>
          </ac:spMkLst>
        </pc:spChg>
        <pc:spChg chg="del">
          <ac:chgData name="Christophe MOMMER" userId="719dc0502fd0643e" providerId="LiveId" clId="{2B6D5FB9-4339-4D94-8F03-ED190C43C3D9}" dt="2021-12-07T09:59:08.165" v="19" actId="478"/>
          <ac:spMkLst>
            <pc:docMk/>
            <pc:sldMk cId="1060296681" sldId="256"/>
            <ac:spMk id="11" creationId="{FFE168E4-5D7C-48C8-8792-4A61F18ECDD0}"/>
          </ac:spMkLst>
        </pc:spChg>
        <pc:spChg chg="del mod">
          <ac:chgData name="Christophe MOMMER" userId="719dc0502fd0643e" providerId="LiveId" clId="{2B6D5FB9-4339-4D94-8F03-ED190C43C3D9}" dt="2021-12-07T09:59:08.913" v="20" actId="478"/>
          <ac:spMkLst>
            <pc:docMk/>
            <pc:sldMk cId="1060296681" sldId="256"/>
            <ac:spMk id="17" creationId="{AF838005-812A-429D-B5B2-2CCE0882DCA2}"/>
          </ac:spMkLst>
        </pc:spChg>
        <pc:spChg chg="del">
          <ac:chgData name="Christophe MOMMER" userId="719dc0502fd0643e" providerId="LiveId" clId="{2B6D5FB9-4339-4D94-8F03-ED190C43C3D9}" dt="2021-12-07T09:59:10.059" v="21" actId="478"/>
          <ac:spMkLst>
            <pc:docMk/>
            <pc:sldMk cId="1060296681" sldId="256"/>
            <ac:spMk id="19" creationId="{429F2717-AF09-4C27-9B6D-C18F4A23A1ED}"/>
          </ac:spMkLst>
        </pc:spChg>
      </pc:sldChg>
      <pc:sldChg chg="add">
        <pc:chgData name="Christophe MOMMER" userId="719dc0502fd0643e" providerId="LiveId" clId="{2B6D5FB9-4339-4D94-8F03-ED190C43C3D9}" dt="2021-12-07T09:58:57.832" v="0" actId="2890"/>
        <pc:sldMkLst>
          <pc:docMk/>
          <pc:sldMk cId="633555165" sldId="272"/>
        </pc:sldMkLst>
      </pc:sldChg>
      <pc:sldChg chg="modSp add mod modAnim">
        <pc:chgData name="Christophe MOMMER" userId="719dc0502fd0643e" providerId="LiveId" clId="{2B6D5FB9-4339-4D94-8F03-ED190C43C3D9}" dt="2021-12-07T10:03:36.553" v="365"/>
        <pc:sldMkLst>
          <pc:docMk/>
          <pc:sldMk cId="457775118" sldId="273"/>
        </pc:sldMkLst>
        <pc:spChg chg="mod">
          <ac:chgData name="Christophe MOMMER" userId="719dc0502fd0643e" providerId="LiveId" clId="{2B6D5FB9-4339-4D94-8F03-ED190C43C3D9}" dt="2021-12-07T10:03:19.258" v="308" actId="20577"/>
          <ac:spMkLst>
            <pc:docMk/>
            <pc:sldMk cId="457775118" sldId="273"/>
            <ac:spMk id="2" creationId="{5CA23E14-01ED-4A5E-8D1E-EB71885E55F9}"/>
          </ac:spMkLst>
        </pc:spChg>
        <pc:spChg chg="mod">
          <ac:chgData name="Christophe MOMMER" userId="719dc0502fd0643e" providerId="LiveId" clId="{2B6D5FB9-4339-4D94-8F03-ED190C43C3D9}" dt="2021-12-07T10:03:32.786" v="363" actId="20577"/>
          <ac:spMkLst>
            <pc:docMk/>
            <pc:sldMk cId="457775118" sldId="273"/>
            <ac:spMk id="9" creationId="{50344EAD-8675-433E-AA31-409659FDFD0C}"/>
          </ac:spMkLst>
        </pc:spChg>
      </pc:sldChg>
    </pc:docChg>
  </pc:docChgLst>
  <pc:docChgLst>
    <pc:chgData name="Christophe MOMMER" userId="719dc0502fd0643e" providerId="LiveId" clId="{93F56EB6-59DB-4AD9-9F74-8F572FB6F0B5}"/>
    <pc:docChg chg="undo redo custSel addSld delSld modSld sldOrd">
      <pc:chgData name="Christophe MOMMER" userId="719dc0502fd0643e" providerId="LiveId" clId="{93F56EB6-59DB-4AD9-9F74-8F572FB6F0B5}" dt="2024-02-28T08:54:18.973" v="13853" actId="113"/>
      <pc:docMkLst>
        <pc:docMk/>
      </pc:docMkLst>
      <pc:sldChg chg="modSp mod modAnim">
        <pc:chgData name="Christophe MOMMER" userId="719dc0502fd0643e" providerId="LiveId" clId="{93F56EB6-59DB-4AD9-9F74-8F572FB6F0B5}" dt="2024-02-06T09:29:42.444" v="13086" actId="20577"/>
        <pc:sldMkLst>
          <pc:docMk/>
          <pc:sldMk cId="2899108268" sldId="273"/>
        </pc:sldMkLst>
        <pc:spChg chg="mod">
          <ac:chgData name="Christophe MOMMER" userId="719dc0502fd0643e" providerId="LiveId" clId="{93F56EB6-59DB-4AD9-9F74-8F572FB6F0B5}" dt="2024-02-06T09:29:42.444" v="13086" actId="20577"/>
          <ac:spMkLst>
            <pc:docMk/>
            <pc:sldMk cId="2899108268" sldId="273"/>
            <ac:spMk id="19" creationId="{429F2717-AF09-4C27-9B6D-C18F4A23A1ED}"/>
          </ac:spMkLst>
        </pc:spChg>
      </pc:sldChg>
      <pc:sldChg chg="modSp mod modAnim">
        <pc:chgData name="Christophe MOMMER" userId="719dc0502fd0643e" providerId="LiveId" clId="{93F56EB6-59DB-4AD9-9F74-8F572FB6F0B5}" dt="2024-02-06T09:44:57.610" v="13091" actId="20577"/>
        <pc:sldMkLst>
          <pc:docMk/>
          <pc:sldMk cId="3289134280" sldId="274"/>
        </pc:sldMkLst>
        <pc:spChg chg="mod">
          <ac:chgData name="Christophe MOMMER" userId="719dc0502fd0643e" providerId="LiveId" clId="{93F56EB6-59DB-4AD9-9F74-8F572FB6F0B5}" dt="2024-02-06T09:44:57.610" v="13091" actId="20577"/>
          <ac:spMkLst>
            <pc:docMk/>
            <pc:sldMk cId="3289134280" sldId="274"/>
            <ac:spMk id="3" creationId="{D9EFA638-9266-0637-0FF0-467BA47C4413}"/>
          </ac:spMkLst>
        </pc:spChg>
      </pc:sldChg>
      <pc:sldChg chg="modSp mod ord modAnim">
        <pc:chgData name="Christophe MOMMER" userId="719dc0502fd0643e" providerId="LiveId" clId="{93F56EB6-59DB-4AD9-9F74-8F572FB6F0B5}" dt="2024-02-06T09:52:16.814" v="13093"/>
        <pc:sldMkLst>
          <pc:docMk/>
          <pc:sldMk cId="479463773" sldId="275"/>
        </pc:sldMkLst>
        <pc:spChg chg="mod">
          <ac:chgData name="Christophe MOMMER" userId="719dc0502fd0643e" providerId="LiveId" clId="{93F56EB6-59DB-4AD9-9F74-8F572FB6F0B5}" dt="2024-02-06T09:06:44.668" v="12943" actId="20577"/>
          <ac:spMkLst>
            <pc:docMk/>
            <pc:sldMk cId="479463773" sldId="275"/>
            <ac:spMk id="3" creationId="{D9EFA638-9266-0637-0FF0-467BA47C4413}"/>
          </ac:spMkLst>
        </pc:spChg>
      </pc:sldChg>
      <pc:sldChg chg="modSp add mod modAnim">
        <pc:chgData name="Christophe MOMMER" userId="719dc0502fd0643e" providerId="LiveId" clId="{93F56EB6-59DB-4AD9-9F74-8F572FB6F0B5}" dt="2024-02-06T10:09:33.437" v="13101" actId="6549"/>
        <pc:sldMkLst>
          <pc:docMk/>
          <pc:sldMk cId="3768454887" sldId="276"/>
        </pc:sldMkLst>
        <pc:spChg chg="mod">
          <ac:chgData name="Christophe MOMMER" userId="719dc0502fd0643e" providerId="LiveId" clId="{93F56EB6-59DB-4AD9-9F74-8F572FB6F0B5}" dt="2024-01-27T14:27:25.238" v="35" actId="20577"/>
          <ac:spMkLst>
            <pc:docMk/>
            <pc:sldMk cId="3768454887" sldId="276"/>
            <ac:spMk id="2" creationId="{5CA23E14-01ED-4A5E-8D1E-EB71885E55F9}"/>
          </ac:spMkLst>
        </pc:spChg>
        <pc:spChg chg="mod">
          <ac:chgData name="Christophe MOMMER" userId="719dc0502fd0643e" providerId="LiveId" clId="{93F56EB6-59DB-4AD9-9F74-8F572FB6F0B5}" dt="2024-02-06T10:09:33.437" v="13101" actId="6549"/>
          <ac:spMkLst>
            <pc:docMk/>
            <pc:sldMk cId="3768454887" sldId="276"/>
            <ac:spMk id="3" creationId="{D9EFA638-9266-0637-0FF0-467BA47C4413}"/>
          </ac:spMkLst>
        </pc:spChg>
      </pc:sldChg>
      <pc:sldChg chg="modSp add mod ord modAnim">
        <pc:chgData name="Christophe MOMMER" userId="719dc0502fd0643e" providerId="LiveId" clId="{93F56EB6-59DB-4AD9-9F74-8F572FB6F0B5}" dt="2024-01-27T15:24:39.415" v="4570"/>
        <pc:sldMkLst>
          <pc:docMk/>
          <pc:sldMk cId="3877968185" sldId="277"/>
        </pc:sldMkLst>
        <pc:spChg chg="mod">
          <ac:chgData name="Christophe MOMMER" userId="719dc0502fd0643e" providerId="LiveId" clId="{93F56EB6-59DB-4AD9-9F74-8F572FB6F0B5}" dt="2024-01-27T14:32:54.065" v="1157" actId="20577"/>
          <ac:spMkLst>
            <pc:docMk/>
            <pc:sldMk cId="3877968185" sldId="277"/>
            <ac:spMk id="2" creationId="{5CA23E14-01ED-4A5E-8D1E-EB71885E55F9}"/>
          </ac:spMkLst>
        </pc:spChg>
        <pc:spChg chg="mod">
          <ac:chgData name="Christophe MOMMER" userId="719dc0502fd0643e" providerId="LiveId" clId="{93F56EB6-59DB-4AD9-9F74-8F572FB6F0B5}" dt="2024-01-27T15:18:10.215" v="4011" actId="20577"/>
          <ac:spMkLst>
            <pc:docMk/>
            <pc:sldMk cId="3877968185" sldId="277"/>
            <ac:spMk id="3" creationId="{D9EFA638-9266-0637-0FF0-467BA47C4413}"/>
          </ac:spMkLst>
        </pc:spChg>
      </pc:sldChg>
      <pc:sldChg chg="addSp delSp modSp add mod modAnim">
        <pc:chgData name="Christophe MOMMER" userId="719dc0502fd0643e" providerId="LiveId" clId="{93F56EB6-59DB-4AD9-9F74-8F572FB6F0B5}" dt="2024-01-27T15:06:01.008" v="2748"/>
        <pc:sldMkLst>
          <pc:docMk/>
          <pc:sldMk cId="458294388" sldId="278"/>
        </pc:sldMkLst>
        <pc:spChg chg="mod">
          <ac:chgData name="Christophe MOMMER" userId="719dc0502fd0643e" providerId="LiveId" clId="{93F56EB6-59DB-4AD9-9F74-8F572FB6F0B5}" dt="2024-01-27T14:34:29.422" v="1382" actId="20577"/>
          <ac:spMkLst>
            <pc:docMk/>
            <pc:sldMk cId="458294388" sldId="278"/>
            <ac:spMk id="2" creationId="{5CA23E14-01ED-4A5E-8D1E-EB71885E55F9}"/>
          </ac:spMkLst>
        </pc:spChg>
        <pc:spChg chg="mod">
          <ac:chgData name="Christophe MOMMER" userId="719dc0502fd0643e" providerId="LiveId" clId="{93F56EB6-59DB-4AD9-9F74-8F572FB6F0B5}" dt="2024-01-27T14:36:33.924" v="1708" actId="20577"/>
          <ac:spMkLst>
            <pc:docMk/>
            <pc:sldMk cId="458294388" sldId="278"/>
            <ac:spMk id="3" creationId="{D9EFA638-9266-0637-0FF0-467BA47C4413}"/>
          </ac:spMkLst>
        </pc:spChg>
        <pc:spChg chg="add mod">
          <ac:chgData name="Christophe MOMMER" userId="719dc0502fd0643e" providerId="LiveId" clId="{93F56EB6-59DB-4AD9-9F74-8F572FB6F0B5}" dt="2024-01-27T14:38:57.697" v="1929" actId="1076"/>
          <ac:spMkLst>
            <pc:docMk/>
            <pc:sldMk cId="458294388" sldId="278"/>
            <ac:spMk id="7" creationId="{03ABBA69-70D7-1E53-63D1-931B7BA96FE6}"/>
          </ac:spMkLst>
        </pc:spChg>
        <pc:spChg chg="add del mod">
          <ac:chgData name="Christophe MOMMER" userId="719dc0502fd0643e" providerId="LiveId" clId="{93F56EB6-59DB-4AD9-9F74-8F572FB6F0B5}" dt="2024-01-27T14:38:54.353" v="1928" actId="478"/>
          <ac:spMkLst>
            <pc:docMk/>
            <pc:sldMk cId="458294388" sldId="278"/>
            <ac:spMk id="8" creationId="{7E0ABDE5-59E2-5F4E-520F-69DDA15A8057}"/>
          </ac:spMkLst>
        </pc:spChg>
        <pc:picChg chg="add mod">
          <ac:chgData name="Christophe MOMMER" userId="719dc0502fd0643e" providerId="LiveId" clId="{93F56EB6-59DB-4AD9-9F74-8F572FB6F0B5}" dt="2024-01-27T14:36:34.893" v="1710" actId="14100"/>
          <ac:picMkLst>
            <pc:docMk/>
            <pc:sldMk cId="458294388" sldId="278"/>
            <ac:picMk id="6" creationId="{2A8FB1EC-CF6C-6AD5-F73C-B8C4D538046B}"/>
          </ac:picMkLst>
        </pc:picChg>
      </pc:sldChg>
      <pc:sldChg chg="addSp delSp modSp add mod ord modAnim">
        <pc:chgData name="Christophe MOMMER" userId="719dc0502fd0643e" providerId="LiveId" clId="{93F56EB6-59DB-4AD9-9F74-8F572FB6F0B5}" dt="2024-01-27T15:06:05.591" v="2749"/>
        <pc:sldMkLst>
          <pc:docMk/>
          <pc:sldMk cId="1836595123" sldId="279"/>
        </pc:sldMkLst>
        <pc:spChg chg="mod">
          <ac:chgData name="Christophe MOMMER" userId="719dc0502fd0643e" providerId="LiveId" clId="{93F56EB6-59DB-4AD9-9F74-8F572FB6F0B5}" dt="2024-01-27T14:42:55.082" v="2129" actId="20577"/>
          <ac:spMkLst>
            <pc:docMk/>
            <pc:sldMk cId="1836595123" sldId="279"/>
            <ac:spMk id="3" creationId="{D9EFA638-9266-0637-0FF0-467BA47C4413}"/>
          </ac:spMkLst>
        </pc:spChg>
        <pc:spChg chg="del">
          <ac:chgData name="Christophe MOMMER" userId="719dc0502fd0643e" providerId="LiveId" clId="{93F56EB6-59DB-4AD9-9F74-8F572FB6F0B5}" dt="2024-01-27T14:42:42.495" v="2053" actId="478"/>
          <ac:spMkLst>
            <pc:docMk/>
            <pc:sldMk cId="1836595123" sldId="279"/>
            <ac:spMk id="7" creationId="{03ABBA69-70D7-1E53-63D1-931B7BA96FE6}"/>
          </ac:spMkLst>
        </pc:spChg>
        <pc:picChg chg="del mod">
          <ac:chgData name="Christophe MOMMER" userId="719dc0502fd0643e" providerId="LiveId" clId="{93F56EB6-59DB-4AD9-9F74-8F572FB6F0B5}" dt="2024-01-27T14:42:40.043" v="2052" actId="478"/>
          <ac:picMkLst>
            <pc:docMk/>
            <pc:sldMk cId="1836595123" sldId="279"/>
            <ac:picMk id="6" creationId="{2A8FB1EC-CF6C-6AD5-F73C-B8C4D538046B}"/>
          </ac:picMkLst>
        </pc:picChg>
        <pc:picChg chg="add mod">
          <ac:chgData name="Christophe MOMMER" userId="719dc0502fd0643e" providerId="LiveId" clId="{93F56EB6-59DB-4AD9-9F74-8F572FB6F0B5}" dt="2024-01-27T14:46:16.481" v="2133" actId="1076"/>
          <ac:picMkLst>
            <pc:docMk/>
            <pc:sldMk cId="1836595123" sldId="279"/>
            <ac:picMk id="8" creationId="{075CF5F4-85A5-DBAE-7265-B69F5D3CE694}"/>
          </ac:picMkLst>
        </pc:picChg>
        <pc:picChg chg="add mod">
          <ac:chgData name="Christophe MOMMER" userId="719dc0502fd0643e" providerId="LiveId" clId="{93F56EB6-59DB-4AD9-9F74-8F572FB6F0B5}" dt="2024-01-27T14:58:21.443" v="2139" actId="1076"/>
          <ac:picMkLst>
            <pc:docMk/>
            <pc:sldMk cId="1836595123" sldId="279"/>
            <ac:picMk id="10" creationId="{4C215C89-468E-9C77-F46D-D4D8992684A0}"/>
          </ac:picMkLst>
        </pc:picChg>
      </pc:sldChg>
      <pc:sldChg chg="addSp delSp modSp add mod modAnim">
        <pc:chgData name="Christophe MOMMER" userId="719dc0502fd0643e" providerId="LiveId" clId="{93F56EB6-59DB-4AD9-9F74-8F572FB6F0B5}" dt="2024-01-27T15:06:07.974" v="2750"/>
        <pc:sldMkLst>
          <pc:docMk/>
          <pc:sldMk cId="4249485473" sldId="280"/>
        </pc:sldMkLst>
        <pc:spChg chg="mod">
          <ac:chgData name="Christophe MOMMER" userId="719dc0502fd0643e" providerId="LiveId" clId="{93F56EB6-59DB-4AD9-9F74-8F572FB6F0B5}" dt="2024-01-27T15:01:25.395" v="2256" actId="20577"/>
          <ac:spMkLst>
            <pc:docMk/>
            <pc:sldMk cId="4249485473" sldId="280"/>
            <ac:spMk id="3" creationId="{D9EFA638-9266-0637-0FF0-467BA47C4413}"/>
          </ac:spMkLst>
        </pc:spChg>
        <pc:picChg chg="add mod">
          <ac:chgData name="Christophe MOMMER" userId="719dc0502fd0643e" providerId="LiveId" clId="{93F56EB6-59DB-4AD9-9F74-8F572FB6F0B5}" dt="2024-01-27T15:01:13.910" v="2193" actId="1076"/>
          <ac:picMkLst>
            <pc:docMk/>
            <pc:sldMk cId="4249485473" sldId="280"/>
            <ac:picMk id="6" creationId="{0F721CCA-06DC-FC4E-3943-04557211BC3E}"/>
          </ac:picMkLst>
        </pc:picChg>
        <pc:picChg chg="del">
          <ac:chgData name="Christophe MOMMER" userId="719dc0502fd0643e" providerId="LiveId" clId="{93F56EB6-59DB-4AD9-9F74-8F572FB6F0B5}" dt="2024-01-27T14:58:38.810" v="2183" actId="478"/>
          <ac:picMkLst>
            <pc:docMk/>
            <pc:sldMk cId="4249485473" sldId="280"/>
            <ac:picMk id="8" creationId="{075CF5F4-85A5-DBAE-7265-B69F5D3CE694}"/>
          </ac:picMkLst>
        </pc:picChg>
        <pc:picChg chg="del">
          <ac:chgData name="Christophe MOMMER" userId="719dc0502fd0643e" providerId="LiveId" clId="{93F56EB6-59DB-4AD9-9F74-8F572FB6F0B5}" dt="2024-01-27T14:58:39.221" v="2184" actId="478"/>
          <ac:picMkLst>
            <pc:docMk/>
            <pc:sldMk cId="4249485473" sldId="280"/>
            <ac:picMk id="10" creationId="{4C215C89-468E-9C77-F46D-D4D8992684A0}"/>
          </ac:picMkLst>
        </pc:picChg>
      </pc:sldChg>
      <pc:sldChg chg="addSp delSp modSp add mod modAnim">
        <pc:chgData name="Christophe MOMMER" userId="719dc0502fd0643e" providerId="LiveId" clId="{93F56EB6-59DB-4AD9-9F74-8F572FB6F0B5}" dt="2024-01-27T15:06:10.196" v="2751"/>
        <pc:sldMkLst>
          <pc:docMk/>
          <pc:sldMk cId="1272968461" sldId="281"/>
        </pc:sldMkLst>
        <pc:spChg chg="mod">
          <ac:chgData name="Christophe MOMMER" userId="719dc0502fd0643e" providerId="LiveId" clId="{93F56EB6-59DB-4AD9-9F74-8F572FB6F0B5}" dt="2024-01-27T15:04:42.514" v="2740" actId="20577"/>
          <ac:spMkLst>
            <pc:docMk/>
            <pc:sldMk cId="1272968461" sldId="281"/>
            <ac:spMk id="3" creationId="{D9EFA638-9266-0637-0FF0-467BA47C4413}"/>
          </ac:spMkLst>
        </pc:spChg>
        <pc:picChg chg="del">
          <ac:chgData name="Christophe MOMMER" userId="719dc0502fd0643e" providerId="LiveId" clId="{93F56EB6-59DB-4AD9-9F74-8F572FB6F0B5}" dt="2024-01-27T15:03:32.369" v="2368" actId="478"/>
          <ac:picMkLst>
            <pc:docMk/>
            <pc:sldMk cId="1272968461" sldId="281"/>
            <ac:picMk id="6" creationId="{0F721CCA-06DC-FC4E-3943-04557211BC3E}"/>
          </ac:picMkLst>
        </pc:picChg>
        <pc:picChg chg="add mod">
          <ac:chgData name="Christophe MOMMER" userId="719dc0502fd0643e" providerId="LiveId" clId="{93F56EB6-59DB-4AD9-9F74-8F572FB6F0B5}" dt="2024-01-27T15:05:05.525" v="2744" actId="1076"/>
          <ac:picMkLst>
            <pc:docMk/>
            <pc:sldMk cId="1272968461" sldId="281"/>
            <ac:picMk id="7" creationId="{851921CC-EEB3-1EB0-6FCA-20509BC67013}"/>
          </ac:picMkLst>
        </pc:picChg>
      </pc:sldChg>
      <pc:sldChg chg="modSp add mod ord">
        <pc:chgData name="Christophe MOMMER" userId="719dc0502fd0643e" providerId="LiveId" clId="{93F56EB6-59DB-4AD9-9F74-8F572FB6F0B5}" dt="2024-02-06T10:08:35.025" v="13095"/>
        <pc:sldMkLst>
          <pc:docMk/>
          <pc:sldMk cId="329346716" sldId="282"/>
        </pc:sldMkLst>
        <pc:spChg chg="mod">
          <ac:chgData name="Christophe MOMMER" userId="719dc0502fd0643e" providerId="LiveId" clId="{93F56EB6-59DB-4AD9-9F74-8F572FB6F0B5}" dt="2024-01-27T15:24:41.958" v="4571" actId="20577"/>
          <ac:spMkLst>
            <pc:docMk/>
            <pc:sldMk cId="329346716" sldId="282"/>
            <ac:spMk id="2" creationId="{5CA23E14-01ED-4A5E-8D1E-EB71885E55F9}"/>
          </ac:spMkLst>
        </pc:spChg>
        <pc:spChg chg="mod">
          <ac:chgData name="Christophe MOMMER" userId="719dc0502fd0643e" providerId="LiveId" clId="{93F56EB6-59DB-4AD9-9F74-8F572FB6F0B5}" dt="2024-01-27T15:24:31.807" v="4568" actId="20577"/>
          <ac:spMkLst>
            <pc:docMk/>
            <pc:sldMk cId="329346716" sldId="282"/>
            <ac:spMk id="3" creationId="{D9EFA638-9266-0637-0FF0-467BA47C4413}"/>
          </ac:spMkLst>
        </pc:spChg>
      </pc:sldChg>
      <pc:sldChg chg="modSp add del mod">
        <pc:chgData name="Christophe MOMMER" userId="719dc0502fd0643e" providerId="LiveId" clId="{93F56EB6-59DB-4AD9-9F74-8F572FB6F0B5}" dt="2024-01-27T15:06:47.498" v="2799" actId="47"/>
        <pc:sldMkLst>
          <pc:docMk/>
          <pc:sldMk cId="3833725399" sldId="282"/>
        </pc:sldMkLst>
        <pc:spChg chg="mod">
          <ac:chgData name="Christophe MOMMER" userId="719dc0502fd0643e" providerId="LiveId" clId="{93F56EB6-59DB-4AD9-9F74-8F572FB6F0B5}" dt="2024-01-27T15:06:45.259" v="2798" actId="20577"/>
          <ac:spMkLst>
            <pc:docMk/>
            <pc:sldMk cId="3833725399" sldId="282"/>
            <ac:spMk id="3" creationId="{D9EFA638-9266-0637-0FF0-467BA47C4413}"/>
          </ac:spMkLst>
        </pc:spChg>
      </pc:sldChg>
      <pc:sldChg chg="delSp modSp add mod ord">
        <pc:chgData name="Christophe MOMMER" userId="719dc0502fd0643e" providerId="LiveId" clId="{93F56EB6-59DB-4AD9-9F74-8F572FB6F0B5}" dt="2024-02-07T07:48:22.245" v="13196" actId="20577"/>
        <pc:sldMkLst>
          <pc:docMk/>
          <pc:sldMk cId="2559251932" sldId="283"/>
        </pc:sldMkLst>
        <pc:spChg chg="mod">
          <ac:chgData name="Christophe MOMMER" userId="719dc0502fd0643e" providerId="LiveId" clId="{93F56EB6-59DB-4AD9-9F74-8F572FB6F0B5}" dt="2024-01-27T15:24:51.672" v="4586" actId="20577"/>
          <ac:spMkLst>
            <pc:docMk/>
            <pc:sldMk cId="2559251932" sldId="283"/>
            <ac:spMk id="2" creationId="{5CA23E14-01ED-4A5E-8D1E-EB71885E55F9}"/>
          </ac:spMkLst>
        </pc:spChg>
        <pc:spChg chg="mod">
          <ac:chgData name="Christophe MOMMER" userId="719dc0502fd0643e" providerId="LiveId" clId="{93F56EB6-59DB-4AD9-9F74-8F572FB6F0B5}" dt="2024-02-07T07:48:22.245" v="13196" actId="20577"/>
          <ac:spMkLst>
            <pc:docMk/>
            <pc:sldMk cId="2559251932" sldId="283"/>
            <ac:spMk id="3" creationId="{D9EFA638-9266-0637-0FF0-467BA47C4413}"/>
          </ac:spMkLst>
        </pc:spChg>
        <pc:picChg chg="del">
          <ac:chgData name="Christophe MOMMER" userId="719dc0502fd0643e" providerId="LiveId" clId="{93F56EB6-59DB-4AD9-9F74-8F572FB6F0B5}" dt="2024-01-27T15:24:54.425" v="4587" actId="478"/>
          <ac:picMkLst>
            <pc:docMk/>
            <pc:sldMk cId="2559251932" sldId="283"/>
            <ac:picMk id="7" creationId="{851921CC-EEB3-1EB0-6FCA-20509BC67013}"/>
          </ac:picMkLst>
        </pc:picChg>
      </pc:sldChg>
      <pc:sldChg chg="modSp add mod">
        <pc:chgData name="Christophe MOMMER" userId="719dc0502fd0643e" providerId="LiveId" clId="{93F56EB6-59DB-4AD9-9F74-8F572FB6F0B5}" dt="2024-01-27T15:46:25.071" v="7380" actId="20577"/>
        <pc:sldMkLst>
          <pc:docMk/>
          <pc:sldMk cId="1708222671" sldId="284"/>
        </pc:sldMkLst>
        <pc:spChg chg="mod">
          <ac:chgData name="Christophe MOMMER" userId="719dc0502fd0643e" providerId="LiveId" clId="{93F56EB6-59DB-4AD9-9F74-8F572FB6F0B5}" dt="2024-01-27T15:31:58.615" v="5475" actId="20577"/>
          <ac:spMkLst>
            <pc:docMk/>
            <pc:sldMk cId="1708222671" sldId="284"/>
            <ac:spMk id="2" creationId="{5CA23E14-01ED-4A5E-8D1E-EB71885E55F9}"/>
          </ac:spMkLst>
        </pc:spChg>
        <pc:spChg chg="mod">
          <ac:chgData name="Christophe MOMMER" userId="719dc0502fd0643e" providerId="LiveId" clId="{93F56EB6-59DB-4AD9-9F74-8F572FB6F0B5}" dt="2024-01-27T15:46:25.071" v="7380" actId="20577"/>
          <ac:spMkLst>
            <pc:docMk/>
            <pc:sldMk cId="1708222671" sldId="284"/>
            <ac:spMk id="3" creationId="{D9EFA638-9266-0637-0FF0-467BA47C4413}"/>
          </ac:spMkLst>
        </pc:spChg>
      </pc:sldChg>
      <pc:sldChg chg="modSp add mod">
        <pc:chgData name="Christophe MOMMER" userId="719dc0502fd0643e" providerId="LiveId" clId="{93F56EB6-59DB-4AD9-9F74-8F572FB6F0B5}" dt="2024-01-27T15:45:11.560" v="7064" actId="20577"/>
        <pc:sldMkLst>
          <pc:docMk/>
          <pc:sldMk cId="1307373936" sldId="285"/>
        </pc:sldMkLst>
        <pc:spChg chg="mod">
          <ac:chgData name="Christophe MOMMER" userId="719dc0502fd0643e" providerId="LiveId" clId="{93F56EB6-59DB-4AD9-9F74-8F572FB6F0B5}" dt="2024-01-27T15:45:11.560" v="7064" actId="20577"/>
          <ac:spMkLst>
            <pc:docMk/>
            <pc:sldMk cId="1307373936" sldId="285"/>
            <ac:spMk id="3" creationId="{D9EFA638-9266-0637-0FF0-467BA47C4413}"/>
          </ac:spMkLst>
        </pc:spChg>
      </pc:sldChg>
      <pc:sldChg chg="modSp add mod">
        <pc:chgData name="Christophe MOMMER" userId="719dc0502fd0643e" providerId="LiveId" clId="{93F56EB6-59DB-4AD9-9F74-8F572FB6F0B5}" dt="2024-01-27T16:00:26.144" v="7857" actId="12"/>
        <pc:sldMkLst>
          <pc:docMk/>
          <pc:sldMk cId="1190290623" sldId="286"/>
        </pc:sldMkLst>
        <pc:spChg chg="mod">
          <ac:chgData name="Christophe MOMMER" userId="719dc0502fd0643e" providerId="LiveId" clId="{93F56EB6-59DB-4AD9-9F74-8F572FB6F0B5}" dt="2024-01-27T15:54:05.787" v="7385" actId="20577"/>
          <ac:spMkLst>
            <pc:docMk/>
            <pc:sldMk cId="1190290623" sldId="286"/>
            <ac:spMk id="2" creationId="{5CA23E14-01ED-4A5E-8D1E-EB71885E55F9}"/>
          </ac:spMkLst>
        </pc:spChg>
        <pc:spChg chg="mod">
          <ac:chgData name="Christophe MOMMER" userId="719dc0502fd0643e" providerId="LiveId" clId="{93F56EB6-59DB-4AD9-9F74-8F572FB6F0B5}" dt="2024-01-27T16:00:26.144" v="7857" actId="12"/>
          <ac:spMkLst>
            <pc:docMk/>
            <pc:sldMk cId="1190290623" sldId="286"/>
            <ac:spMk id="3" creationId="{D9EFA638-9266-0637-0FF0-467BA47C4413}"/>
          </ac:spMkLst>
        </pc:spChg>
      </pc:sldChg>
      <pc:sldChg chg="modSp add mod ord">
        <pc:chgData name="Christophe MOMMER" userId="719dc0502fd0643e" providerId="LiveId" clId="{93F56EB6-59DB-4AD9-9F74-8F572FB6F0B5}" dt="2024-01-27T16:09:39.106" v="8827" actId="20577"/>
        <pc:sldMkLst>
          <pc:docMk/>
          <pc:sldMk cId="4234695509" sldId="287"/>
        </pc:sldMkLst>
        <pc:spChg chg="mod">
          <ac:chgData name="Christophe MOMMER" userId="719dc0502fd0643e" providerId="LiveId" clId="{93F56EB6-59DB-4AD9-9F74-8F572FB6F0B5}" dt="2024-01-27T16:00:40.032" v="7874" actId="20577"/>
          <ac:spMkLst>
            <pc:docMk/>
            <pc:sldMk cId="4234695509" sldId="287"/>
            <ac:spMk id="2" creationId="{5CA23E14-01ED-4A5E-8D1E-EB71885E55F9}"/>
          </ac:spMkLst>
        </pc:spChg>
        <pc:spChg chg="mod">
          <ac:chgData name="Christophe MOMMER" userId="719dc0502fd0643e" providerId="LiveId" clId="{93F56EB6-59DB-4AD9-9F74-8F572FB6F0B5}" dt="2024-01-27T16:09:39.106" v="8827" actId="20577"/>
          <ac:spMkLst>
            <pc:docMk/>
            <pc:sldMk cId="4234695509" sldId="287"/>
            <ac:spMk id="3" creationId="{D9EFA638-9266-0637-0FF0-467BA47C4413}"/>
          </ac:spMkLst>
        </pc:spChg>
      </pc:sldChg>
      <pc:sldChg chg="modSp add mod">
        <pc:chgData name="Christophe MOMMER" userId="719dc0502fd0643e" providerId="LiveId" clId="{93F56EB6-59DB-4AD9-9F74-8F572FB6F0B5}" dt="2024-01-27T16:16:16.401" v="9735" actId="20577"/>
        <pc:sldMkLst>
          <pc:docMk/>
          <pc:sldMk cId="2214247677" sldId="288"/>
        </pc:sldMkLst>
        <pc:spChg chg="mod">
          <ac:chgData name="Christophe MOMMER" userId="719dc0502fd0643e" providerId="LiveId" clId="{93F56EB6-59DB-4AD9-9F74-8F572FB6F0B5}" dt="2024-01-27T16:12:32.647" v="8846" actId="20577"/>
          <ac:spMkLst>
            <pc:docMk/>
            <pc:sldMk cId="2214247677" sldId="288"/>
            <ac:spMk id="2" creationId="{5CA23E14-01ED-4A5E-8D1E-EB71885E55F9}"/>
          </ac:spMkLst>
        </pc:spChg>
        <pc:spChg chg="mod">
          <ac:chgData name="Christophe MOMMER" userId="719dc0502fd0643e" providerId="LiveId" clId="{93F56EB6-59DB-4AD9-9F74-8F572FB6F0B5}" dt="2024-01-27T16:16:16.401" v="9735" actId="20577"/>
          <ac:spMkLst>
            <pc:docMk/>
            <pc:sldMk cId="2214247677" sldId="288"/>
            <ac:spMk id="3" creationId="{D9EFA638-9266-0637-0FF0-467BA47C4413}"/>
          </ac:spMkLst>
        </pc:spChg>
      </pc:sldChg>
      <pc:sldChg chg="addSp modSp add mod">
        <pc:chgData name="Christophe MOMMER" userId="719dc0502fd0643e" providerId="LiveId" clId="{93F56EB6-59DB-4AD9-9F74-8F572FB6F0B5}" dt="2024-01-27T16:38:47.406" v="10253" actId="1076"/>
        <pc:sldMkLst>
          <pc:docMk/>
          <pc:sldMk cId="1717276235" sldId="289"/>
        </pc:sldMkLst>
        <pc:spChg chg="mod">
          <ac:chgData name="Christophe MOMMER" userId="719dc0502fd0643e" providerId="LiveId" clId="{93F56EB6-59DB-4AD9-9F74-8F572FB6F0B5}" dt="2024-01-27T16:17:07.129" v="9764" actId="20577"/>
          <ac:spMkLst>
            <pc:docMk/>
            <pc:sldMk cId="1717276235" sldId="289"/>
            <ac:spMk id="2" creationId="{5CA23E14-01ED-4A5E-8D1E-EB71885E55F9}"/>
          </ac:spMkLst>
        </pc:spChg>
        <pc:spChg chg="mod">
          <ac:chgData name="Christophe MOMMER" userId="719dc0502fd0643e" providerId="LiveId" clId="{93F56EB6-59DB-4AD9-9F74-8F572FB6F0B5}" dt="2024-01-27T16:32:20.415" v="10191" actId="20577"/>
          <ac:spMkLst>
            <pc:docMk/>
            <pc:sldMk cId="1717276235" sldId="289"/>
            <ac:spMk id="3" creationId="{D9EFA638-9266-0637-0FF0-467BA47C4413}"/>
          </ac:spMkLst>
        </pc:spChg>
        <pc:picChg chg="add mod">
          <ac:chgData name="Christophe MOMMER" userId="719dc0502fd0643e" providerId="LiveId" clId="{93F56EB6-59DB-4AD9-9F74-8F572FB6F0B5}" dt="2024-01-27T16:38:43.917" v="10250" actId="1076"/>
          <ac:picMkLst>
            <pc:docMk/>
            <pc:sldMk cId="1717276235" sldId="289"/>
            <ac:picMk id="6" creationId="{73B96599-A212-AA75-4C2A-DAC127E7C1F8}"/>
          </ac:picMkLst>
        </pc:picChg>
        <pc:picChg chg="add mod">
          <ac:chgData name="Christophe MOMMER" userId="719dc0502fd0643e" providerId="LiveId" clId="{93F56EB6-59DB-4AD9-9F74-8F572FB6F0B5}" dt="2024-01-27T16:38:47.406" v="10253" actId="1076"/>
          <ac:picMkLst>
            <pc:docMk/>
            <pc:sldMk cId="1717276235" sldId="289"/>
            <ac:picMk id="8" creationId="{7A4CDBB8-86DD-57E7-F2DF-E3B05361FA72}"/>
          </ac:picMkLst>
        </pc:picChg>
      </pc:sldChg>
      <pc:sldChg chg="addSp delSp modSp add mod">
        <pc:chgData name="Christophe MOMMER" userId="719dc0502fd0643e" providerId="LiveId" clId="{93F56EB6-59DB-4AD9-9F74-8F572FB6F0B5}" dt="2024-01-27T17:08:50.108" v="10855" actId="1076"/>
        <pc:sldMkLst>
          <pc:docMk/>
          <pc:sldMk cId="231278912" sldId="290"/>
        </pc:sldMkLst>
        <pc:spChg chg="mod">
          <ac:chgData name="Christophe MOMMER" userId="719dc0502fd0643e" providerId="LiveId" clId="{93F56EB6-59DB-4AD9-9F74-8F572FB6F0B5}" dt="2024-01-27T17:01:58.923" v="10688" actId="20577"/>
          <ac:spMkLst>
            <pc:docMk/>
            <pc:sldMk cId="231278912" sldId="290"/>
            <ac:spMk id="2" creationId="{5CA23E14-01ED-4A5E-8D1E-EB71885E55F9}"/>
          </ac:spMkLst>
        </pc:spChg>
        <pc:spChg chg="mod">
          <ac:chgData name="Christophe MOMMER" userId="719dc0502fd0643e" providerId="LiveId" clId="{93F56EB6-59DB-4AD9-9F74-8F572FB6F0B5}" dt="2024-01-27T17:08:40.846" v="10853" actId="20577"/>
          <ac:spMkLst>
            <pc:docMk/>
            <pc:sldMk cId="231278912" sldId="290"/>
            <ac:spMk id="3" creationId="{D9EFA638-9266-0637-0FF0-467BA47C4413}"/>
          </ac:spMkLst>
        </pc:spChg>
        <pc:picChg chg="del">
          <ac:chgData name="Christophe MOMMER" userId="719dc0502fd0643e" providerId="LiveId" clId="{93F56EB6-59DB-4AD9-9F74-8F572FB6F0B5}" dt="2024-01-27T16:33:41.229" v="10201" actId="478"/>
          <ac:picMkLst>
            <pc:docMk/>
            <pc:sldMk cId="231278912" sldId="290"/>
            <ac:picMk id="6" creationId="{73B96599-A212-AA75-4C2A-DAC127E7C1F8}"/>
          </ac:picMkLst>
        </pc:picChg>
        <pc:picChg chg="add mod">
          <ac:chgData name="Christophe MOMMER" userId="719dc0502fd0643e" providerId="LiveId" clId="{93F56EB6-59DB-4AD9-9F74-8F572FB6F0B5}" dt="2024-01-27T17:00:22.942" v="10369" actId="14100"/>
          <ac:picMkLst>
            <pc:docMk/>
            <pc:sldMk cId="231278912" sldId="290"/>
            <ac:picMk id="7" creationId="{A391C2DB-C5F2-9D9C-D571-5DCCD9367DD1}"/>
          </ac:picMkLst>
        </pc:picChg>
        <pc:picChg chg="add mod">
          <ac:chgData name="Christophe MOMMER" userId="719dc0502fd0643e" providerId="LiveId" clId="{93F56EB6-59DB-4AD9-9F74-8F572FB6F0B5}" dt="2024-01-27T17:08:50.108" v="10855" actId="1076"/>
          <ac:picMkLst>
            <pc:docMk/>
            <pc:sldMk cId="231278912" sldId="290"/>
            <ac:picMk id="9" creationId="{686AB180-244F-3D22-918B-AD28FCFEFDB1}"/>
          </ac:picMkLst>
        </pc:picChg>
      </pc:sldChg>
      <pc:sldChg chg="addSp delSp modSp add mod">
        <pc:chgData name="Christophe MOMMER" userId="719dc0502fd0643e" providerId="LiveId" clId="{93F56EB6-59DB-4AD9-9F74-8F572FB6F0B5}" dt="2024-01-28T08:41:45.917" v="12912" actId="20577"/>
        <pc:sldMkLst>
          <pc:docMk/>
          <pc:sldMk cId="673235670" sldId="291"/>
        </pc:sldMkLst>
        <pc:spChg chg="mod">
          <ac:chgData name="Christophe MOMMER" userId="719dc0502fd0643e" providerId="LiveId" clId="{93F56EB6-59DB-4AD9-9F74-8F572FB6F0B5}" dt="2024-01-27T17:12:20.494" v="10867" actId="20577"/>
          <ac:spMkLst>
            <pc:docMk/>
            <pc:sldMk cId="673235670" sldId="291"/>
            <ac:spMk id="2" creationId="{5CA23E14-01ED-4A5E-8D1E-EB71885E55F9}"/>
          </ac:spMkLst>
        </pc:spChg>
        <pc:spChg chg="add del mod">
          <ac:chgData name="Christophe MOMMER" userId="719dc0502fd0643e" providerId="LiveId" clId="{93F56EB6-59DB-4AD9-9F74-8F572FB6F0B5}" dt="2024-01-28T08:41:45.917" v="12912" actId="20577"/>
          <ac:spMkLst>
            <pc:docMk/>
            <pc:sldMk cId="673235670" sldId="291"/>
            <ac:spMk id="3" creationId="{D9EFA638-9266-0637-0FF0-467BA47C4413}"/>
          </ac:spMkLst>
        </pc:spChg>
        <pc:picChg chg="add mod">
          <ac:chgData name="Christophe MOMMER" userId="719dc0502fd0643e" providerId="LiveId" clId="{93F56EB6-59DB-4AD9-9F74-8F572FB6F0B5}" dt="2024-01-28T08:41:42.157" v="12900" actId="1076"/>
          <ac:picMkLst>
            <pc:docMk/>
            <pc:sldMk cId="673235670" sldId="291"/>
            <ac:picMk id="6" creationId="{8D0C3C1C-992E-3C81-09EB-09338F8BB249}"/>
          </ac:picMkLst>
        </pc:picChg>
        <pc:picChg chg="del">
          <ac:chgData name="Christophe MOMMER" userId="719dc0502fd0643e" providerId="LiveId" clId="{93F56EB6-59DB-4AD9-9F74-8F572FB6F0B5}" dt="2024-01-27T17:12:22.450" v="10868" actId="478"/>
          <ac:picMkLst>
            <pc:docMk/>
            <pc:sldMk cId="673235670" sldId="291"/>
            <ac:picMk id="7" creationId="{A391C2DB-C5F2-9D9C-D571-5DCCD9367DD1}"/>
          </ac:picMkLst>
        </pc:picChg>
        <pc:picChg chg="del">
          <ac:chgData name="Christophe MOMMER" userId="719dc0502fd0643e" providerId="LiveId" clId="{93F56EB6-59DB-4AD9-9F74-8F572FB6F0B5}" dt="2024-01-27T17:12:23.189" v="10869" actId="478"/>
          <ac:picMkLst>
            <pc:docMk/>
            <pc:sldMk cId="673235670" sldId="291"/>
            <ac:picMk id="9" creationId="{686AB180-244F-3D22-918B-AD28FCFEFDB1}"/>
          </ac:picMkLst>
        </pc:picChg>
      </pc:sldChg>
      <pc:sldChg chg="addSp delSp modSp add mod">
        <pc:chgData name="Christophe MOMMER" userId="719dc0502fd0643e" providerId="LiveId" clId="{93F56EB6-59DB-4AD9-9F74-8F572FB6F0B5}" dt="2024-01-27T18:29:04" v="11544" actId="1076"/>
        <pc:sldMkLst>
          <pc:docMk/>
          <pc:sldMk cId="3702002861" sldId="292"/>
        </pc:sldMkLst>
        <pc:spChg chg="mod">
          <ac:chgData name="Christophe MOMMER" userId="719dc0502fd0643e" providerId="LiveId" clId="{93F56EB6-59DB-4AD9-9F74-8F572FB6F0B5}" dt="2024-01-27T17:13:51.617" v="10880" actId="20577"/>
          <ac:spMkLst>
            <pc:docMk/>
            <pc:sldMk cId="3702002861" sldId="292"/>
            <ac:spMk id="2" creationId="{5CA23E14-01ED-4A5E-8D1E-EB71885E55F9}"/>
          </ac:spMkLst>
        </pc:spChg>
        <pc:spChg chg="mod">
          <ac:chgData name="Christophe MOMMER" userId="719dc0502fd0643e" providerId="LiveId" clId="{93F56EB6-59DB-4AD9-9F74-8F572FB6F0B5}" dt="2024-01-27T18:29:04" v="11544" actId="1076"/>
          <ac:spMkLst>
            <pc:docMk/>
            <pc:sldMk cId="3702002861" sldId="292"/>
            <ac:spMk id="3" creationId="{D9EFA638-9266-0637-0FF0-467BA47C4413}"/>
          </ac:spMkLst>
        </pc:spChg>
        <pc:picChg chg="add mod">
          <ac:chgData name="Christophe MOMMER" userId="719dc0502fd0643e" providerId="LiveId" clId="{93F56EB6-59DB-4AD9-9F74-8F572FB6F0B5}" dt="2024-01-27T18:27:57.502" v="11543" actId="1076"/>
          <ac:picMkLst>
            <pc:docMk/>
            <pc:sldMk cId="3702002861" sldId="292"/>
            <ac:picMk id="6" creationId="{7268D06B-9DC6-200C-CD34-43BAFCFEE94A}"/>
          </ac:picMkLst>
        </pc:picChg>
        <pc:picChg chg="del">
          <ac:chgData name="Christophe MOMMER" userId="719dc0502fd0643e" providerId="LiveId" clId="{93F56EB6-59DB-4AD9-9F74-8F572FB6F0B5}" dt="2024-01-27T17:13:58.822" v="10881" actId="478"/>
          <ac:picMkLst>
            <pc:docMk/>
            <pc:sldMk cId="3702002861" sldId="292"/>
            <ac:picMk id="7" creationId="{A391C2DB-C5F2-9D9C-D571-5DCCD9367DD1}"/>
          </ac:picMkLst>
        </pc:picChg>
        <pc:picChg chg="del">
          <ac:chgData name="Christophe MOMMER" userId="719dc0502fd0643e" providerId="LiveId" clId="{93F56EB6-59DB-4AD9-9F74-8F572FB6F0B5}" dt="2024-01-27T17:13:59.440" v="10882" actId="478"/>
          <ac:picMkLst>
            <pc:docMk/>
            <pc:sldMk cId="3702002861" sldId="292"/>
            <ac:picMk id="9" creationId="{686AB180-244F-3D22-918B-AD28FCFEFDB1}"/>
          </ac:picMkLst>
        </pc:picChg>
      </pc:sldChg>
      <pc:sldChg chg="modSp add mod">
        <pc:chgData name="Christophe MOMMER" userId="719dc0502fd0643e" providerId="LiveId" clId="{93F56EB6-59DB-4AD9-9F74-8F572FB6F0B5}" dt="2024-01-27T18:37:32.977" v="12604" actId="20577"/>
        <pc:sldMkLst>
          <pc:docMk/>
          <pc:sldMk cId="1576171466" sldId="293"/>
        </pc:sldMkLst>
        <pc:spChg chg="mod">
          <ac:chgData name="Christophe MOMMER" userId="719dc0502fd0643e" providerId="LiveId" clId="{93F56EB6-59DB-4AD9-9F74-8F572FB6F0B5}" dt="2024-01-27T18:37:32.977" v="12604" actId="20577"/>
          <ac:spMkLst>
            <pc:docMk/>
            <pc:sldMk cId="1576171466" sldId="293"/>
            <ac:spMk id="3" creationId="{D9EFA638-9266-0637-0FF0-467BA47C4413}"/>
          </ac:spMkLst>
        </pc:spChg>
      </pc:sldChg>
      <pc:sldChg chg="ord">
        <pc:chgData name="Christophe MOMMER" userId="719dc0502fd0643e" providerId="LiveId" clId="{93F56EB6-59DB-4AD9-9F74-8F572FB6F0B5}" dt="2024-02-07T14:49:27.289" v="13589"/>
        <pc:sldMkLst>
          <pc:docMk/>
          <pc:sldMk cId="209183852" sldId="294"/>
        </pc:sldMkLst>
      </pc:sldChg>
      <pc:sldChg chg="ord">
        <pc:chgData name="Christophe MOMMER" userId="719dc0502fd0643e" providerId="LiveId" clId="{93F56EB6-59DB-4AD9-9F74-8F572FB6F0B5}" dt="2024-02-07T14:49:27.289" v="13589"/>
        <pc:sldMkLst>
          <pc:docMk/>
          <pc:sldMk cId="2562072565" sldId="295"/>
        </pc:sldMkLst>
      </pc:sldChg>
      <pc:sldChg chg="ord">
        <pc:chgData name="Christophe MOMMER" userId="719dc0502fd0643e" providerId="LiveId" clId="{93F56EB6-59DB-4AD9-9F74-8F572FB6F0B5}" dt="2024-02-07T14:49:27.289" v="13589"/>
        <pc:sldMkLst>
          <pc:docMk/>
          <pc:sldMk cId="1077395389" sldId="296"/>
        </pc:sldMkLst>
      </pc:sldChg>
      <pc:sldChg chg="ord">
        <pc:chgData name="Christophe MOMMER" userId="719dc0502fd0643e" providerId="LiveId" clId="{93F56EB6-59DB-4AD9-9F74-8F572FB6F0B5}" dt="2024-02-07T14:49:27.289" v="13589"/>
        <pc:sldMkLst>
          <pc:docMk/>
          <pc:sldMk cId="2900496524" sldId="297"/>
        </pc:sldMkLst>
      </pc:sldChg>
      <pc:sldChg chg="modSp mod">
        <pc:chgData name="Christophe MOMMER" userId="719dc0502fd0643e" providerId="LiveId" clId="{93F56EB6-59DB-4AD9-9F74-8F572FB6F0B5}" dt="2024-02-28T08:54:18.973" v="13853" actId="113"/>
        <pc:sldMkLst>
          <pc:docMk/>
          <pc:sldMk cId="618667213" sldId="298"/>
        </pc:sldMkLst>
        <pc:spChg chg="mod">
          <ac:chgData name="Christophe MOMMER" userId="719dc0502fd0643e" providerId="LiveId" clId="{93F56EB6-59DB-4AD9-9F74-8F572FB6F0B5}" dt="2024-02-28T08:54:18.973" v="13853" actId="113"/>
          <ac:spMkLst>
            <pc:docMk/>
            <pc:sldMk cId="618667213" sldId="298"/>
            <ac:spMk id="3" creationId="{D9EFA638-9266-0637-0FF0-467BA47C4413}"/>
          </ac:spMkLst>
        </pc:spChg>
      </pc:sldChg>
    </pc:docChg>
  </pc:docChgLst>
  <pc:docChgLst>
    <pc:chgData name="Christophe MOMMER" userId="719dc0502fd0643e" providerId="LiveId" clId="{CDC1DA65-B616-42F5-9F13-425595464D82}"/>
    <pc:docChg chg="undo custSel addSld modSld sldOrd">
      <pc:chgData name="Christophe MOMMER" userId="719dc0502fd0643e" providerId="LiveId" clId="{CDC1DA65-B616-42F5-9F13-425595464D82}" dt="2021-08-20T16:24:40.202" v="4266" actId="2711"/>
      <pc:docMkLst>
        <pc:docMk/>
      </pc:docMkLst>
      <pc:sldChg chg="addSp delSp modSp new mod setBg modAnim">
        <pc:chgData name="Christophe MOMMER" userId="719dc0502fd0643e" providerId="LiveId" clId="{CDC1DA65-B616-42F5-9F13-425595464D82}" dt="2021-08-20T16:00:00.454" v="3960" actId="14100"/>
        <pc:sldMkLst>
          <pc:docMk/>
          <pc:sldMk cId="1060296681" sldId="256"/>
        </pc:sldMkLst>
        <pc:spChg chg="mod replST">
          <ac:chgData name="Christophe MOMMER" userId="719dc0502fd0643e" providerId="LiveId" clId="{CDC1DA65-B616-42F5-9F13-425595464D82}" dt="2021-08-20T09:34:26.408" v="2432"/>
          <ac:spMkLst>
            <pc:docMk/>
            <pc:sldMk cId="1060296681" sldId="256"/>
            <ac:spMk id="2" creationId="{5CA23E14-01ED-4A5E-8D1E-EB71885E55F9}"/>
          </ac:spMkLst>
        </pc:spChg>
        <pc:spChg chg="del mod">
          <ac:chgData name="Christophe MOMMER" userId="719dc0502fd0643e" providerId="LiveId" clId="{CDC1DA65-B616-42F5-9F13-425595464D82}" dt="2021-08-20T09:08:26.205" v="29" actId="478"/>
          <ac:spMkLst>
            <pc:docMk/>
            <pc:sldMk cId="1060296681" sldId="256"/>
            <ac:spMk id="3" creationId="{4EB746CA-26D9-4FC3-B0B5-3B71574C4063}"/>
          </ac:spMkLst>
        </pc:spChg>
        <pc:spChg chg="add del">
          <ac:chgData name="Christophe MOMMER" userId="719dc0502fd0643e" providerId="LiveId" clId="{CDC1DA65-B616-42F5-9F13-425595464D82}" dt="2021-08-20T09:07:47.196" v="4" actId="26606"/>
          <ac:spMkLst>
            <pc:docMk/>
            <pc:sldMk cId="1060296681" sldId="256"/>
            <ac:spMk id="8" creationId="{09588DA8-065E-4F6F-8EFD-43104AB2E0CF}"/>
          </ac:spMkLst>
        </pc:spChg>
        <pc:spChg chg="add mod replST">
          <ac:chgData name="Christophe MOMMER" userId="719dc0502fd0643e" providerId="LiveId" clId="{CDC1DA65-B616-42F5-9F13-425595464D82}" dt="2021-08-20T16:00:00.454" v="3960" actId="14100"/>
          <ac:spMkLst>
            <pc:docMk/>
            <pc:sldMk cId="1060296681" sldId="256"/>
            <ac:spMk id="9" creationId="{50344EAD-8675-433E-AA31-409659FDFD0C}"/>
          </ac:spMkLst>
        </pc:spChg>
        <pc:spChg chg="add del">
          <ac:chgData name="Christophe MOMMER" userId="719dc0502fd0643e" providerId="LiveId" clId="{CDC1DA65-B616-42F5-9F13-425595464D82}" dt="2021-08-20T09:07:47.196" v="4" actId="26606"/>
          <ac:spMkLst>
            <pc:docMk/>
            <pc:sldMk cId="1060296681" sldId="256"/>
            <ac:spMk id="10" creationId="{C4285719-470E-454C-AF62-8323075F1F5B}"/>
          </ac:spMkLst>
        </pc:spChg>
        <pc:spChg chg="add mod replST">
          <ac:chgData name="Christophe MOMMER" userId="719dc0502fd0643e" providerId="LiveId" clId="{CDC1DA65-B616-42F5-9F13-425595464D82}" dt="2021-08-20T09:34:26.516" v="2435"/>
          <ac:spMkLst>
            <pc:docMk/>
            <pc:sldMk cId="1060296681" sldId="256"/>
            <ac:spMk id="11" creationId="{FFE168E4-5D7C-48C8-8792-4A61F18ECDD0}"/>
          </ac:spMkLst>
        </pc:spChg>
        <pc:spChg chg="add del">
          <ac:chgData name="Christophe MOMMER" userId="719dc0502fd0643e" providerId="LiveId" clId="{CDC1DA65-B616-42F5-9F13-425595464D82}" dt="2021-08-20T09:07:47.196" v="4" actId="26606"/>
          <ac:spMkLst>
            <pc:docMk/>
            <pc:sldMk cId="1060296681" sldId="256"/>
            <ac:spMk id="12" creationId="{CD9FE4EF-C4D8-49A0-B2FF-81D8DB7D8A24}"/>
          </ac:spMkLst>
        </pc:spChg>
        <pc:spChg chg="add del">
          <ac:chgData name="Christophe MOMMER" userId="719dc0502fd0643e" providerId="LiveId" clId="{CDC1DA65-B616-42F5-9F13-425595464D82}" dt="2021-08-20T09:07:47.196" v="4" actId="26606"/>
          <ac:spMkLst>
            <pc:docMk/>
            <pc:sldMk cId="1060296681" sldId="256"/>
            <ac:spMk id="14" creationId="{4300840D-0A0B-4512-BACA-B439D5B9C57C}"/>
          </ac:spMkLst>
        </pc:spChg>
        <pc:spChg chg="add del">
          <ac:chgData name="Christophe MOMMER" userId="719dc0502fd0643e" providerId="LiveId" clId="{CDC1DA65-B616-42F5-9F13-425595464D82}" dt="2021-08-20T09:07:47.196" v="4" actId="26606"/>
          <ac:spMkLst>
            <pc:docMk/>
            <pc:sldMk cId="1060296681" sldId="256"/>
            <ac:spMk id="16" creationId="{D2B78728-A580-49A7-84F9-6EF6F583ADE0}"/>
          </ac:spMkLst>
        </pc:spChg>
        <pc:spChg chg="add mod replST">
          <ac:chgData name="Christophe MOMMER" userId="719dc0502fd0643e" providerId="LiveId" clId="{CDC1DA65-B616-42F5-9F13-425595464D82}" dt="2021-08-20T09:34:26.541" v="2436"/>
          <ac:spMkLst>
            <pc:docMk/>
            <pc:sldMk cId="1060296681" sldId="256"/>
            <ac:spMk id="17" creationId="{AF838005-812A-429D-B5B2-2CCE0882DCA2}"/>
          </ac:spMkLst>
        </pc:spChg>
        <pc:spChg chg="add del">
          <ac:chgData name="Christophe MOMMER" userId="719dc0502fd0643e" providerId="LiveId" clId="{CDC1DA65-B616-42F5-9F13-425595464D82}" dt="2021-08-20T09:07:47.196" v="4" actId="26606"/>
          <ac:spMkLst>
            <pc:docMk/>
            <pc:sldMk cId="1060296681" sldId="256"/>
            <ac:spMk id="18" creationId="{38FAA1A1-D861-433F-88FA-1E9D6FD31D11}"/>
          </ac:spMkLst>
        </pc:spChg>
        <pc:spChg chg="add mod replST">
          <ac:chgData name="Christophe MOMMER" userId="719dc0502fd0643e" providerId="LiveId" clId="{CDC1DA65-B616-42F5-9F13-425595464D82}" dt="2021-08-20T09:34:26.572" v="2437"/>
          <ac:spMkLst>
            <pc:docMk/>
            <pc:sldMk cId="1060296681" sldId="256"/>
            <ac:spMk id="19" creationId="{429F2717-AF09-4C27-9B6D-C18F4A23A1ED}"/>
          </ac:spMkLst>
        </pc:spChg>
        <pc:spChg chg="add del">
          <ac:chgData name="Christophe MOMMER" userId="719dc0502fd0643e" providerId="LiveId" clId="{CDC1DA65-B616-42F5-9F13-425595464D82}" dt="2021-08-20T09:07:47.196" v="4" actId="26606"/>
          <ac:spMkLst>
            <pc:docMk/>
            <pc:sldMk cId="1060296681" sldId="256"/>
            <ac:spMk id="20" creationId="{8D71EDA1-87BF-4D5D-AB79-F346FD19278A}"/>
          </ac:spMkLst>
        </pc:spChg>
        <pc:cxnChg chg="add mod replST">
          <ac:chgData name="Christophe MOMMER" userId="719dc0502fd0643e" providerId="LiveId" clId="{CDC1DA65-B616-42F5-9F13-425595464D82}" dt="2021-08-20T09:34:26.445" v="2433"/>
          <ac:cxnSpMkLst>
            <pc:docMk/>
            <pc:sldMk cId="1060296681" sldId="256"/>
            <ac:cxnSpMk id="5" creationId="{D4CEB88B-8482-4A5E-9CF1-E35242224A31}"/>
          </ac:cxnSpMkLst>
        </pc:cxnChg>
      </pc:sldChg>
      <pc:sldChg chg="delSp modSp add mod delAnim">
        <pc:chgData name="Christophe MOMMER" userId="719dc0502fd0643e" providerId="LiveId" clId="{CDC1DA65-B616-42F5-9F13-425595464D82}" dt="2021-08-20T09:34:26.675" v="2440"/>
        <pc:sldMkLst>
          <pc:docMk/>
          <pc:sldMk cId="1184394645" sldId="257"/>
        </pc:sldMkLst>
        <pc:spChg chg="mod replST">
          <ac:chgData name="Christophe MOMMER" userId="719dc0502fd0643e" providerId="LiveId" clId="{CDC1DA65-B616-42F5-9F13-425595464D82}" dt="2021-08-20T09:34:26.630" v="2438"/>
          <ac:spMkLst>
            <pc:docMk/>
            <pc:sldMk cId="1184394645" sldId="257"/>
            <ac:spMk id="2" creationId="{5CA23E14-01ED-4A5E-8D1E-EB71885E55F9}"/>
          </ac:spMkLst>
        </pc:spChg>
        <pc:spChg chg="mod replST">
          <ac:chgData name="Christophe MOMMER" userId="719dc0502fd0643e" providerId="LiveId" clId="{CDC1DA65-B616-42F5-9F13-425595464D82}" dt="2021-08-20T09:34:26.675" v="2440"/>
          <ac:spMkLst>
            <pc:docMk/>
            <pc:sldMk cId="1184394645" sldId="257"/>
            <ac:spMk id="9" creationId="{50344EAD-8675-433E-AA31-409659FDFD0C}"/>
          </ac:spMkLst>
        </pc:spChg>
        <pc:spChg chg="del">
          <ac:chgData name="Christophe MOMMER" userId="719dc0502fd0643e" providerId="LiveId" clId="{CDC1DA65-B616-42F5-9F13-425595464D82}" dt="2021-08-20T09:13:50.847" v="1141" actId="478"/>
          <ac:spMkLst>
            <pc:docMk/>
            <pc:sldMk cId="1184394645" sldId="257"/>
            <ac:spMk id="11" creationId="{FFE168E4-5D7C-48C8-8792-4A61F18ECDD0}"/>
          </ac:spMkLst>
        </pc:spChg>
        <pc:spChg chg="del">
          <ac:chgData name="Christophe MOMMER" userId="719dc0502fd0643e" providerId="LiveId" clId="{CDC1DA65-B616-42F5-9F13-425595464D82}" dt="2021-08-20T09:13:51.582" v="1142" actId="478"/>
          <ac:spMkLst>
            <pc:docMk/>
            <pc:sldMk cId="1184394645" sldId="257"/>
            <ac:spMk id="17" creationId="{AF838005-812A-429D-B5B2-2CCE0882DCA2}"/>
          </ac:spMkLst>
        </pc:spChg>
        <pc:spChg chg="del">
          <ac:chgData name="Christophe MOMMER" userId="719dc0502fd0643e" providerId="LiveId" clId="{CDC1DA65-B616-42F5-9F13-425595464D82}" dt="2021-08-20T09:13:52.555" v="1143" actId="478"/>
          <ac:spMkLst>
            <pc:docMk/>
            <pc:sldMk cId="1184394645" sldId="257"/>
            <ac:spMk id="19" creationId="{429F2717-AF09-4C27-9B6D-C18F4A23A1ED}"/>
          </ac:spMkLst>
        </pc:spChg>
        <pc:cxnChg chg="replST">
          <ac:chgData name="Christophe MOMMER" userId="719dc0502fd0643e" providerId="LiveId" clId="{CDC1DA65-B616-42F5-9F13-425595464D82}" dt="2021-08-20T09:34:26.660" v="2439"/>
          <ac:cxnSpMkLst>
            <pc:docMk/>
            <pc:sldMk cId="1184394645" sldId="257"/>
            <ac:cxnSpMk id="5" creationId="{D4CEB88B-8482-4A5E-9CF1-E35242224A31}"/>
          </ac:cxnSpMkLst>
        </pc:cxnChg>
      </pc:sldChg>
      <pc:sldChg chg="addSp delSp modSp add mod modAnim">
        <pc:chgData name="Christophe MOMMER" userId="719dc0502fd0643e" providerId="LiveId" clId="{CDC1DA65-B616-42F5-9F13-425595464D82}" dt="2021-08-20T09:34:26.829" v="2443"/>
        <pc:sldMkLst>
          <pc:docMk/>
          <pc:sldMk cId="2653250656" sldId="258"/>
        </pc:sldMkLst>
        <pc:spChg chg="mod replST">
          <ac:chgData name="Christophe MOMMER" userId="719dc0502fd0643e" providerId="LiveId" clId="{CDC1DA65-B616-42F5-9F13-425595464D82}" dt="2021-08-20T09:34:26.744" v="2441"/>
          <ac:spMkLst>
            <pc:docMk/>
            <pc:sldMk cId="2653250656" sldId="258"/>
            <ac:spMk id="2" creationId="{5CA23E14-01ED-4A5E-8D1E-EB71885E55F9}"/>
          </ac:spMkLst>
        </pc:spChg>
        <pc:spChg chg="add del">
          <ac:chgData name="Christophe MOMMER" userId="719dc0502fd0643e" providerId="LiveId" clId="{CDC1DA65-B616-42F5-9F13-425595464D82}" dt="2021-08-20T09:24:03.288" v="1833" actId="22"/>
          <ac:spMkLst>
            <pc:docMk/>
            <pc:sldMk cId="2653250656" sldId="258"/>
            <ac:spMk id="6" creationId="{C88A60DB-9928-4173-877F-02C76F9ADD74}"/>
          </ac:spMkLst>
        </pc:spChg>
        <pc:spChg chg="mod replST">
          <ac:chgData name="Christophe MOMMER" userId="719dc0502fd0643e" providerId="LiveId" clId="{CDC1DA65-B616-42F5-9F13-425595464D82}" dt="2021-08-20T09:34:26.829" v="2443"/>
          <ac:spMkLst>
            <pc:docMk/>
            <pc:sldMk cId="2653250656" sldId="258"/>
            <ac:spMk id="9" creationId="{50344EAD-8675-433E-AA31-409659FDFD0C}"/>
          </ac:spMkLst>
        </pc:spChg>
        <pc:cxnChg chg="replST">
          <ac:chgData name="Christophe MOMMER" userId="719dc0502fd0643e" providerId="LiveId" clId="{CDC1DA65-B616-42F5-9F13-425595464D82}" dt="2021-08-20T09:34:26.795" v="2442"/>
          <ac:cxnSpMkLst>
            <pc:docMk/>
            <pc:sldMk cId="2653250656" sldId="258"/>
            <ac:cxnSpMk id="5" creationId="{D4CEB88B-8482-4A5E-9CF1-E35242224A31}"/>
          </ac:cxnSpMkLst>
        </pc:cxnChg>
      </pc:sldChg>
      <pc:sldChg chg="addSp delSp modSp add mod modAnim">
        <pc:chgData name="Christophe MOMMER" userId="719dc0502fd0643e" providerId="LiveId" clId="{CDC1DA65-B616-42F5-9F13-425595464D82}" dt="2021-08-20T09:34:27.051" v="2448"/>
        <pc:sldMkLst>
          <pc:docMk/>
          <pc:sldMk cId="2018625838" sldId="259"/>
        </pc:sldMkLst>
        <pc:spChg chg="replST">
          <ac:chgData name="Christophe MOMMER" userId="719dc0502fd0643e" providerId="LiveId" clId="{CDC1DA65-B616-42F5-9F13-425595464D82}" dt="2021-08-20T09:34:26.915" v="2444"/>
          <ac:spMkLst>
            <pc:docMk/>
            <pc:sldMk cId="2018625838" sldId="259"/>
            <ac:spMk id="2" creationId="{5CA23E14-01ED-4A5E-8D1E-EB71885E55F9}"/>
          </ac:spMkLst>
        </pc:spChg>
        <pc:spChg chg="add mod replST">
          <ac:chgData name="Christophe MOMMER" userId="719dc0502fd0643e" providerId="LiveId" clId="{CDC1DA65-B616-42F5-9F13-425595464D82}" dt="2021-08-20T09:34:27.017" v="2447"/>
          <ac:spMkLst>
            <pc:docMk/>
            <pc:sldMk cId="2018625838" sldId="259"/>
            <ac:spMk id="8" creationId="{468AA02F-C4CF-4061-BDF5-28601ACBFBF0}"/>
          </ac:spMkLst>
        </pc:spChg>
        <pc:spChg chg="del mod">
          <ac:chgData name="Christophe MOMMER" userId="719dc0502fd0643e" providerId="LiveId" clId="{CDC1DA65-B616-42F5-9F13-425595464D82}" dt="2021-08-20T09:24:52.554" v="1842"/>
          <ac:spMkLst>
            <pc:docMk/>
            <pc:sldMk cId="2018625838" sldId="259"/>
            <ac:spMk id="9" creationId="{50344EAD-8675-433E-AA31-409659FDFD0C}"/>
          </ac:spMkLst>
        </pc:spChg>
        <pc:picChg chg="add del mod">
          <ac:chgData name="Christophe MOMMER" userId="719dc0502fd0643e" providerId="LiveId" clId="{CDC1DA65-B616-42F5-9F13-425595464D82}" dt="2021-08-20T09:25:02.393" v="1843" actId="478"/>
          <ac:picMkLst>
            <pc:docMk/>
            <pc:sldMk cId="2018625838" sldId="259"/>
            <ac:picMk id="4" creationId="{D30D2B89-5955-4D87-ADAF-F91509A21D28}"/>
          </ac:picMkLst>
        </pc:picChg>
        <pc:picChg chg="add mod replST">
          <ac:chgData name="Christophe MOMMER" userId="719dc0502fd0643e" providerId="LiveId" clId="{CDC1DA65-B616-42F5-9F13-425595464D82}" dt="2021-08-20T09:34:26.980" v="2446"/>
          <ac:picMkLst>
            <pc:docMk/>
            <pc:sldMk cId="2018625838" sldId="259"/>
            <ac:picMk id="7" creationId="{8F6CC4C4-730A-4651-BBB4-D8B57B8B19FF}"/>
          </ac:picMkLst>
        </pc:picChg>
        <pc:picChg chg="add mod replST">
          <ac:chgData name="Christophe MOMMER" userId="719dc0502fd0643e" providerId="LiveId" clId="{CDC1DA65-B616-42F5-9F13-425595464D82}" dt="2021-08-20T09:34:27.051" v="2448"/>
          <ac:picMkLst>
            <pc:docMk/>
            <pc:sldMk cId="2018625838" sldId="259"/>
            <ac:picMk id="11" creationId="{F2A629DA-8B85-4762-9762-BC1BF1AF29BF}"/>
          </ac:picMkLst>
        </pc:picChg>
        <pc:cxnChg chg="replST">
          <ac:chgData name="Christophe MOMMER" userId="719dc0502fd0643e" providerId="LiveId" clId="{CDC1DA65-B616-42F5-9F13-425595464D82}" dt="2021-08-20T09:34:26.948" v="2445"/>
          <ac:cxnSpMkLst>
            <pc:docMk/>
            <pc:sldMk cId="2018625838" sldId="259"/>
            <ac:cxnSpMk id="5" creationId="{D4CEB88B-8482-4A5E-9CF1-E35242224A31}"/>
          </ac:cxnSpMkLst>
        </pc:cxnChg>
      </pc:sldChg>
      <pc:sldChg chg="addSp delSp modSp add mod modAnim">
        <pc:chgData name="Christophe MOMMER" userId="719dc0502fd0643e" providerId="LiveId" clId="{CDC1DA65-B616-42F5-9F13-425595464D82}" dt="2021-08-20T09:34:27.204" v="2452"/>
        <pc:sldMkLst>
          <pc:docMk/>
          <pc:sldMk cId="1619159151" sldId="260"/>
        </pc:sldMkLst>
        <pc:spChg chg="mod replST">
          <ac:chgData name="Christophe MOMMER" userId="719dc0502fd0643e" providerId="LiveId" clId="{CDC1DA65-B616-42F5-9F13-425595464D82}" dt="2021-08-20T09:34:27.099" v="2449"/>
          <ac:spMkLst>
            <pc:docMk/>
            <pc:sldMk cId="1619159151" sldId="260"/>
            <ac:spMk id="2" creationId="{5CA23E14-01ED-4A5E-8D1E-EB71885E55F9}"/>
          </ac:spMkLst>
        </pc:spChg>
        <pc:spChg chg="add mod replST">
          <ac:chgData name="Christophe MOMMER" userId="719dc0502fd0643e" providerId="LiveId" clId="{CDC1DA65-B616-42F5-9F13-425595464D82}" dt="2021-08-20T09:34:27.168" v="2451"/>
          <ac:spMkLst>
            <pc:docMk/>
            <pc:sldMk cId="1619159151" sldId="260"/>
            <ac:spMk id="3" creationId="{9BAF106B-E959-47D7-A51A-D7C962294945}"/>
          </ac:spMkLst>
        </pc:spChg>
        <pc:spChg chg="add del">
          <ac:chgData name="Christophe MOMMER" userId="719dc0502fd0643e" providerId="LiveId" clId="{CDC1DA65-B616-42F5-9F13-425595464D82}" dt="2021-08-20T09:30:29.191" v="2201" actId="478"/>
          <ac:spMkLst>
            <pc:docMk/>
            <pc:sldMk cId="1619159151" sldId="260"/>
            <ac:spMk id="4" creationId="{8A91D72C-A530-41E4-A7F9-BBCD45211C8A}"/>
          </ac:spMkLst>
        </pc:spChg>
        <pc:spChg chg="add mod replST">
          <ac:chgData name="Christophe MOMMER" userId="719dc0502fd0643e" providerId="LiveId" clId="{CDC1DA65-B616-42F5-9F13-425595464D82}" dt="2021-08-20T09:34:27.204" v="2452"/>
          <ac:spMkLst>
            <pc:docMk/>
            <pc:sldMk cId="1619159151" sldId="260"/>
            <ac:spMk id="6" creationId="{E68A0E37-F677-4E28-8ED6-F53AE06940F8}"/>
          </ac:spMkLst>
        </pc:spChg>
        <pc:picChg chg="del">
          <ac:chgData name="Christophe MOMMER" userId="719dc0502fd0643e" providerId="LiveId" clId="{CDC1DA65-B616-42F5-9F13-425595464D82}" dt="2021-08-20T09:28:58.671" v="1873" actId="478"/>
          <ac:picMkLst>
            <pc:docMk/>
            <pc:sldMk cId="1619159151" sldId="260"/>
            <ac:picMk id="7" creationId="{8F6CC4C4-730A-4651-BBB4-D8B57B8B19FF}"/>
          </ac:picMkLst>
        </pc:picChg>
        <pc:cxnChg chg="replST">
          <ac:chgData name="Christophe MOMMER" userId="719dc0502fd0643e" providerId="LiveId" clId="{CDC1DA65-B616-42F5-9F13-425595464D82}" dt="2021-08-20T09:34:27.110" v="2450"/>
          <ac:cxnSpMkLst>
            <pc:docMk/>
            <pc:sldMk cId="1619159151" sldId="260"/>
            <ac:cxnSpMk id="5" creationId="{D4CEB88B-8482-4A5E-9CF1-E35242224A31}"/>
          </ac:cxnSpMkLst>
        </pc:cxnChg>
      </pc:sldChg>
      <pc:sldChg chg="delSp modSp add mod delAnim">
        <pc:chgData name="Christophe MOMMER" userId="719dc0502fd0643e" providerId="LiveId" clId="{CDC1DA65-B616-42F5-9F13-425595464D82}" dt="2021-08-20T09:37:25.549" v="2739" actId="20577"/>
        <pc:sldMkLst>
          <pc:docMk/>
          <pc:sldMk cId="1788620593" sldId="261"/>
        </pc:sldMkLst>
        <pc:spChg chg="mod">
          <ac:chgData name="Christophe MOMMER" userId="719dc0502fd0643e" providerId="LiveId" clId="{CDC1DA65-B616-42F5-9F13-425595464D82}" dt="2021-08-20T09:36:11.189" v="2479" actId="20577"/>
          <ac:spMkLst>
            <pc:docMk/>
            <pc:sldMk cId="1788620593" sldId="261"/>
            <ac:spMk id="2" creationId="{5CA23E14-01ED-4A5E-8D1E-EB71885E55F9}"/>
          </ac:spMkLst>
        </pc:spChg>
        <pc:spChg chg="mod">
          <ac:chgData name="Christophe MOMMER" userId="719dc0502fd0643e" providerId="LiveId" clId="{CDC1DA65-B616-42F5-9F13-425595464D82}" dt="2021-08-20T09:37:25.549" v="2739" actId="20577"/>
          <ac:spMkLst>
            <pc:docMk/>
            <pc:sldMk cId="1788620593" sldId="261"/>
            <ac:spMk id="3" creationId="{9BAF106B-E959-47D7-A51A-D7C962294945}"/>
          </ac:spMkLst>
        </pc:spChg>
        <pc:spChg chg="del">
          <ac:chgData name="Christophe MOMMER" userId="719dc0502fd0643e" providerId="LiveId" clId="{CDC1DA65-B616-42F5-9F13-425595464D82}" dt="2021-08-20T09:37:02.897" v="2592" actId="478"/>
          <ac:spMkLst>
            <pc:docMk/>
            <pc:sldMk cId="1788620593" sldId="261"/>
            <ac:spMk id="6" creationId="{E68A0E37-F677-4E28-8ED6-F53AE06940F8}"/>
          </ac:spMkLst>
        </pc:spChg>
      </pc:sldChg>
      <pc:sldChg chg="modSp new mod ord">
        <pc:chgData name="Christophe MOMMER" userId="719dc0502fd0643e" providerId="LiveId" clId="{CDC1DA65-B616-42F5-9F13-425595464D82}" dt="2021-08-20T09:47:45.034" v="2796" actId="20577"/>
        <pc:sldMkLst>
          <pc:docMk/>
          <pc:sldMk cId="3690587471" sldId="262"/>
        </pc:sldMkLst>
        <pc:spChg chg="mod">
          <ac:chgData name="Christophe MOMMER" userId="719dc0502fd0643e" providerId="LiveId" clId="{CDC1DA65-B616-42F5-9F13-425595464D82}" dt="2021-08-20T09:47:45.034" v="2796" actId="20577"/>
          <ac:spMkLst>
            <pc:docMk/>
            <pc:sldMk cId="3690587471" sldId="262"/>
            <ac:spMk id="2" creationId="{40C43375-8521-4379-AAA8-5847395663E1}"/>
          </ac:spMkLst>
        </pc:spChg>
      </pc:sldChg>
      <pc:sldChg chg="modSp add mod ord">
        <pc:chgData name="Christophe MOMMER" userId="719dc0502fd0643e" providerId="LiveId" clId="{CDC1DA65-B616-42F5-9F13-425595464D82}" dt="2021-08-20T12:16:10.632" v="3449" actId="20577"/>
        <pc:sldMkLst>
          <pc:docMk/>
          <pc:sldMk cId="1482893328" sldId="263"/>
        </pc:sldMkLst>
        <pc:spChg chg="mod">
          <ac:chgData name="Christophe MOMMER" userId="719dc0502fd0643e" providerId="LiveId" clId="{CDC1DA65-B616-42F5-9F13-425595464D82}" dt="2021-08-20T09:48:10.737" v="2844" actId="20577"/>
          <ac:spMkLst>
            <pc:docMk/>
            <pc:sldMk cId="1482893328" sldId="263"/>
            <ac:spMk id="2" creationId="{5CA23E14-01ED-4A5E-8D1E-EB71885E55F9}"/>
          </ac:spMkLst>
        </pc:spChg>
        <pc:spChg chg="mod">
          <ac:chgData name="Christophe MOMMER" userId="719dc0502fd0643e" providerId="LiveId" clId="{CDC1DA65-B616-42F5-9F13-425595464D82}" dt="2021-08-20T12:16:10.632" v="3449" actId="20577"/>
          <ac:spMkLst>
            <pc:docMk/>
            <pc:sldMk cId="1482893328" sldId="263"/>
            <ac:spMk id="3" creationId="{9BAF106B-E959-47D7-A51A-D7C962294945}"/>
          </ac:spMkLst>
        </pc:spChg>
      </pc:sldChg>
      <pc:sldChg chg="add">
        <pc:chgData name="Christophe MOMMER" userId="719dc0502fd0643e" providerId="LiveId" clId="{CDC1DA65-B616-42F5-9F13-425595464D82}" dt="2021-08-20T09:47:34.141" v="2760" actId="2890"/>
        <pc:sldMkLst>
          <pc:docMk/>
          <pc:sldMk cId="845034283" sldId="264"/>
        </pc:sldMkLst>
      </pc:sldChg>
      <pc:sldChg chg="modSp add mod ord">
        <pc:chgData name="Christophe MOMMER" userId="719dc0502fd0643e" providerId="LiveId" clId="{CDC1DA65-B616-42F5-9F13-425595464D82}" dt="2021-08-20T12:14:33.328" v="3064" actId="20577"/>
        <pc:sldMkLst>
          <pc:docMk/>
          <pc:sldMk cId="2600133574" sldId="265"/>
        </pc:sldMkLst>
        <pc:spChg chg="mod">
          <ac:chgData name="Christophe MOMMER" userId="719dc0502fd0643e" providerId="LiveId" clId="{CDC1DA65-B616-42F5-9F13-425595464D82}" dt="2021-08-20T12:14:33.328" v="3064" actId="20577"/>
          <ac:spMkLst>
            <pc:docMk/>
            <pc:sldMk cId="2600133574" sldId="265"/>
            <ac:spMk id="2" creationId="{40C43375-8521-4379-AAA8-5847395663E1}"/>
          </ac:spMkLst>
        </pc:spChg>
      </pc:sldChg>
      <pc:sldChg chg="modSp add mod ord">
        <pc:chgData name="Christophe MOMMER" userId="719dc0502fd0643e" providerId="LiveId" clId="{CDC1DA65-B616-42F5-9F13-425595464D82}" dt="2021-08-20T12:16:14.040" v="3451" actId="20577"/>
        <pc:sldMkLst>
          <pc:docMk/>
          <pc:sldMk cId="3108103213" sldId="266"/>
        </pc:sldMkLst>
        <pc:spChg chg="mod">
          <ac:chgData name="Christophe MOMMER" userId="719dc0502fd0643e" providerId="LiveId" clId="{CDC1DA65-B616-42F5-9F13-425595464D82}" dt="2021-08-20T12:14:46.320" v="3099" actId="20577"/>
          <ac:spMkLst>
            <pc:docMk/>
            <pc:sldMk cId="3108103213" sldId="266"/>
            <ac:spMk id="2" creationId="{5CA23E14-01ED-4A5E-8D1E-EB71885E55F9}"/>
          </ac:spMkLst>
        </pc:spChg>
        <pc:spChg chg="mod">
          <ac:chgData name="Christophe MOMMER" userId="719dc0502fd0643e" providerId="LiveId" clId="{CDC1DA65-B616-42F5-9F13-425595464D82}" dt="2021-08-20T12:16:14.040" v="3451" actId="20577"/>
          <ac:spMkLst>
            <pc:docMk/>
            <pc:sldMk cId="3108103213" sldId="266"/>
            <ac:spMk id="3" creationId="{9BAF106B-E959-47D7-A51A-D7C962294945}"/>
          </ac:spMkLst>
        </pc:spChg>
      </pc:sldChg>
      <pc:sldChg chg="add ord">
        <pc:chgData name="Christophe MOMMER" userId="719dc0502fd0643e" providerId="LiveId" clId="{CDC1DA65-B616-42F5-9F13-425595464D82}" dt="2021-08-20T12:20:21.844" v="3549"/>
        <pc:sldMkLst>
          <pc:docMk/>
          <pc:sldMk cId="3907672664" sldId="267"/>
        </pc:sldMkLst>
      </pc:sldChg>
      <pc:sldChg chg="addSp delSp modSp new mod setBg">
        <pc:chgData name="Christophe MOMMER" userId="719dc0502fd0643e" providerId="LiveId" clId="{CDC1DA65-B616-42F5-9F13-425595464D82}" dt="2021-08-20T12:20:13.193" v="3547" actId="1582"/>
        <pc:sldMkLst>
          <pc:docMk/>
          <pc:sldMk cId="2829736278" sldId="268"/>
        </pc:sldMkLst>
        <pc:spChg chg="mod">
          <ac:chgData name="Christophe MOMMER" userId="719dc0502fd0643e" providerId="LiveId" clId="{CDC1DA65-B616-42F5-9F13-425595464D82}" dt="2021-08-20T12:20:13.193" v="3547" actId="1582"/>
          <ac:spMkLst>
            <pc:docMk/>
            <pc:sldMk cId="2829736278" sldId="268"/>
            <ac:spMk id="2" creationId="{841B34DC-5DD4-4A12-B079-1B7B6A19D74A}"/>
          </ac:spMkLst>
        </pc:spChg>
        <pc:spChg chg="del">
          <ac:chgData name="Christophe MOMMER" userId="719dc0502fd0643e" providerId="LiveId" clId="{CDC1DA65-B616-42F5-9F13-425595464D82}" dt="2021-08-20T12:17:14.253" v="3529" actId="478"/>
          <ac:spMkLst>
            <pc:docMk/>
            <pc:sldMk cId="2829736278" sldId="268"/>
            <ac:spMk id="3" creationId="{D3D6A64E-26C1-489B-9E1B-7B9AEE1994AA}"/>
          </ac:spMkLst>
        </pc:spChg>
        <pc:spChg chg="add mod ord">
          <ac:chgData name="Christophe MOMMER" userId="719dc0502fd0643e" providerId="LiveId" clId="{CDC1DA65-B616-42F5-9F13-425595464D82}" dt="2021-08-20T12:19:53.829" v="3540" actId="1076"/>
          <ac:spMkLst>
            <pc:docMk/>
            <pc:sldMk cId="2829736278" sldId="268"/>
            <ac:spMk id="4" creationId="{C85E5C2C-01DD-4BAA-8A86-62E33FC6CAAB}"/>
          </ac:spMkLst>
        </pc:spChg>
      </pc:sldChg>
      <pc:sldChg chg="delSp modSp add mod delAnim modAnim">
        <pc:chgData name="Christophe MOMMER" userId="719dc0502fd0643e" providerId="LiveId" clId="{CDC1DA65-B616-42F5-9F13-425595464D82}" dt="2021-08-20T16:00:16.456" v="3962"/>
        <pc:sldMkLst>
          <pc:docMk/>
          <pc:sldMk cId="814116702" sldId="269"/>
        </pc:sldMkLst>
        <pc:spChg chg="mod">
          <ac:chgData name="Christophe MOMMER" userId="719dc0502fd0643e" providerId="LiveId" clId="{CDC1DA65-B616-42F5-9F13-425595464D82}" dt="2021-08-20T15:59:36.568" v="3959" actId="113"/>
          <ac:spMkLst>
            <pc:docMk/>
            <pc:sldMk cId="814116702" sldId="269"/>
            <ac:spMk id="9" creationId="{50344EAD-8675-433E-AA31-409659FDFD0C}"/>
          </ac:spMkLst>
        </pc:spChg>
        <pc:spChg chg="del">
          <ac:chgData name="Christophe MOMMER" userId="719dc0502fd0643e" providerId="LiveId" clId="{CDC1DA65-B616-42F5-9F13-425595464D82}" dt="2021-08-20T15:58:55.536" v="3782" actId="478"/>
          <ac:spMkLst>
            <pc:docMk/>
            <pc:sldMk cId="814116702" sldId="269"/>
            <ac:spMk id="11" creationId="{FFE168E4-5D7C-48C8-8792-4A61F18ECDD0}"/>
          </ac:spMkLst>
        </pc:spChg>
        <pc:spChg chg="del">
          <ac:chgData name="Christophe MOMMER" userId="719dc0502fd0643e" providerId="LiveId" clId="{CDC1DA65-B616-42F5-9F13-425595464D82}" dt="2021-08-20T15:58:56.465" v="3783" actId="478"/>
          <ac:spMkLst>
            <pc:docMk/>
            <pc:sldMk cId="814116702" sldId="269"/>
            <ac:spMk id="17" creationId="{AF838005-812A-429D-B5B2-2CCE0882DCA2}"/>
          </ac:spMkLst>
        </pc:spChg>
        <pc:spChg chg="del">
          <ac:chgData name="Christophe MOMMER" userId="719dc0502fd0643e" providerId="LiveId" clId="{CDC1DA65-B616-42F5-9F13-425595464D82}" dt="2021-08-20T15:58:57.374" v="3784" actId="478"/>
          <ac:spMkLst>
            <pc:docMk/>
            <pc:sldMk cId="814116702" sldId="269"/>
            <ac:spMk id="19" creationId="{429F2717-AF09-4C27-9B6D-C18F4A23A1ED}"/>
          </ac:spMkLst>
        </pc:spChg>
      </pc:sldChg>
      <pc:sldChg chg="modSp add mod ord">
        <pc:chgData name="Christophe MOMMER" userId="719dc0502fd0643e" providerId="LiveId" clId="{CDC1DA65-B616-42F5-9F13-425595464D82}" dt="2021-08-20T16:24:40.202" v="4266" actId="2711"/>
        <pc:sldMkLst>
          <pc:docMk/>
          <pc:sldMk cId="2980766918" sldId="270"/>
        </pc:sldMkLst>
        <pc:spChg chg="mod">
          <ac:chgData name="Christophe MOMMER" userId="719dc0502fd0643e" providerId="LiveId" clId="{CDC1DA65-B616-42F5-9F13-425595464D82}" dt="2021-08-20T16:19:28.031" v="3974" actId="20577"/>
          <ac:spMkLst>
            <pc:docMk/>
            <pc:sldMk cId="2980766918" sldId="270"/>
            <ac:spMk id="2" creationId="{5CA23E14-01ED-4A5E-8D1E-EB71885E55F9}"/>
          </ac:spMkLst>
        </pc:spChg>
        <pc:spChg chg="mod">
          <ac:chgData name="Christophe MOMMER" userId="719dc0502fd0643e" providerId="LiveId" clId="{CDC1DA65-B616-42F5-9F13-425595464D82}" dt="2021-08-20T16:24:40.202" v="4266" actId="2711"/>
          <ac:spMkLst>
            <pc:docMk/>
            <pc:sldMk cId="2980766918" sldId="270"/>
            <ac:spMk id="3" creationId="{9BAF106B-E959-47D7-A51A-D7C9622949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03170545-0C95-43EF-823E-6E59B853E11B}" type="datetimeFigureOut">
              <a:rPr lang="fr-FR" smtClean="0"/>
              <a:t>10/09/2026</a:t>
            </a:fld>
            <a:endParaRPr lang="fr-FR"/>
          </a:p>
        </p:txBody>
      </p:sp>
      <p:sp>
        <p:nvSpPr>
          <p:cNvPr id="4" name="Espace réservé de l'image des diapositives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E34A90FA-2B90-4955-8936-B38902151F4C}" type="slidenum">
              <a:rPr lang="fr-FR" smtClean="0"/>
              <a:t>‹N°›</a:t>
            </a:fld>
            <a:endParaRPr lang="fr-FR"/>
          </a:p>
        </p:txBody>
      </p:sp>
    </p:spTree>
    <p:extLst>
      <p:ext uri="{BB962C8B-B14F-4D97-AF65-F5344CB8AC3E}">
        <p14:creationId xmlns:p14="http://schemas.microsoft.com/office/powerpoint/2010/main" val="717385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 une démonstration est utile, choisir un exemple extérieur à la bataille navale. Montrer la démarche de décision sans fournir une revue du projet prête à reprendre.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Intention pédagogique : faire produire un diagnostic et des preuves propres au projet. Ne pas annoncer les erreurs techniques et leurs corrections pendant cette introduction. Le référentiel technique reste consultable. Une revue bien étayée peut conclure à l’acceptation : aucune erreur fabriquée n’est demandée.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binôme choisit son organisation, son périmètre complémentaire et ses arbitrages. L’ambition est attendue au-delà du socle. Aucun planning quotidien, quota de fonctionnalités ou cadence de démonstration n’est imposé.</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Référence technique vérifiée lors de la relecture :</a:t>
            </a:r>
          </a:p>
          <a:p>
            <a:r>
              <a:t>https://learn.microsoft.com/en-us/dotnet/core/install/windows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Référence technique vérifiée lors de la relecture :</a:t>
            </a:r>
          </a:p>
          <a:p>
            <a:r>
              <a:t>https://learn.microsoft.com/en-us/dotnet/csharp/language-reference/builtin-types/record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Référence technique vérifiée lors de la relecture :</a:t>
            </a:r>
          </a:p>
          <a:p>
            <a:r>
              <a:t>https://learn.microsoft.com/en-us/aspnet/core/fundamentals/apis?view=aspnetcore-10.0</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Référence technique vérifiée lors de la relecture :</a:t>
            </a:r>
          </a:p>
          <a:p>
            <a:r>
              <a:t>https://learn.microsoft.com/en-us/aspnet/core/fundamentals/routing?view=aspnetcore-10.0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Documentation de référence :</a:t>
            </a:r>
          </a:p>
          <a:p>
            <a:r>
              <a:t>https://docs.fluentvalidation.net/en/latest/aspnet.html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Documentation de référence :</a:t>
            </a:r>
          </a:p>
          <a:p>
            <a:r>
              <a:t>https://learn.microsoft.com/en-us/aspnet/core/blazor/components/lifecycle?view=aspnetcore-10.0</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Référence technique vérifiée lors de la relecture :</a:t>
            </a:r>
          </a:p>
          <a:p>
            <a:r>
              <a:t>https://learn.microsoft.com/en-us/aspnet/core/blazor/fundamentals/dependency-injection?view=aspnetcore-10.0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Documentation de référence :</a:t>
            </a:r>
          </a:p>
          <a:p>
            <a:r>
              <a:t>https://learn.microsoft.com/en-us/aspnet/core/security/cors?view=aspnetcore-10.0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Référence technique vérifiée lors de la relecture :</a:t>
            </a:r>
          </a:p>
          <a:p>
            <a:r>
              <a:t>https://learn.microsoft.com/en-us/aspnet/core/grpc/error-handling?view=aspnetcore-10.0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Documentation de référence :</a:t>
            </a:r>
          </a:p>
          <a:p>
            <a:r>
              <a:t>https://learn.microsoft.com/en-us/aspnet/core/grpc/grpcweb?view=aspnetcore-10.0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Documentation de référence :</a:t>
            </a:r>
          </a:p>
          <a:p>
            <a:r>
              <a:t>https://learn.microsoft.com/en-us/aspnet/core/grpc/grpcweb?view=aspnetcore-10.0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F8D143-2E3D-4EA8-B974-1A415544500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8D88596-C285-42A8-AF35-74C7600242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B4BECA3-4D21-47E0-8888-5C835B484731}"/>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5" name="Espace réservé du pied de page 4">
            <a:extLst>
              <a:ext uri="{FF2B5EF4-FFF2-40B4-BE49-F238E27FC236}">
                <a16:creationId xmlns:a16="http://schemas.microsoft.com/office/drawing/2014/main" id="{22E12CCB-7FF6-4AA6-91AC-014EF928B0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B887FBF-7239-4429-AD40-D5F3E9C51AA8}"/>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2792714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7B7524-4FDA-462F-B7A5-4162AD9C0B7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F27D4D6-9AFF-4B01-9425-57D0A9A1EC5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9479777-7E33-4430-AE85-6DF0D3671E38}"/>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5" name="Espace réservé du pied de page 4">
            <a:extLst>
              <a:ext uri="{FF2B5EF4-FFF2-40B4-BE49-F238E27FC236}">
                <a16:creationId xmlns:a16="http://schemas.microsoft.com/office/drawing/2014/main" id="{4B137851-5CBC-4443-89B8-604B29A0BA2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7C8462F-ED3D-4387-80D9-2BBF5A02C4E6}"/>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4152613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21F7F-5914-48A2-BE25-C29730E8CE2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05964AE-9335-43CA-8DF2-4ABE91E325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B5B39A6-67B9-4371-850B-67DB80AFB6FA}"/>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5" name="Espace réservé du pied de page 4">
            <a:extLst>
              <a:ext uri="{FF2B5EF4-FFF2-40B4-BE49-F238E27FC236}">
                <a16:creationId xmlns:a16="http://schemas.microsoft.com/office/drawing/2014/main" id="{28029F16-90FA-470C-9090-DDCE9DCFE9D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3D1FC3A-D0A9-4121-816F-A5D656F9AEE1}"/>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3867881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95CBE-797F-4061-AB43-454722B415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74D392E-F4A8-4701-9E95-D453415ACF8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98D5A10-9746-4A94-A8ED-0E1301121F0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F0AD6AB-067E-4B07-94D7-C6D26A5CF5C5}"/>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6" name="Espace réservé du pied de page 5">
            <a:extLst>
              <a:ext uri="{FF2B5EF4-FFF2-40B4-BE49-F238E27FC236}">
                <a16:creationId xmlns:a16="http://schemas.microsoft.com/office/drawing/2014/main" id="{E7DA6177-0A47-41A2-8CE0-F5A6360EFA2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DEC9C77-3A7A-40A8-BE42-F1F9F2CB0CD2}"/>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4056800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369A29-8404-4894-8F14-CA0289C8EF7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657FF5A-65C3-4BAE-802F-08F8F16094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FE3CCAE-866A-48F3-8031-CB5BBE63CCE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E4A621D-2A6E-40E2-B7CC-389B8364D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C26748D-7D76-4281-986F-91A8CC96340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995E8F5-CB66-4CC5-AFCC-63B1453D777A}"/>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8" name="Espace réservé du pied de page 7">
            <a:extLst>
              <a:ext uri="{FF2B5EF4-FFF2-40B4-BE49-F238E27FC236}">
                <a16:creationId xmlns:a16="http://schemas.microsoft.com/office/drawing/2014/main" id="{401BE457-1867-43DF-ABFE-3E71CB46E6F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93B0E52-E6DA-4482-B19B-79225C5656E0}"/>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2084628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8D3364-B295-4D8D-9035-D77E4F5D25E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7974658-5094-4F57-943F-C1CEFBF46F86}"/>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4" name="Espace réservé du pied de page 3">
            <a:extLst>
              <a:ext uri="{FF2B5EF4-FFF2-40B4-BE49-F238E27FC236}">
                <a16:creationId xmlns:a16="http://schemas.microsoft.com/office/drawing/2014/main" id="{B70CB365-6497-4281-9328-BCC6E970644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C53B37F-8DCF-4550-9C96-A76FD4C295D4}"/>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2187593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F667C4E-2B73-44DF-974C-74BD6FEFCE62}"/>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3" name="Espace réservé du pied de page 2">
            <a:extLst>
              <a:ext uri="{FF2B5EF4-FFF2-40B4-BE49-F238E27FC236}">
                <a16:creationId xmlns:a16="http://schemas.microsoft.com/office/drawing/2014/main" id="{8C85CBDA-3F9E-4C64-A3EB-D19EA5B0905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4CB2D46-AC12-4EE2-895F-9FF5DE9466D1}"/>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7591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180970-9C11-4A00-AD35-E9176E3153E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76ECE12-E049-4E6F-A0A0-37CFC150EC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94ECDCF-D1EF-4FBF-BE1A-1911D8394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DA27DB0-FB66-4322-85CD-56B635520080}"/>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6" name="Espace réservé du pied de page 5">
            <a:extLst>
              <a:ext uri="{FF2B5EF4-FFF2-40B4-BE49-F238E27FC236}">
                <a16:creationId xmlns:a16="http://schemas.microsoft.com/office/drawing/2014/main" id="{8F87BCC9-3711-47A8-98A9-007978281C4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163FE4A-BF3D-499F-9D4F-F4B7697D01BA}"/>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348257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99E17B-2B52-4B39-8A68-B65F74E4906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86AB9EF-C381-473F-8F55-B6881191E2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45BAFD6-B02E-455B-86B8-F0512A4B6E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89CCE5A-AC06-4C4F-894F-7FAFFCDFB379}"/>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6" name="Espace réservé du pied de page 5">
            <a:extLst>
              <a:ext uri="{FF2B5EF4-FFF2-40B4-BE49-F238E27FC236}">
                <a16:creationId xmlns:a16="http://schemas.microsoft.com/office/drawing/2014/main" id="{9D89C2AA-8A7D-44C3-984A-572768DC8C9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4CC62E3-EBA2-49C4-BCEB-F8C25174172E}"/>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3918850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AF4525-A8DD-4329-A938-4C45D6AB9FF1}"/>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2B32F77-63EB-4040-B211-5C3C3EB5FB8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46D3EB2-8C66-4B75-A49D-62BB6860EDCB}"/>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5" name="Espace réservé du pied de page 4">
            <a:extLst>
              <a:ext uri="{FF2B5EF4-FFF2-40B4-BE49-F238E27FC236}">
                <a16:creationId xmlns:a16="http://schemas.microsoft.com/office/drawing/2014/main" id="{3E04BC73-38EE-4A5E-865B-611BE658FE2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D1B709A-34C9-410B-9BF8-34E049C6D9DC}"/>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2439263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BDF9823-C6C7-4ECD-85EB-A0190A9D3C2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81A42F-4EE7-485B-A146-CCA015A7C81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D57CE3B-8C89-4AE2-ADF9-5538F899F826}"/>
              </a:ext>
            </a:extLst>
          </p:cNvPr>
          <p:cNvSpPr>
            <a:spLocks noGrp="1"/>
          </p:cNvSpPr>
          <p:nvPr>
            <p:ph type="dt" sz="half" idx="10"/>
          </p:nvPr>
        </p:nvSpPr>
        <p:spPr/>
        <p:txBody>
          <a:bodyPr/>
          <a:lstStyle/>
          <a:p>
            <a:fld id="{E3F760A5-DB6C-4705-BB8A-192D84F82109}" type="datetimeFigureOut">
              <a:rPr lang="fr-FR" smtClean="0"/>
              <a:t>10/09/2026</a:t>
            </a:fld>
            <a:endParaRPr lang="fr-FR"/>
          </a:p>
        </p:txBody>
      </p:sp>
      <p:sp>
        <p:nvSpPr>
          <p:cNvPr id="5" name="Espace réservé du pied de page 4">
            <a:extLst>
              <a:ext uri="{FF2B5EF4-FFF2-40B4-BE49-F238E27FC236}">
                <a16:creationId xmlns:a16="http://schemas.microsoft.com/office/drawing/2014/main" id="{A0B78F0E-DAFD-44BF-B8CB-9F6AC64A8AF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0EC5FD-01E6-4B87-8CF6-1C07ED4AE621}"/>
              </a:ext>
            </a:extLst>
          </p:cNvPr>
          <p:cNvSpPr>
            <a:spLocks noGrp="1"/>
          </p:cNvSpPr>
          <p:nvPr>
            <p:ph type="sldNum" sz="quarter" idx="12"/>
          </p:nvPr>
        </p:nvSpPr>
        <p:spPr/>
        <p:txBody>
          <a:bodyPr/>
          <a:lstStyle/>
          <a:p>
            <a:fld id="{6AA0D628-BE1E-440F-9F4E-43D629FB6865}" type="slidenum">
              <a:rPr lang="fr-FR" smtClean="0"/>
              <a:t>‹N°›</a:t>
            </a:fld>
            <a:endParaRPr lang="fr-FR"/>
          </a:p>
        </p:txBody>
      </p:sp>
    </p:spTree>
    <p:extLst>
      <p:ext uri="{BB962C8B-B14F-4D97-AF65-F5344CB8AC3E}">
        <p14:creationId xmlns:p14="http://schemas.microsoft.com/office/powerpoint/2010/main" val="2491591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C9A4F4E-B612-40EF-A581-3CCB4BBC4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14EFAAF-711C-48F2-A3B3-CF2D9729BD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571F47C-494D-4406-8792-39FB9D078F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760A5-DB6C-4705-BB8A-192D84F82109}" type="datetimeFigureOut">
              <a:rPr lang="fr-FR" smtClean="0"/>
              <a:t>10/09/2026</a:t>
            </a:fld>
            <a:endParaRPr lang="fr-FR"/>
          </a:p>
        </p:txBody>
      </p:sp>
      <p:sp>
        <p:nvSpPr>
          <p:cNvPr id="5" name="Espace réservé du pied de page 4">
            <a:extLst>
              <a:ext uri="{FF2B5EF4-FFF2-40B4-BE49-F238E27FC236}">
                <a16:creationId xmlns:a16="http://schemas.microsoft.com/office/drawing/2014/main" id="{E9D1D6E2-1390-44CA-836C-B4CF97B39F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BCE99E2-3FA5-4E38-A6AD-12425E0D5B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A0D628-BE1E-440F-9F4E-43D629FB6865}" type="slidenum">
              <a:rPr lang="fr-FR" smtClean="0"/>
              <a:t>‹N°›</a:t>
            </a:fld>
            <a:endParaRPr lang="fr-FR"/>
          </a:p>
        </p:txBody>
      </p:sp>
    </p:spTree>
    <p:extLst>
      <p:ext uri="{BB962C8B-B14F-4D97-AF65-F5344CB8AC3E}">
        <p14:creationId xmlns:p14="http://schemas.microsoft.com/office/powerpoint/2010/main" val="3567422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30.xml"/><Relationship Id="rId7" Type="http://schemas.openxmlformats.org/officeDocument/2006/relationships/slide" Target="slide59.xml"/><Relationship Id="rId2" Type="http://schemas.openxmlformats.org/officeDocument/2006/relationships/slide" Target="slide18.xml"/><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47.xml"/><Relationship Id="rId4" Type="http://schemas.openxmlformats.org/officeDocument/2006/relationships/slide" Target="slide41.xml"/></Relationships>
</file>

<file path=ppt/slides/_rels/slide17.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docs.fluentvalidation.net/en/latest/aspnet.html" TargetMode="External"/></Relationships>
</file>

<file path=ppt/slides/_rels/slide41.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learn.microsoft.com/en-us/aspnet/core/blazor/components/lifecycle?view=aspnetcore-10.0" TargetMode="External"/></Relationships>
</file>

<file path=ppt/slides/_rels/slide4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learn.microsoft.com/en-us/aspnet/core/security/cors?view=aspnetcore-10.0" TargetMode="External"/></Relationships>
</file>

<file path=ppt/slides/_rels/slide46.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learn.microsoft.com/en-us/aspnet/core/grpc/grpcweb?view=aspnetcore-10.0" TargetMode="External"/></Relationships>
</file>

<file path=ppt/slides/_rels/slide5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learn.microsoft.com/en-us/aspnet/core/grpc/grpcweb?view=aspnetcore-10.0" TargetMode="External"/></Relationships>
</file>

<file path=ppt/slides/_rels/slide5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learn.microsoft.com/dotnet/" TargetMode="External"/><Relationship Id="rId2" Type="http://schemas.openxmlformats.org/officeDocument/2006/relationships/slide" Target="slide16.xml"/><Relationship Id="rId1" Type="http://schemas.openxmlformats.org/officeDocument/2006/relationships/slideLayout" Target="../slideLayouts/slideLayout2.xml"/><Relationship Id="rId6" Type="http://schemas.openxmlformats.org/officeDocument/2006/relationships/hyperlink" Target="https://github.com/dotnet/aspnetcore" TargetMode="External"/><Relationship Id="rId5" Type="http://schemas.openxmlformats.org/officeDocument/2006/relationships/hyperlink" Target="https://www.nuget.org/" TargetMode="External"/><Relationship Id="rId4" Type="http://schemas.openxmlformats.org/officeDocument/2006/relationships/hyperlink" Target="https://learn.microsoft.com/aspnet/core/?view=aspnetcore-10.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A23380E-1AC7-4EC3-8A26-1760179AE200}"/>
              </a:ext>
            </a:extLst>
          </p:cNvPr>
          <p:cNvSpPr>
            <a:spLocks noGrp="1"/>
          </p:cNvSpPr>
          <p:nvPr>
            <p:ph type="ctrTitle"/>
          </p:nvPr>
        </p:nvSpPr>
        <p:spPr>
          <a:xfrm>
            <a:off x="1005090" y="199245"/>
            <a:ext cx="10277475" cy="4281488"/>
          </a:xfrm>
        </p:spPr>
        <p:txBody>
          <a:bodyPr anchor="t">
            <a:normAutofit/>
          </a:bodyPr>
          <a:lstStyle/>
          <a:p>
            <a:pPr algn="ctr"/>
            <a:r>
              <a:rPr lang="fr-FR" sz="5400" b="1" dirty="0">
                <a:solidFill>
                  <a:schemeClr val="bg1"/>
                </a:solidFill>
              </a:rPr>
              <a:t>COURS C# / ASP.NET</a:t>
            </a:r>
          </a:p>
        </p:txBody>
      </p:sp>
      <p:sp>
        <p:nvSpPr>
          <p:cNvPr id="23"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solidFill>
            <a:schemeClr val="bg1"/>
          </a:solidFill>
          <a:ln w="603" cap="flat">
            <a:noFill/>
            <a:prstDash val="solid"/>
            <a:miter/>
          </a:ln>
        </p:spPr>
        <p:txBody>
          <a:bodyPr rtlCol="0" anchor="ctr"/>
          <a:lstStyle/>
          <a:p>
            <a:endParaRPr lang="en-US"/>
          </a:p>
        </p:txBody>
      </p:sp>
      <p:cxnSp>
        <p:nvCxnSpPr>
          <p:cNvPr id="25" name="Straight Connector 2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pic>
        <p:nvPicPr>
          <p:cNvPr id="7" name="Graphique 6">
            <a:extLst>
              <a:ext uri="{FF2B5EF4-FFF2-40B4-BE49-F238E27FC236}">
                <a16:creationId xmlns:a16="http://schemas.microsoft.com/office/drawing/2014/main" id="{5AFDC4F8-124E-44E5-A949-C45BD602A1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86926" y="2221787"/>
            <a:ext cx="5569864" cy="3536421"/>
          </a:xfrm>
          <a:prstGeom prst="rect">
            <a:avLst/>
          </a:prstGeom>
        </p:spPr>
      </p:pic>
      <p:sp>
        <p:nvSpPr>
          <p:cNvPr id="27"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sp>
        <p:nvSpPr>
          <p:cNvPr id="8" name="ZoneTexte 7">
            <a:extLst>
              <a:ext uri="{FF2B5EF4-FFF2-40B4-BE49-F238E27FC236}">
                <a16:creationId xmlns:a16="http://schemas.microsoft.com/office/drawing/2014/main" id="{24ACAD10-D0B4-41AF-8F55-5AA99F5D6199}"/>
              </a:ext>
            </a:extLst>
          </p:cNvPr>
          <p:cNvSpPr txBox="1"/>
          <p:nvPr/>
        </p:nvSpPr>
        <p:spPr>
          <a:xfrm>
            <a:off x="458968" y="6053328"/>
            <a:ext cx="4408882" cy="530352"/>
          </a:xfrm>
          <a:prstGeom prst="rect">
            <a:avLst/>
          </a:prstGeom>
          <a:noFill/>
        </p:spPr>
        <p:txBody>
          <a:bodyPr wrap="square" rtlCol="0">
            <a:spAutoFit/>
          </a:bodyPr>
          <a:lstStyle/>
          <a:p>
            <a:r>
              <a:rPr lang="fr-FR" sz="3200" b="1" dirty="0">
                <a:solidFill>
                  <a:schemeClr val="bg1"/>
                </a:solidFill>
              </a:rPr>
              <a:t>Christophe MOMMER</a:t>
            </a:r>
          </a:p>
        </p:txBody>
      </p:sp>
      <p:sp>
        <p:nvSpPr>
          <p:cNvPr id="9" name="ZoneTexte 8">
            <a:extLst>
              <a:ext uri="{FF2B5EF4-FFF2-40B4-BE49-F238E27FC236}">
                <a16:creationId xmlns:a16="http://schemas.microsoft.com/office/drawing/2014/main" id="{ED158F36-04B9-4140-8D6A-CEB01E1A002C}"/>
              </a:ext>
            </a:extLst>
          </p:cNvPr>
          <p:cNvSpPr txBox="1"/>
          <p:nvPr/>
        </p:nvSpPr>
        <p:spPr>
          <a:xfrm>
            <a:off x="5486400" y="6140049"/>
            <a:ext cx="6400800" cy="584775"/>
          </a:xfrm>
          <a:prstGeom prst="rect">
            <a:avLst/>
          </a:prstGeom>
          <a:noFill/>
        </p:spPr>
        <p:txBody>
          <a:bodyPr wrap="square" rtlCol="0">
            <a:spAutoFit/>
          </a:bodyPr>
          <a:lstStyle/>
          <a:p>
            <a:pPr algn="ctr"/>
            <a:r>
              <a:rPr lang="fr-FR" sz="2800" b="1" dirty="0">
                <a:solidFill>
                  <a:schemeClr val="bg1"/>
                </a:solidFill>
              </a:rPr>
              <a:t>https://www.hts-learning.com</a:t>
            </a:r>
          </a:p>
        </p:txBody>
      </p:sp>
      <p:pic>
        <p:nvPicPr>
          <p:cNvPr id="5" name="Image 4">
            <a:extLst>
              <a:ext uri="{FF2B5EF4-FFF2-40B4-BE49-F238E27FC236}">
                <a16:creationId xmlns:a16="http://schemas.microsoft.com/office/drawing/2014/main" id="{C70F896A-B3C6-45DE-B895-5192F7C738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09" y="1589368"/>
            <a:ext cx="4080399" cy="3920034"/>
          </a:xfrm>
          <a:prstGeom prst="rect">
            <a:avLst/>
          </a:prstGeom>
        </p:spPr>
      </p:pic>
    </p:spTree>
    <p:extLst>
      <p:ext uri="{BB962C8B-B14F-4D97-AF65-F5344CB8AC3E}">
        <p14:creationId xmlns:p14="http://schemas.microsoft.com/office/powerpoint/2010/main" val="1305305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0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0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LE DEAL</a:t>
            </a:r>
          </a:p>
        </p:txBody>
      </p:sp>
      <p:cxnSp>
        <p:nvCxnSpPr>
          <p:cNvPr id="90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03" name="ZoneTexte"/>
          <p:cNvSpPr txBox="1"/>
          <p:nvPr/>
        </p:nvSpPr>
        <p:spPr>
          <a:xfrm>
            <a:off x="147535" y="1150000"/>
            <a:ext cx="11896927" cy="4854575"/>
          </a:xfrm>
          <a:prstGeom prst="rect">
            <a:avLst/>
          </a:prstGeom>
          <a:noFill/>
        </p:spPr>
        <p:txBody>
          <a:bodyPr wrap="square" lIns="0" tIns="0" rIns="127000" bIns="0" rtlCol="0" anchor="t"/>
          <a:lstStyle/>
          <a:p>
            <a:pPr>
              <a:spcBef>
                <a:spcPts val="600"/>
              </a:spcBef>
            </a:pPr>
            <a:r>
              <a:rPr lang="fr-FR" sz="2200" b="1" spc="60" dirty="0">
                <a:solidFill>
                  <a:srgbClr val="FFA53C"/>
                </a:solidFill>
              </a:rPr>
              <a:t>Aujourd’hui : une heure. Puis cinq jours en binôme.</a:t>
            </a:r>
          </a:p>
          <a:p>
            <a:pPr marL="285750" indent="-285750">
              <a:buClr>
                <a:srgbClr val="FFA53C"/>
              </a:buClr>
              <a:buFont typeface="Arial" panose="020B0604020202020204" pitchFamily="34" charset="0"/>
              <a:buChar char="•"/>
            </a:pPr>
            <a:r>
              <a:rPr lang="fr-FR" sz="2200" dirty="0">
                <a:solidFill>
                  <a:srgbClr val="ECEEF3"/>
                </a:solidFill>
              </a:rPr>
              <a:t>Cette introduction présente la mission, les livrables, l’évaluation et le démarrage.</a:t>
            </a:r>
          </a:p>
          <a:p>
            <a:pPr marL="285750" indent="-285750">
              <a:buClr>
                <a:srgbClr val="FFA53C"/>
              </a:buClr>
              <a:buFont typeface="Arial" panose="020B0604020202020204" pitchFamily="34" charset="0"/>
              <a:buChar char="•"/>
            </a:pPr>
            <a:r>
              <a:rPr lang="fr-FR" sz="2200" dirty="0">
                <a:solidFill>
                  <a:srgbClr val="ECEEF3"/>
                </a:solidFill>
              </a:rPr>
              <a:t>Vous conduisez le projet en autonomie : cherchez, testez et utilisez l’entraide.</a:t>
            </a:r>
          </a:p>
          <a:p>
            <a:pPr marL="285750" indent="-285750">
              <a:buClr>
                <a:srgbClr val="FFA53C"/>
              </a:buClr>
              <a:buFont typeface="Arial" panose="020B0604020202020204" pitchFamily="34" charset="0"/>
              <a:buChar char="•"/>
            </a:pPr>
            <a:r>
              <a:rPr lang="fr-FR" sz="2200" dirty="0">
                <a:solidFill>
                  <a:srgbClr val="ECEEF3"/>
                </a:solidFill>
              </a:rPr>
              <a:t>Le référentiel commence diapo 17 ; les fichiers copiables accompagnent le PPT.</a:t>
            </a:r>
          </a:p>
          <a:p>
            <a:pPr marL="285750" indent="-285750">
              <a:buClr>
                <a:srgbClr val="FFA53C"/>
              </a:buClr>
              <a:buFont typeface="Arial" panose="020B0604020202020204" pitchFamily="34" charset="0"/>
              <a:buChar char="•"/>
            </a:pPr>
            <a:r>
              <a:rPr lang="fr-FR" sz="2200" dirty="0">
                <a:solidFill>
                  <a:srgbClr val="ECEEF3"/>
                </a:solidFill>
              </a:rPr>
              <a:t>Dernière heure du jour 5 : un QCM individuel de 20 questions.</a:t>
            </a:r>
          </a:p>
          <a:p>
            <a:pPr>
              <a:spcBef>
                <a:spcPts val="600"/>
              </a:spcBef>
            </a:pPr>
            <a:r>
              <a:rPr lang="fr-FR" sz="2200" b="1" spc="60" dirty="0">
                <a:solidFill>
                  <a:srgbClr val="FFA53C"/>
                </a:solidFill>
              </a:rPr>
              <a:t>Votre responsabilité</a:t>
            </a:r>
          </a:p>
          <a:p>
            <a:r>
              <a:rPr lang="fr-FR" sz="2200" dirty="0">
                <a:solidFill>
                  <a:srgbClr val="ECEEF3"/>
                </a:solidFill>
              </a:rPr>
              <a:t>Avancer vers un résultat démontrable, rendre les blocages visibles et justifier vos décisions.</a:t>
            </a:r>
          </a:p>
          <a:p>
            <a:pPr>
              <a:spcBef>
                <a:spcPts val="600"/>
              </a:spcBef>
            </a:pPr>
            <a:r>
              <a:rPr lang="fr-FR" sz="2200" b="1" spc="60" dirty="0">
                <a:solidFill>
                  <a:srgbClr val="FFA53C"/>
                </a:solidFill>
              </a:rPr>
              <a:t>Avec l’IA</a:t>
            </a:r>
          </a:p>
          <a:p>
            <a:r>
              <a:rPr lang="fr-FR" sz="2200" dirty="0">
                <a:solidFill>
                  <a:srgbClr val="ECEEF3"/>
                </a:solidFill>
              </a:rPr>
              <a:t>Vous pouvez lui déléguer du travail. Vous restez responsables du code accepté et des preuves de vérification.</a:t>
            </a:r>
          </a:p>
        </p:txBody>
      </p:sp>
      <p:cxnSp>
        <p:nvCxnSpPr>
          <p:cNvPr id="905" name="Accent titre"/>
          <p:cNvCxnSpPr/>
          <p:nvPr/>
        </p:nvCxnSpPr>
        <p:spPr>
          <a:xfrm>
            <a:off x="147535" y="894944"/>
            <a:ext cx="1100000" cy="0"/>
          </a:xfrm>
          <a:prstGeom prst="line">
            <a:avLst/>
          </a:prstGeom>
          <a:ln w="38100" cap="rnd">
            <a:solidFill>
              <a:srgbClr val="FFA53C"/>
            </a:solidFill>
          </a:ln>
        </p:spPr>
      </p:cxnSp>
      <p:sp>
        <p:nvSpPr>
          <p:cNvPr id="90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a:t>
            </a:r>
          </a:p>
        </p:txBody>
      </p:sp>
    </p:spTree>
    <p:extLst>
      <p:ext uri="{BB962C8B-B14F-4D97-AF65-F5344CB8AC3E}">
        <p14:creationId xmlns:p14="http://schemas.microsoft.com/office/powerpoint/2010/main" val="2899108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10"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0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POURQUOI C# ET .NET</a:t>
            </a:r>
          </a:p>
        </p:txBody>
      </p:sp>
      <p:cxnSp>
        <p:nvCxnSpPr>
          <p:cNvPr id="90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09" name="ZoneTexte"/>
          <p:cNvSpPr txBox="1"/>
          <p:nvPr/>
        </p:nvSpPr>
        <p:spPr>
          <a:xfrm>
            <a:off x="147535" y="1150000"/>
            <a:ext cx="11896927" cy="4295775"/>
          </a:xfrm>
          <a:prstGeom prst="rect">
            <a:avLst/>
          </a:prstGeom>
          <a:noFill/>
        </p:spPr>
        <p:txBody>
          <a:bodyPr wrap="square" lIns="0" tIns="0" rIns="127000" bIns="0" rtlCol="0" anchor="t"/>
          <a:lstStyle/>
          <a:p>
            <a:pPr marL="285750" indent="-285750">
              <a:buClr>
                <a:srgbClr val="FFA53C"/>
              </a:buClr>
              <a:buFont typeface="Arial" panose="020B0604020202020204" pitchFamily="34" charset="0"/>
              <a:buChar char="•"/>
            </a:pPr>
            <a:r>
              <a:rPr lang="fr-FR" sz="2200" dirty="0">
                <a:solidFill>
                  <a:srgbClr val="ECEEF3"/>
                </a:solidFill>
              </a:rPr>
              <a:t>.NET 10 est la version LTS sortie en novembre 2025, supportée trois ans. C’est celle que vous installez.</a:t>
            </a:r>
          </a:p>
          <a:p>
            <a:pPr marL="285750" indent="-285750">
              <a:buClr>
                <a:srgbClr val="FFA53C"/>
              </a:buClr>
              <a:buFont typeface="Arial" panose="020B0604020202020204" pitchFamily="34" charset="0"/>
              <a:buChar char="•"/>
            </a:pPr>
            <a:r>
              <a:rPr lang="fr-FR" sz="2200" dirty="0">
                <a:solidFill>
                  <a:srgbClr val="ECEEF3"/>
                </a:solidFill>
              </a:rPr>
              <a:t>Open source et multiplateforme depuis 2016 : Windows, macOS, Linux.</a:t>
            </a:r>
          </a:p>
          <a:p>
            <a:pPr marL="285750" indent="-285750">
              <a:buClr>
                <a:srgbClr val="FFA53C"/>
              </a:buClr>
              <a:buFont typeface="Arial" panose="020B0604020202020204" pitchFamily="34" charset="0"/>
              <a:buChar char="•"/>
            </a:pPr>
            <a:r>
              <a:rPr lang="fr-FR" sz="2200" dirty="0">
                <a:solidFill>
                  <a:srgbClr val="ECEEF3"/>
                </a:solidFill>
              </a:rPr>
              <a:t>Un seul langage pour le web, le desktop, le mobile (MAUI), le jeu (Unity, Godot), le cloud et le machine learning.</a:t>
            </a:r>
          </a:p>
          <a:p>
            <a:pPr marL="285750" indent="-285750">
              <a:buClr>
                <a:srgbClr val="FFA53C"/>
              </a:buClr>
              <a:buFont typeface="Arial" panose="020B0604020202020204" pitchFamily="34" charset="0"/>
              <a:buChar char="•"/>
            </a:pPr>
            <a:r>
              <a:rPr lang="fr-FR" sz="2200" dirty="0">
                <a:solidFill>
                  <a:srgbClr val="ECEEF3"/>
                </a:solidFill>
              </a:rPr>
              <a:t>ASP.NET Core permet de construire des API HTTP et des applications web en C#.</a:t>
            </a:r>
          </a:p>
          <a:p>
            <a:pPr marL="285750" indent="-285750">
              <a:buClr>
                <a:srgbClr val="FFA53C"/>
              </a:buClr>
              <a:buFont typeface="Arial" panose="020B0604020202020204" pitchFamily="34" charset="0"/>
              <a:buChar char="•"/>
            </a:pPr>
            <a:r>
              <a:rPr lang="fr-FR" sz="2200" dirty="0">
                <a:solidFill>
                  <a:srgbClr val="ECEEF3"/>
                </a:solidFill>
              </a:rPr>
              <a:t>Un écosystème unifié : un SDK, une CLI, un gestionnaire de paquets (NuGet), un runtime.</a:t>
            </a:r>
          </a:p>
          <a:p>
            <a:pPr>
              <a:spcBef>
                <a:spcPts val="600"/>
              </a:spcBef>
            </a:pPr>
            <a:r>
              <a:rPr lang="fr-FR" sz="2200" b="1" spc="60" dirty="0">
                <a:solidFill>
                  <a:srgbClr val="FFA53C"/>
                </a:solidFill>
              </a:rPr>
              <a:t>Concrètement, pour vous</a:t>
            </a:r>
          </a:p>
          <a:p>
            <a:r>
              <a:rPr lang="fr-FR" sz="2200" dirty="0">
                <a:solidFill>
                  <a:srgbClr val="ECEEF3"/>
                </a:solidFill>
              </a:rPr>
              <a:t>Vos connaissances de Java sont un point d’appui. Repérez les différences de langage, puis travaillez l’architecture, les tests et la qualité des échanges client–serveur.</a:t>
            </a:r>
          </a:p>
        </p:txBody>
      </p:sp>
      <p:cxnSp>
        <p:nvCxnSpPr>
          <p:cNvPr id="911" name="Accent titre"/>
          <p:cNvCxnSpPr/>
          <p:nvPr/>
        </p:nvCxnSpPr>
        <p:spPr>
          <a:xfrm>
            <a:off x="147535" y="894944"/>
            <a:ext cx="1100000" cy="0"/>
          </a:xfrm>
          <a:prstGeom prst="line">
            <a:avLst/>
          </a:prstGeom>
          <a:ln w="38100" cap="rnd">
            <a:solidFill>
              <a:srgbClr val="FFA53C"/>
            </a:solidFill>
          </a:ln>
        </p:spPr>
      </p:cxnSp>
      <p:sp>
        <p:nvSpPr>
          <p:cNvPr id="91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a:t>
            </a:r>
          </a:p>
        </p:txBody>
      </p:sp>
    </p:spTree>
    <p:extLst>
      <p:ext uri="{BB962C8B-B14F-4D97-AF65-F5344CB8AC3E}">
        <p14:creationId xmlns:p14="http://schemas.microsoft.com/office/powerpoint/2010/main" val="2899108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18"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13"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 VS JAVA</a:t>
            </a:r>
          </a:p>
        </p:txBody>
      </p:sp>
      <p:cxnSp>
        <p:nvCxnSpPr>
          <p:cNvPr id="914"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15" name="ZoneTexte"/>
          <p:cNvSpPr txBox="1"/>
          <p:nvPr/>
        </p:nvSpPr>
        <p:spPr>
          <a:xfrm>
            <a:off x="147535" y="1150000"/>
            <a:ext cx="11896927" cy="803274"/>
          </a:xfrm>
          <a:prstGeom prst="rect">
            <a:avLst/>
          </a:prstGeom>
          <a:noFill/>
        </p:spPr>
        <p:txBody>
          <a:bodyPr wrap="square" lIns="0" tIns="0" rIns="127000" bIns="0" rtlCol="0" anchor="t"/>
          <a:lstStyle/>
          <a:p>
            <a:r>
              <a:rPr lang="fr-FR" sz="2200" dirty="0">
                <a:solidFill>
                  <a:srgbClr val="ECEEF3"/>
                </a:solidFill>
              </a:rPr>
              <a:t>Syntaxe très proche, conventions différentes. Le piège est là.</a:t>
            </a:r>
          </a:p>
          <a:p>
            <a:pPr>
              <a:spcBef>
                <a:spcPts val="600"/>
              </a:spcBef>
            </a:pPr>
            <a:r>
              <a:rPr lang="fr-FR" sz="2200" b="1" spc="60" dirty="0">
                <a:solidFill>
                  <a:srgbClr val="FFA53C"/>
                </a:solidFill>
              </a:rPr>
              <a:t>Les propriétés remplacent les getters et setters</a:t>
            </a:r>
          </a:p>
        </p:txBody>
      </p:sp>
      <p:sp>
        <p:nvSpPr>
          <p:cNvPr id="916" name="Bloc de code"/>
          <p:cNvSpPr/>
          <p:nvPr/>
        </p:nvSpPr>
        <p:spPr>
          <a:xfrm>
            <a:off x="147535" y="2103275"/>
            <a:ext cx="11896927" cy="175575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568"/>
              </a:lnSpc>
              <a:spcBef>
                <a:spcPts val="0"/>
              </a:spcBef>
              <a:spcAft>
                <a:spcPts val="0"/>
              </a:spcAft>
            </a:pPr>
            <a:r>
              <a:rPr lang="fr-FR" sz="1400" i="0" dirty="0">
                <a:solidFill>
                  <a:srgbClr val="DCE5F0"/>
                </a:solidFill>
                <a:latin typeface="Consolas" pitchFamily="49" charset="0"/>
              </a:rPr>
              <a:t>// Java</a:t>
            </a:r>
          </a:p>
          <a:p>
            <a:pPr marL="0">
              <a:lnSpc>
                <a:spcPts val="1568"/>
              </a:lnSpc>
              <a:spcBef>
                <a:spcPts val="0"/>
              </a:spcBef>
              <a:spcAft>
                <a:spcPts val="0"/>
              </a:spcAft>
            </a:pPr>
            <a:r>
              <a:rPr lang="fr-FR" sz="1400" i="0" dirty="0">
                <a:solidFill>
                  <a:srgbClr val="DCE5F0"/>
                </a:solidFill>
                <a:latin typeface="Consolas" pitchFamily="49" charset="0"/>
              </a:rPr>
              <a:t>private String name;</a:t>
            </a:r>
          </a:p>
          <a:p>
            <a:pPr marL="0">
              <a:lnSpc>
                <a:spcPts val="1568"/>
              </a:lnSpc>
              <a:spcBef>
                <a:spcPts val="0"/>
              </a:spcBef>
              <a:spcAft>
                <a:spcPts val="0"/>
              </a:spcAft>
            </a:pPr>
            <a:r>
              <a:rPr lang="fr-FR" sz="1400" i="0" dirty="0">
                <a:solidFill>
                  <a:srgbClr val="DCE5F0"/>
                </a:solidFill>
                <a:latin typeface="Consolas" pitchFamily="49" charset="0"/>
              </a:rPr>
              <a:t>public String getName()        { return name; }</a:t>
            </a:r>
          </a:p>
          <a:p>
            <a:pPr marL="0">
              <a:lnSpc>
                <a:spcPts val="1568"/>
              </a:lnSpc>
              <a:spcBef>
                <a:spcPts val="0"/>
              </a:spcBef>
              <a:spcAft>
                <a:spcPts val="0"/>
              </a:spcAft>
            </a:pPr>
            <a:r>
              <a:rPr lang="fr-FR" sz="1400" i="0" dirty="0">
                <a:solidFill>
                  <a:srgbClr val="DCE5F0"/>
                </a:solidFill>
                <a:latin typeface="Consolas" pitchFamily="49" charset="0"/>
              </a:rPr>
              <a:t>public void   setName(String v) { name = v; }</a:t>
            </a:r>
          </a:p>
          <a:p>
            <a:pPr>
              <a:lnSpc>
                <a:spcPts val="1568"/>
              </a:lnSpc>
              <a:spcBef>
                <a:spcPts val="0"/>
              </a:spcBef>
              <a:spcAft>
                <a:spcPts val="0"/>
              </a:spcAft>
            </a:pPr>
            <a:endParaRPr lang="fr-FR" sz="1400" dirty="0">
              <a:solidFill>
                <a:srgbClr val="D6DEEC"/>
              </a:solidFill>
            </a:endParaRPr>
          </a:p>
          <a:p>
            <a:pPr marL="0">
              <a:lnSpc>
                <a:spcPts val="1568"/>
              </a:lnSpc>
              <a:spcBef>
                <a:spcPts val="0"/>
              </a:spcBef>
              <a:spcAft>
                <a:spcPts val="0"/>
              </a:spcAft>
            </a:pPr>
            <a:r>
              <a:rPr lang="fr-FR" sz="1400" i="0" dirty="0">
                <a:solidFill>
                  <a:srgbClr val="DCE5F0"/>
                </a:solidFill>
                <a:latin typeface="Consolas" pitchFamily="49" charset="0"/>
              </a:rPr>
              <a:t>// C#</a:t>
            </a:r>
          </a:p>
          <a:p>
            <a:pPr marL="0">
              <a:lnSpc>
                <a:spcPts val="1568"/>
              </a:lnSpc>
              <a:spcBef>
                <a:spcPts val="0"/>
              </a:spcBef>
              <a:spcAft>
                <a:spcPts val="0"/>
              </a:spcAft>
            </a:pPr>
            <a:r>
              <a:rPr lang="fr-FR" sz="1400" i="0" dirty="0">
                <a:solidFill>
                  <a:srgbClr val="DCE5F0"/>
                </a:solidFill>
                <a:latin typeface="Consolas" pitchFamily="49" charset="0"/>
              </a:rPr>
              <a:t>public string Name { get; set; }</a:t>
            </a:r>
          </a:p>
        </p:txBody>
      </p:sp>
      <p:sp>
        <p:nvSpPr>
          <p:cNvPr id="917" name="ZoneTexte"/>
          <p:cNvSpPr txBox="1"/>
          <p:nvPr/>
        </p:nvSpPr>
        <p:spPr>
          <a:xfrm>
            <a:off x="147535" y="4009025"/>
            <a:ext cx="11896927" cy="2549525"/>
          </a:xfrm>
          <a:prstGeom prst="rect">
            <a:avLst/>
          </a:prstGeom>
          <a:noFill/>
        </p:spPr>
        <p:txBody>
          <a:bodyPr wrap="square" lIns="0" tIns="0" rIns="127000" bIns="0" rtlCol="0" anchor="t"/>
          <a:lstStyle/>
          <a:p>
            <a:pPr>
              <a:spcBef>
                <a:spcPts val="600"/>
              </a:spcBef>
            </a:pPr>
            <a:r>
              <a:rPr lang="fr-FR" sz="2200" b="1" spc="60" dirty="0">
                <a:solidFill>
                  <a:srgbClr val="FFA53C"/>
                </a:solidFill>
              </a:rPr>
              <a:t>Les autres écarts qui comptent</a:t>
            </a:r>
          </a:p>
          <a:p>
            <a:pPr marL="285750" indent="-285750">
              <a:buClr>
                <a:srgbClr val="FFA53C"/>
              </a:buClr>
              <a:buFont typeface="Arial" panose="020B0604020202020204" pitchFamily="34" charset="0"/>
              <a:buChar char="•"/>
            </a:pPr>
            <a:r>
              <a:rPr lang="fr-FR" sz="2200" dirty="0">
                <a:solidFill>
                  <a:srgbClr val="ECEEF3"/>
                </a:solidFill>
              </a:rPr>
              <a:t>PascalCase pour les méthodes et les propriétés publiques ; camelCase pour les paramètres et les variables locales</a:t>
            </a:r>
          </a:p>
          <a:p>
            <a:pPr marL="285750" indent="-285750">
              <a:buClr>
                <a:srgbClr val="FFA53C"/>
              </a:buClr>
              <a:buFont typeface="Arial" panose="020B0604020202020204" pitchFamily="34" charset="0"/>
              <a:buChar char="•"/>
            </a:pPr>
            <a:r>
              <a:rPr lang="fr-FR" sz="2200" dirty="0">
                <a:solidFill>
                  <a:srgbClr val="ECEEF3"/>
                </a:solidFill>
              </a:rPr>
              <a:t>Lambdas avec =&gt; et non -&gt; ; asynchrone avec async / await et Task&lt;T&gt; plutôt que CompletableFuture</a:t>
            </a:r>
          </a:p>
          <a:p>
            <a:pPr marL="285750" indent="-285750">
              <a:buClr>
                <a:srgbClr val="FFA53C"/>
              </a:buClr>
              <a:buFont typeface="Arial" panose="020B0604020202020204" pitchFamily="34" charset="0"/>
              <a:buChar char="•"/>
            </a:pPr>
            <a:r>
              <a:rPr lang="fr-FR" sz="2200" dirty="0">
                <a:solidFill>
                  <a:srgbClr val="ECEEF3"/>
                </a:solidFill>
              </a:rPr>
              <a:t>var pour l’inférence de type : le typage reste statique et fort</a:t>
            </a:r>
          </a:p>
          <a:p>
            <a:pPr marL="285750" indent="-285750">
              <a:buClr>
                <a:srgbClr val="FFA53C"/>
              </a:buClr>
              <a:buFont typeface="Arial" panose="020B0604020202020204" pitchFamily="34" charset="0"/>
              <a:buChar char="•"/>
            </a:pPr>
            <a:r>
              <a:rPr lang="fr-FR" sz="2200" dirty="0">
                <a:solidFill>
                  <a:srgbClr val="ECEEF3"/>
                </a:solidFill>
              </a:rPr>
              <a:t>Héritage et interfaces partagent le même symbole : public class A : B, IC</a:t>
            </a:r>
          </a:p>
        </p:txBody>
      </p:sp>
      <p:cxnSp>
        <p:nvCxnSpPr>
          <p:cNvPr id="919" name="Accent titre"/>
          <p:cNvCxnSpPr/>
          <p:nvPr/>
        </p:nvCxnSpPr>
        <p:spPr>
          <a:xfrm>
            <a:off x="147535" y="894944"/>
            <a:ext cx="1100000" cy="0"/>
          </a:xfrm>
          <a:prstGeom prst="line">
            <a:avLst/>
          </a:prstGeom>
          <a:ln w="38100" cap="rnd">
            <a:solidFill>
              <a:srgbClr val="FFA53C"/>
            </a:solidFill>
          </a:ln>
        </p:spPr>
      </p:cxnSp>
      <p:sp>
        <p:nvSpPr>
          <p:cNvPr id="92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a:t>
            </a:r>
          </a:p>
        </p:txBody>
      </p:sp>
    </p:spTree>
    <p:extLst>
      <p:ext uri="{BB962C8B-B14F-4D97-AF65-F5344CB8AC3E}">
        <p14:creationId xmlns:p14="http://schemas.microsoft.com/office/powerpoint/2010/main" val="2899108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2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2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LA MISSION : BATAILLE NAVALE</a:t>
            </a:r>
          </a:p>
        </p:txBody>
      </p:sp>
      <p:cxnSp>
        <p:nvCxnSpPr>
          <p:cNvPr id="92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23" name="ZoneTexte"/>
          <p:cNvSpPr txBox="1"/>
          <p:nvPr/>
        </p:nvSpPr>
        <p:spPr>
          <a:xfrm>
            <a:off x="147535" y="1150000"/>
            <a:ext cx="11896927" cy="3806825"/>
          </a:xfrm>
          <a:prstGeom prst="rect">
            <a:avLst/>
          </a:prstGeom>
          <a:noFill/>
        </p:spPr>
        <p:txBody>
          <a:bodyPr wrap="square" lIns="0" tIns="0" rIns="127000" bIns="0" rtlCol="0" anchor="t"/>
          <a:lstStyle/>
          <a:p>
            <a:pPr>
              <a:spcBef>
                <a:spcPts val="600"/>
              </a:spcBef>
            </a:pPr>
            <a:r>
              <a:rPr lang="fr-FR" sz="2200" b="1" spc="60" dirty="0">
                <a:solidFill>
                  <a:srgbClr val="FFA53C"/>
                </a:solidFill>
              </a:rPr>
              <a:t>Ce que vous allez construire</a:t>
            </a:r>
          </a:p>
          <a:p>
            <a:pPr marL="285750" indent="-285750">
              <a:buClr>
                <a:srgbClr val="FFA53C"/>
              </a:buClr>
              <a:buFont typeface="Arial" panose="020B0604020202020204" pitchFamily="34" charset="0"/>
              <a:buChar char="•"/>
            </a:pPr>
            <a:r>
              <a:rPr lang="fr-FR" sz="2200" dirty="0">
                <a:solidFill>
                  <a:srgbClr val="ECEEF3"/>
                </a:solidFill>
              </a:rPr>
              <a:t>Une bataille navale jouable, en binôme, du navigateur jusqu’au serveur.</a:t>
            </a:r>
          </a:p>
          <a:p>
            <a:pPr marL="285750" indent="-285750">
              <a:buClr>
                <a:srgbClr val="FFA53C"/>
              </a:buClr>
              <a:buFont typeface="Arial" panose="020B0604020202020204" pitchFamily="34" charset="0"/>
              <a:buChar char="•"/>
            </a:pPr>
            <a:r>
              <a:rPr lang="fr-FR" sz="2200" dirty="0">
                <a:solidFill>
                  <a:srgbClr val="ECEEF3"/>
                </a:solidFill>
              </a:rPr>
              <a:t>Quatre projets : une API ASP.NET Core, un front Blazor WebAssembly, une bibliothèque de modèles et un projet de tests.</a:t>
            </a:r>
          </a:p>
          <a:p>
            <a:pPr marL="285750" indent="-285750">
              <a:buClr>
                <a:srgbClr val="FFA53C"/>
              </a:buClr>
              <a:buFont typeface="Arial" panose="020B0604020202020204" pitchFamily="34" charset="0"/>
              <a:buChar char="•"/>
            </a:pPr>
            <a:r>
              <a:rPr lang="fr-FR" sz="2200" dirty="0">
                <a:solidFill>
                  <a:srgbClr val="ECEEF3"/>
                </a:solidFill>
              </a:rPr>
              <a:t>Le socle permet de jouer contre l’ordinateur. Vous définissez les fonctionnalités qui enrichissent votre projet.</a:t>
            </a:r>
          </a:p>
          <a:p>
            <a:pPr>
              <a:spcBef>
                <a:spcPts val="600"/>
              </a:spcBef>
            </a:pPr>
            <a:r>
              <a:rPr lang="fr-FR" sz="2200" b="1" spc="60" dirty="0">
                <a:solidFill>
                  <a:srgbClr val="FFA53C"/>
                </a:solidFill>
              </a:rPr>
              <a:t>Ce qui n’est pas demandé</a:t>
            </a:r>
          </a:p>
          <a:p>
            <a:r>
              <a:rPr lang="fr-FR" sz="2200" dirty="0">
                <a:solidFill>
                  <a:srgbClr val="ECEEF3"/>
                </a:solidFill>
              </a:rPr>
              <a:t>Une reproduction fidèle du jeu de plateau. Les règles, la taille de la grille, la composition de la flotte : ce sont vos décisions, tant que vous savez les justifier.</a:t>
            </a:r>
          </a:p>
          <a:p>
            <a:pPr>
              <a:spcBef>
                <a:spcPts val="600"/>
              </a:spcBef>
            </a:pPr>
            <a:r>
              <a:rPr lang="fr-FR" sz="2200" b="1" spc="60" dirty="0">
                <a:solidFill>
                  <a:srgbClr val="FFA53C"/>
                </a:solidFill>
              </a:rPr>
              <a:t>Démonstration</a:t>
            </a:r>
          </a:p>
          <a:p>
            <a:r>
              <a:rPr lang="fr-FR" sz="1900" dirty="0">
                <a:solidFill>
                  <a:srgbClr val="7A808F"/>
                </a:solidFill>
              </a:rPr>
              <a:t>Une partie complète, de la création à la victoire.</a:t>
            </a:r>
          </a:p>
        </p:txBody>
      </p:sp>
      <p:cxnSp>
        <p:nvCxnSpPr>
          <p:cNvPr id="925" name="Accent titre"/>
          <p:cNvCxnSpPr/>
          <p:nvPr/>
        </p:nvCxnSpPr>
        <p:spPr>
          <a:xfrm>
            <a:off x="147535" y="894944"/>
            <a:ext cx="1100000" cy="0"/>
          </a:xfrm>
          <a:prstGeom prst="line">
            <a:avLst/>
          </a:prstGeom>
          <a:ln w="38100" cap="rnd">
            <a:solidFill>
              <a:srgbClr val="FFA53C"/>
            </a:solidFill>
          </a:ln>
        </p:spPr>
      </p:cxnSp>
      <p:sp>
        <p:nvSpPr>
          <p:cNvPr id="92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a:t>
            </a:r>
          </a:p>
        </p:txBody>
      </p:sp>
    </p:spTree>
    <p:extLst>
      <p:ext uri="{BB962C8B-B14F-4D97-AF65-F5344CB8AC3E}">
        <p14:creationId xmlns:p14="http://schemas.microsoft.com/office/powerpoint/2010/main" val="2899108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31"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2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CE QUI EST IMPOSÉ, CE QUI EST LIBRE</a:t>
            </a:r>
          </a:p>
        </p:txBody>
      </p:sp>
      <p:cxnSp>
        <p:nvCxnSpPr>
          <p:cNvPr id="92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29" name="ZoneTexte"/>
          <p:cNvSpPr txBox="1"/>
          <p:nvPr/>
        </p:nvSpPr>
        <p:spPr>
          <a:xfrm>
            <a:off x="147535" y="1150000"/>
            <a:ext cx="5750000" cy="5168900"/>
          </a:xfrm>
          <a:prstGeom prst="rect">
            <a:avLst/>
          </a:prstGeom>
          <a:noFill/>
        </p:spPr>
        <p:txBody>
          <a:bodyPr wrap="square" lIns="0" tIns="54864" rIns="127000" bIns="54864" rtlCol="0" anchor="t"/>
          <a:lstStyle/>
          <a:p>
            <a:pPr>
              <a:lnSpc>
                <a:spcPts val="2240"/>
              </a:lnSpc>
              <a:spcBef>
                <a:spcPts val="0"/>
              </a:spcBef>
              <a:spcAft>
                <a:spcPts val="500"/>
              </a:spcAft>
              <a:buNone/>
            </a:pPr>
            <a:r>
              <a:rPr lang="fr-FR" sz="2000" b="1" spc="60" dirty="0">
                <a:solidFill>
                  <a:srgbClr val="FFAD46"/>
                </a:solidFill>
                <a:latin typeface="Aptos"/>
              </a:rPr>
              <a:t>CONTRAINTES DU SOCLE</a:t>
            </a:r>
          </a:p>
          <a:p>
            <a:pPr>
              <a:lnSpc>
                <a:spcPct val="112000"/>
              </a:lnSpc>
              <a:spcBef>
                <a:spcPts val="0"/>
              </a:spcBef>
              <a:spcAft>
                <a:spcPts val="800"/>
              </a:spcAft>
              <a:buNone/>
            </a:pPr>
            <a:endParaRPr lang="fr-FR" sz="2000" b="1" spc="60" dirty="0">
              <a:solidFill>
                <a:srgbClr val="FFAD46"/>
              </a:solidFill>
              <a:latin typeface="Aptos"/>
            </a:endParaRPr>
          </a:p>
          <a:p>
            <a:pPr>
              <a:lnSpc>
                <a:spcPts val="2240"/>
              </a:lnSpc>
              <a:spcBef>
                <a:spcPts val="0"/>
              </a:spcBef>
              <a:spcAft>
                <a:spcPts val="500"/>
              </a:spcAft>
              <a:buNone/>
            </a:pPr>
            <a:r>
              <a:rPr lang="fr-FR" sz="2000" b="0" spc="60" dirty="0">
                <a:solidFill>
                  <a:srgbClr val="E5E7EB"/>
                </a:solidFill>
                <a:latin typeface="Aptos"/>
              </a:rPr>
              <a:t>API ASP.NET Core en Minimal API (.NET 10)</a:t>
            </a:r>
          </a:p>
          <a:p>
            <a:pPr>
              <a:lnSpc>
                <a:spcPts val="2240"/>
              </a:lnSpc>
              <a:spcBef>
                <a:spcPts val="0"/>
              </a:spcBef>
              <a:spcAft>
                <a:spcPts val="500"/>
              </a:spcAft>
              <a:buNone/>
            </a:pPr>
            <a:r>
              <a:rPr lang="fr-FR" sz="2000" b="0" spc="60" dirty="0">
                <a:solidFill>
                  <a:srgbClr val="E5E7EB"/>
                </a:solidFill>
                <a:latin typeface="Aptos"/>
              </a:rPr>
              <a:t>Front Blazor WebAssembly</a:t>
            </a:r>
          </a:p>
          <a:p>
            <a:pPr>
              <a:lnSpc>
                <a:spcPts val="2240"/>
              </a:lnSpc>
              <a:spcBef>
                <a:spcPts val="0"/>
              </a:spcBef>
              <a:spcAft>
                <a:spcPts val="500"/>
              </a:spcAft>
              <a:buNone/>
            </a:pPr>
            <a:r>
              <a:rPr lang="fr-FR" sz="2000" b="0" spc="60" dirty="0">
                <a:solidFill>
                  <a:srgbClr val="E5E7EB"/>
                </a:solidFill>
                <a:latin typeface="Aptos"/>
              </a:rPr>
              <a:t>Bibliothèque de modèles partagée</a:t>
            </a:r>
          </a:p>
          <a:p>
            <a:pPr>
              <a:lnSpc>
                <a:spcPts val="2240"/>
              </a:lnSpc>
              <a:spcBef>
                <a:spcPts val="0"/>
              </a:spcBef>
              <a:spcAft>
                <a:spcPts val="500"/>
              </a:spcAft>
              <a:buNone/>
            </a:pPr>
            <a:r>
              <a:rPr lang="fr-FR" sz="2000" b="0" spc="60" dirty="0">
                <a:solidFill>
                  <a:srgbClr val="E5E7EB"/>
                </a:solidFill>
                <a:latin typeface="Aptos"/>
              </a:rPr>
              <a:t>Partie complète contre l’ordinateur</a:t>
            </a:r>
          </a:p>
          <a:p>
            <a:pPr>
              <a:lnSpc>
                <a:spcPts val="2240"/>
              </a:lnSpc>
              <a:spcBef>
                <a:spcPts val="0"/>
              </a:spcBef>
              <a:spcAft>
                <a:spcPts val="500"/>
              </a:spcAft>
              <a:buNone/>
            </a:pPr>
            <a:r>
              <a:rPr lang="fr-FR" sz="2000" b="0" spc="60" dirty="0">
                <a:solidFill>
                  <a:srgbClr val="E5E7EB"/>
                </a:solidFill>
                <a:latin typeface="Aptos"/>
              </a:rPr>
              <a:t>FluentValidation sur les entrées serveur</a:t>
            </a:r>
          </a:p>
          <a:p>
            <a:pPr>
              <a:lnSpc>
                <a:spcPts val="2240"/>
              </a:lnSpc>
              <a:spcBef>
                <a:spcPts val="0"/>
              </a:spcBef>
              <a:spcAft>
                <a:spcPts val="500"/>
              </a:spcAft>
              <a:buNone/>
            </a:pPr>
            <a:r>
              <a:rPr lang="fr-FR" sz="2000" b="0" spc="60" dirty="0">
                <a:solidFill>
                  <a:srgbClr val="E5E7EB"/>
                </a:solidFill>
                <a:latin typeface="Aptos"/>
              </a:rPr>
              <a:t>gRPC fonctionnel sur au moins un échange</a:t>
            </a:r>
          </a:p>
          <a:p>
            <a:pPr>
              <a:lnSpc>
                <a:spcPts val="2240"/>
              </a:lnSpc>
              <a:spcBef>
                <a:spcPts val="0"/>
              </a:spcBef>
              <a:spcAft>
                <a:spcPts val="500"/>
              </a:spcAft>
              <a:buNone/>
            </a:pPr>
            <a:r>
              <a:rPr lang="fr-FR" sz="2000" b="0" spc="60" dirty="0">
                <a:solidFill>
                  <a:srgbClr val="E5E7EB"/>
                </a:solidFill>
                <a:latin typeface="Aptos"/>
              </a:rPr>
              <a:t>Tests métier et tests d’intégration</a:t>
            </a:r>
          </a:p>
          <a:p>
            <a:pPr>
              <a:lnSpc>
                <a:spcPts val="2240"/>
              </a:lnSpc>
              <a:spcBef>
                <a:spcPts val="0"/>
              </a:spcBef>
              <a:spcAft>
                <a:spcPts val="500"/>
              </a:spcAft>
              <a:buNone/>
            </a:pPr>
            <a:r>
              <a:rPr lang="fr-FR" sz="2000" b="0" spc="60" dirty="0">
                <a:solidFill>
                  <a:srgbClr val="E5E7EB"/>
                </a:solidFill>
                <a:latin typeface="Aptos"/>
              </a:rPr>
              <a:t>Livrables IA et historique Git exploitable</a:t>
            </a:r>
          </a:p>
        </p:txBody>
      </p:sp>
      <p:sp>
        <p:nvSpPr>
          <p:cNvPr id="930" name="ZoneTexte"/>
          <p:cNvSpPr txBox="1"/>
          <p:nvPr/>
        </p:nvSpPr>
        <p:spPr>
          <a:xfrm>
            <a:off x="6294462" y="1150000"/>
            <a:ext cx="5750000" cy="4819650"/>
          </a:xfrm>
          <a:prstGeom prst="rect">
            <a:avLst/>
          </a:prstGeom>
          <a:noFill/>
        </p:spPr>
        <p:txBody>
          <a:bodyPr wrap="square" lIns="0" tIns="54864" rIns="127000" bIns="54864" rtlCol="0" anchor="t"/>
          <a:lstStyle/>
          <a:p>
            <a:pPr>
              <a:lnSpc>
                <a:spcPts val="2240"/>
              </a:lnSpc>
              <a:spcBef>
                <a:spcPts val="0"/>
              </a:spcBef>
              <a:spcAft>
                <a:spcPts val="500"/>
              </a:spcAft>
              <a:buNone/>
            </a:pPr>
            <a:r>
              <a:rPr lang="fr-FR" sz="2000" b="1" spc="60" dirty="0">
                <a:solidFill>
                  <a:srgbClr val="FFAD46"/>
                </a:solidFill>
                <a:latin typeface="Aptos"/>
              </a:rPr>
              <a:t>VOS CHOIX, VOTRE RESPONSABILITÉ</a:t>
            </a:r>
          </a:p>
          <a:p>
            <a:pPr>
              <a:lnSpc>
                <a:spcPct val="112000"/>
              </a:lnSpc>
              <a:spcBef>
                <a:spcPts val="0"/>
              </a:spcBef>
              <a:spcAft>
                <a:spcPts val="800"/>
              </a:spcAft>
              <a:buNone/>
            </a:pPr>
            <a:endParaRPr lang="fr-FR" sz="2000" b="1" spc="60" dirty="0">
              <a:solidFill>
                <a:srgbClr val="FFAD46"/>
              </a:solidFill>
              <a:latin typeface="Aptos"/>
            </a:endParaRPr>
          </a:p>
          <a:p>
            <a:pPr>
              <a:lnSpc>
                <a:spcPts val="2240"/>
              </a:lnSpc>
              <a:spcBef>
                <a:spcPts val="0"/>
              </a:spcBef>
              <a:spcAft>
                <a:spcPts val="500"/>
              </a:spcAft>
              <a:buNone/>
            </a:pPr>
            <a:r>
              <a:rPr lang="fr-FR" sz="2000" b="0" spc="60" dirty="0">
                <a:solidFill>
                  <a:srgbClr val="E5E7EB"/>
                </a:solidFill>
                <a:latin typeface="Aptos"/>
              </a:rPr>
              <a:t>Règles, grille et composition de la flotte</a:t>
            </a:r>
          </a:p>
          <a:p>
            <a:pPr>
              <a:lnSpc>
                <a:spcPts val="2240"/>
              </a:lnSpc>
              <a:spcBef>
                <a:spcPts val="0"/>
              </a:spcBef>
              <a:spcAft>
                <a:spcPts val="500"/>
              </a:spcAft>
              <a:buNone/>
            </a:pPr>
            <a:r>
              <a:rPr lang="fr-FR" sz="2000" b="0" spc="60" dirty="0">
                <a:solidFill>
                  <a:srgbClr val="E5E7EB"/>
                </a:solidFill>
                <a:latin typeface="Aptos"/>
              </a:rPr>
              <a:t>Représentations et organisation du code</a:t>
            </a:r>
          </a:p>
          <a:p>
            <a:pPr>
              <a:lnSpc>
                <a:spcPts val="2240"/>
              </a:lnSpc>
              <a:spcBef>
                <a:spcPts val="0"/>
              </a:spcBef>
              <a:spcAft>
                <a:spcPts val="500"/>
              </a:spcAft>
              <a:buNone/>
            </a:pPr>
            <a:r>
              <a:rPr lang="fr-FR" sz="2000" b="0" spc="60" dirty="0">
                <a:solidFill>
                  <a:srgbClr val="E5E7EB"/>
                </a:solidFill>
                <a:latin typeface="Aptos"/>
              </a:rPr>
              <a:t>Stockage et algorithme de l’adversaire</a:t>
            </a:r>
          </a:p>
          <a:p>
            <a:pPr>
              <a:lnSpc>
                <a:spcPts val="2240"/>
              </a:lnSpc>
              <a:spcBef>
                <a:spcPts val="0"/>
              </a:spcBef>
              <a:spcAft>
                <a:spcPts val="500"/>
              </a:spcAft>
              <a:buNone/>
            </a:pPr>
            <a:r>
              <a:rPr lang="fr-FR" sz="2000" b="0" spc="60" dirty="0">
                <a:solidFill>
                  <a:srgbClr val="E5E7EB"/>
                </a:solidFill>
                <a:latin typeface="Aptos"/>
              </a:rPr>
              <a:t>Interface et expérience de jeu</a:t>
            </a:r>
          </a:p>
          <a:p>
            <a:pPr>
              <a:lnSpc>
                <a:spcPts val="2240"/>
              </a:lnSpc>
              <a:spcBef>
                <a:spcPts val="0"/>
              </a:spcBef>
              <a:spcAft>
                <a:spcPts val="500"/>
              </a:spcAft>
              <a:buNone/>
            </a:pPr>
            <a:r>
              <a:rPr lang="fr-FR" sz="2000" b="0" spc="60" dirty="0">
                <a:solidFill>
                  <a:srgbClr val="E5E7EB"/>
                </a:solidFill>
                <a:latin typeface="Aptos"/>
              </a:rPr>
              <a:t>Extensions et priorités du backlog</a:t>
            </a:r>
          </a:p>
          <a:p>
            <a:pPr>
              <a:lnSpc>
                <a:spcPct val="112000"/>
              </a:lnSpc>
              <a:spcBef>
                <a:spcPts val="0"/>
              </a:spcBef>
              <a:spcAft>
                <a:spcPts val="800"/>
              </a:spcAft>
              <a:buNone/>
            </a:pPr>
            <a:endParaRPr lang="fr-FR" sz="2000" b="0" spc="60" dirty="0">
              <a:solidFill>
                <a:srgbClr val="E5E7EB"/>
              </a:solidFill>
              <a:latin typeface="Aptos"/>
            </a:endParaRPr>
          </a:p>
          <a:p>
            <a:pPr>
              <a:lnSpc>
                <a:spcPts val="2240"/>
              </a:lnSpc>
              <a:spcBef>
                <a:spcPts val="0"/>
              </a:spcBef>
              <a:spcAft>
                <a:spcPts val="500"/>
              </a:spcAft>
              <a:buNone/>
            </a:pPr>
            <a:r>
              <a:rPr lang="fr-FR" sz="2000" b="0" spc="60" dirty="0">
                <a:solidFill>
                  <a:srgbClr val="E5E7EB"/>
                </a:solidFill>
                <a:latin typeface="Aptos"/>
              </a:rPr>
              <a:t>Vous êtes attendus au-delà du socle.</a:t>
            </a:r>
          </a:p>
          <a:p>
            <a:pPr>
              <a:lnSpc>
                <a:spcPts val="2240"/>
              </a:lnSpc>
              <a:spcBef>
                <a:spcPts val="0"/>
              </a:spcBef>
              <a:spcAft>
                <a:spcPts val="500"/>
              </a:spcAft>
              <a:buNone/>
            </a:pPr>
            <a:r>
              <a:rPr lang="fr-FR" sz="2000" b="0" spc="60" dirty="0">
                <a:solidFill>
                  <a:srgbClr val="E5E7EB"/>
                </a:solidFill>
                <a:latin typeface="Aptos"/>
              </a:rPr>
              <a:t>L’ambition, la pertinence et la qualité du</a:t>
            </a:r>
          </a:p>
          <a:p>
            <a:pPr>
              <a:lnSpc>
                <a:spcPts val="2240"/>
              </a:lnSpc>
              <a:spcBef>
                <a:spcPts val="0"/>
              </a:spcBef>
              <a:spcAft>
                <a:spcPts val="500"/>
              </a:spcAft>
              <a:buNone/>
            </a:pPr>
            <a:r>
              <a:rPr lang="fr-FR" sz="2000" b="0" spc="60" dirty="0">
                <a:solidFill>
                  <a:srgbClr val="E5E7EB"/>
                </a:solidFill>
                <a:latin typeface="Aptos"/>
              </a:rPr>
              <a:t>périmètre livré sont évaluées, diapo 61.</a:t>
            </a:r>
          </a:p>
        </p:txBody>
      </p:sp>
      <p:cxnSp>
        <p:nvCxnSpPr>
          <p:cNvPr id="932" name="Accent titre"/>
          <p:cNvCxnSpPr/>
          <p:nvPr/>
        </p:nvCxnSpPr>
        <p:spPr>
          <a:xfrm>
            <a:off x="147535" y="894944"/>
            <a:ext cx="1100000" cy="0"/>
          </a:xfrm>
          <a:prstGeom prst="line">
            <a:avLst/>
          </a:prstGeom>
          <a:ln w="38100" cap="rnd">
            <a:solidFill>
              <a:srgbClr val="FFA53C"/>
            </a:solidFill>
          </a:ln>
        </p:spPr>
      </p:cxnSp>
      <p:sp>
        <p:nvSpPr>
          <p:cNvPr id="933"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6</a:t>
            </a:r>
          </a:p>
        </p:txBody>
      </p:sp>
    </p:spTree>
    <p:extLst>
      <p:ext uri="{BB962C8B-B14F-4D97-AF65-F5344CB8AC3E}">
        <p14:creationId xmlns:p14="http://schemas.microsoft.com/office/powerpoint/2010/main" val="2899108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37"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34"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L’IA EST OBLIGATOIRE ICI</a:t>
            </a:r>
          </a:p>
        </p:txBody>
      </p:sp>
      <p:cxnSp>
        <p:nvCxnSpPr>
          <p:cNvPr id="935"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36" name="ZoneTexte"/>
          <p:cNvSpPr txBox="1"/>
          <p:nvPr/>
        </p:nvSpPr>
        <p:spPr>
          <a:xfrm>
            <a:off x="147535" y="1150000"/>
            <a:ext cx="11896927" cy="4156075"/>
          </a:xfrm>
          <a:prstGeom prst="rect">
            <a:avLst/>
          </a:prstGeom>
          <a:noFill/>
        </p:spPr>
        <p:txBody>
          <a:bodyPr wrap="square" lIns="0" tIns="0" rIns="127000" bIns="0" rtlCol="0" anchor="t"/>
          <a:lstStyle/>
          <a:p>
            <a:r>
              <a:rPr lang="fr-FR" sz="2200" dirty="0">
                <a:solidFill>
                  <a:srgbClr val="ECEEF3"/>
                </a:solidFill>
              </a:rPr>
              <a:t>Dans ce cours, l’IA fait partie de l’environnement de travail.</a:t>
            </a:r>
          </a:p>
          <a:p>
            <a:r>
              <a:rPr lang="fr-FR" sz="2200" dirty="0">
                <a:solidFill>
                  <a:srgbClr val="ECEEF3"/>
                </a:solidFill>
              </a:rPr>
              <a:t>Copilot, ChatGPT, Claude, Rider AI, Cursor : choisissez un outil accessible aux deux membres du binôme. Aucun abonnement payant n’est exigé.</a:t>
            </a:r>
          </a:p>
          <a:p>
            <a:pPr>
              <a:spcBef>
                <a:spcPts val="600"/>
              </a:spcBef>
            </a:pPr>
            <a:r>
              <a:rPr lang="fr-FR" sz="2200" b="1" spc="60" dirty="0">
                <a:solidFill>
                  <a:srgbClr val="FFA53C"/>
                </a:solidFill>
              </a:rPr>
              <a:t>Testez l’accès avant le démarrage. Si un quota est atteint, changez d’outil ou avancez sur une tâche indépendante.</a:t>
            </a:r>
          </a:p>
          <a:p>
            <a:pPr>
              <a:spcBef>
                <a:spcPts val="600"/>
              </a:spcBef>
            </a:pPr>
            <a:r>
              <a:rPr lang="fr-FR" sz="2200" b="1" spc="60" dirty="0">
                <a:solidFill>
                  <a:srgbClr val="FFA53C"/>
                </a:solidFill>
              </a:rPr>
              <a:t>Ce qui est évalué : votre capacité à cadrer, vérifier et décider.</a:t>
            </a:r>
          </a:p>
          <a:p>
            <a:pPr marL="285750" indent="-285750">
              <a:buClr>
                <a:srgbClr val="FFA53C"/>
              </a:buClr>
              <a:buFont typeface="Arial" panose="020B0604020202020204" pitchFamily="34" charset="0"/>
              <a:buChar char="•"/>
            </a:pPr>
            <a:r>
              <a:rPr lang="fr-FR" sz="2200" dirty="0">
                <a:solidFill>
                  <a:srgbClr val="ECEEF3"/>
                </a:solidFill>
              </a:rPr>
              <a:t>Vous pouvez utiliser l’IA pour comprendre, concevoir, coder, tester et relire.</a:t>
            </a:r>
          </a:p>
          <a:p>
            <a:pPr marL="285750" indent="-285750">
              <a:buClr>
                <a:srgbClr val="FFA53C"/>
              </a:buClr>
              <a:buFont typeface="Arial" panose="020B0604020202020204" pitchFamily="34" charset="0"/>
              <a:buChar char="•"/>
            </a:pPr>
            <a:r>
              <a:rPr lang="fr-FR" sz="2200" dirty="0">
                <a:solidFill>
                  <a:srgbClr val="ECEEF3"/>
                </a:solidFill>
              </a:rPr>
              <a:t>Utilisez des exemples de données ; ne transmettez ni secrets ni données personnelles dans les prompts.</a:t>
            </a:r>
          </a:p>
          <a:p>
            <a:pPr>
              <a:spcBef>
                <a:spcPts val="600"/>
              </a:spcBef>
            </a:pPr>
            <a:r>
              <a:rPr lang="fr-FR" sz="2200" b="1" spc="60" dirty="0">
                <a:solidFill>
                  <a:srgbClr val="FFA53C"/>
                </a:solidFill>
              </a:rPr>
              <a:t>Vous devez expliquer le fonctionnement, les limites et les vérifications du code livré.</a:t>
            </a:r>
          </a:p>
        </p:txBody>
      </p:sp>
      <p:cxnSp>
        <p:nvCxnSpPr>
          <p:cNvPr id="938" name="Accent titre"/>
          <p:cNvCxnSpPr/>
          <p:nvPr/>
        </p:nvCxnSpPr>
        <p:spPr>
          <a:xfrm>
            <a:off x="147535" y="894944"/>
            <a:ext cx="1100000" cy="0"/>
          </a:xfrm>
          <a:prstGeom prst="line">
            <a:avLst/>
          </a:prstGeom>
          <a:ln w="38100" cap="rnd">
            <a:solidFill>
              <a:srgbClr val="FFA53C"/>
            </a:solidFill>
          </a:ln>
        </p:spPr>
      </p:cxnSp>
      <p:sp>
        <p:nvSpPr>
          <p:cNvPr id="93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7</a:t>
            </a:r>
          </a:p>
        </p:txBody>
      </p:sp>
    </p:spTree>
    <p:extLst>
      <p:ext uri="{BB962C8B-B14F-4D97-AF65-F5344CB8AC3E}">
        <p14:creationId xmlns:p14="http://schemas.microsoft.com/office/powerpoint/2010/main" val="2899108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4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4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wrap="square" lIns="0" tIns="0" rIns="0" bIns="0" anchor="b">
            <a:normAutofit/>
          </a:bodyPr>
          <a:lstStyle/>
          <a:p>
            <a:pPr algn="l"/>
            <a:r>
              <a:rPr lang="fr-FR" sz="2800" spc="40" dirty="0">
                <a:solidFill>
                  <a:srgbClr val="FFFFFF"/>
                </a:solidFill>
                <a:latin typeface="Segoe UI Semibold"/>
              </a:rPr>
              <a:t>TRAVAILLER EN BINÔME AVEC L’IA</a:t>
            </a:r>
          </a:p>
        </p:txBody>
      </p:sp>
      <p:cxnSp>
        <p:nvCxnSpPr>
          <p:cNvPr id="94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42" name="ZoneTexte"/>
          <p:cNvSpPr txBox="1"/>
          <p:nvPr/>
        </p:nvSpPr>
        <p:spPr>
          <a:xfrm>
            <a:off x="147535" y="1150000"/>
            <a:ext cx="5750000" cy="4470400"/>
          </a:xfrm>
          <a:prstGeom prst="rect">
            <a:avLst/>
          </a:prstGeom>
          <a:noFill/>
        </p:spPr>
        <p:txBody>
          <a:bodyPr wrap="square" lIns="0" tIns="54864" rIns="127000" bIns="54864" rtlCol="0" anchor="t"/>
          <a:lstStyle/>
          <a:p>
            <a:pPr>
              <a:lnSpc>
                <a:spcPts val="2240"/>
              </a:lnSpc>
              <a:spcBef>
                <a:spcPts val="0"/>
              </a:spcBef>
              <a:spcAft>
                <a:spcPts val="500"/>
              </a:spcAft>
              <a:buNone/>
            </a:pPr>
            <a:r>
              <a:rPr lang="fr-FR" sz="2000" b="1" spc="60" dirty="0">
                <a:solidFill>
                  <a:srgbClr val="FFAD46"/>
                </a:solidFill>
                <a:latin typeface="Aptos"/>
              </a:rPr>
              <a:t>ORGANISEZ VOTRE COLLABORATION</a:t>
            </a:r>
          </a:p>
          <a:p>
            <a:pPr>
              <a:lnSpc>
                <a:spcPct val="112000"/>
              </a:lnSpc>
              <a:spcBef>
                <a:spcPts val="0"/>
              </a:spcBef>
              <a:spcAft>
                <a:spcPts val="800"/>
              </a:spcAft>
              <a:buNone/>
            </a:pPr>
            <a:endParaRPr lang="fr-FR" sz="2000" b="1" spc="60" dirty="0">
              <a:solidFill>
                <a:srgbClr val="FFAD46"/>
              </a:solidFill>
              <a:latin typeface="Aptos"/>
            </a:endParaRPr>
          </a:p>
          <a:p>
            <a:pPr>
              <a:lnSpc>
                <a:spcPts val="2240"/>
              </a:lnSpc>
              <a:spcBef>
                <a:spcPts val="0"/>
              </a:spcBef>
              <a:spcAft>
                <a:spcPts val="500"/>
              </a:spcAft>
              <a:buNone/>
            </a:pPr>
            <a:r>
              <a:rPr lang="fr-FR" sz="2000" b="0" spc="60" dirty="0">
                <a:solidFill>
                  <a:srgbClr val="E5E7EB"/>
                </a:solidFill>
                <a:latin typeface="Aptos"/>
              </a:rPr>
              <a:t>Répartissez les responsabilités et les tâches.</a:t>
            </a:r>
          </a:p>
          <a:p>
            <a:pPr>
              <a:lnSpc>
                <a:spcPts val="2240"/>
              </a:lnSpc>
              <a:spcBef>
                <a:spcPts val="0"/>
              </a:spcBef>
              <a:spcAft>
                <a:spcPts val="500"/>
              </a:spcAft>
              <a:buNone/>
            </a:pPr>
            <a:r>
              <a:rPr lang="fr-FR" sz="2000" b="0" spc="60" dirty="0">
                <a:solidFill>
                  <a:srgbClr val="E5E7EB"/>
                </a:solidFill>
                <a:latin typeface="Aptos"/>
              </a:rPr>
              <a:t>Choisissez vos points de synchronisation.</a:t>
            </a:r>
          </a:p>
          <a:p>
            <a:pPr>
              <a:lnSpc>
                <a:spcPts val="2240"/>
              </a:lnSpc>
              <a:spcBef>
                <a:spcPts val="0"/>
              </a:spcBef>
              <a:spcAft>
                <a:spcPts val="500"/>
              </a:spcAft>
              <a:buNone/>
            </a:pPr>
            <a:r>
              <a:rPr lang="fr-FR" sz="2000" b="0" spc="60" dirty="0">
                <a:solidFill>
                  <a:srgbClr val="E5E7EB"/>
                </a:solidFill>
                <a:latin typeface="Aptos"/>
              </a:rPr>
              <a:t>Partagez les décisions et les blocages.</a:t>
            </a:r>
          </a:p>
          <a:p>
            <a:pPr>
              <a:lnSpc>
                <a:spcPts val="2240"/>
              </a:lnSpc>
              <a:spcBef>
                <a:spcPts val="0"/>
              </a:spcBef>
              <a:spcAft>
                <a:spcPts val="500"/>
              </a:spcAft>
              <a:buNone/>
            </a:pPr>
            <a:r>
              <a:rPr lang="fr-FR" sz="2000" b="0" spc="60" dirty="0">
                <a:solidFill>
                  <a:srgbClr val="E5E7EB"/>
                </a:solidFill>
                <a:latin typeface="Aptos"/>
              </a:rPr>
              <a:t>Faites relire les changements intégrés.</a:t>
            </a:r>
          </a:p>
          <a:p>
            <a:pPr>
              <a:lnSpc>
                <a:spcPts val="2240"/>
              </a:lnSpc>
              <a:spcBef>
                <a:spcPts val="0"/>
              </a:spcBef>
              <a:spcAft>
                <a:spcPts val="500"/>
              </a:spcAft>
              <a:buNone/>
            </a:pPr>
            <a:r>
              <a:rPr lang="fr-FR" sz="2000" b="0" spc="60" dirty="0">
                <a:solidFill>
                  <a:srgbClr val="E5E7EB"/>
                </a:solidFill>
                <a:latin typeface="Aptos"/>
              </a:rPr>
              <a:t>Adaptez votre organisation aux résultats.</a:t>
            </a:r>
          </a:p>
          <a:p>
            <a:pPr>
              <a:lnSpc>
                <a:spcPct val="112000"/>
              </a:lnSpc>
              <a:spcBef>
                <a:spcPts val="0"/>
              </a:spcBef>
              <a:spcAft>
                <a:spcPts val="800"/>
              </a:spcAft>
              <a:buNone/>
            </a:pPr>
            <a:endParaRPr lang="fr-FR" sz="2000" b="0" spc="60" dirty="0">
              <a:solidFill>
                <a:srgbClr val="E5E7EB"/>
              </a:solidFill>
              <a:latin typeface="Aptos"/>
            </a:endParaRPr>
          </a:p>
          <a:p>
            <a:pPr>
              <a:lnSpc>
                <a:spcPts val="2240"/>
              </a:lnSpc>
              <a:spcBef>
                <a:spcPts val="0"/>
              </a:spcBef>
              <a:spcAft>
                <a:spcPts val="500"/>
              </a:spcAft>
              <a:buNone/>
            </a:pPr>
            <a:r>
              <a:rPr lang="fr-FR" sz="2000" b="0" spc="60" dirty="0">
                <a:solidFill>
                  <a:srgbClr val="E5E7EB"/>
                </a:solidFill>
                <a:latin typeface="Aptos"/>
              </a:rPr>
              <a:t>Vous choisissez votre façon de travailler.</a:t>
            </a:r>
          </a:p>
          <a:p>
            <a:pPr>
              <a:lnSpc>
                <a:spcPts val="2240"/>
              </a:lnSpc>
              <a:spcBef>
                <a:spcPts val="0"/>
              </a:spcBef>
              <a:spcAft>
                <a:spcPts val="500"/>
              </a:spcAft>
              <a:buNone/>
            </a:pPr>
            <a:r>
              <a:rPr lang="fr-FR" sz="2000" b="0" spc="60" dirty="0">
                <a:solidFill>
                  <a:srgbClr val="E5E7EB"/>
                </a:solidFill>
                <a:latin typeface="Aptos"/>
              </a:rPr>
              <a:t>Votre historique doit rendre le travail lisible.</a:t>
            </a:r>
          </a:p>
        </p:txBody>
      </p:sp>
      <p:sp>
        <p:nvSpPr>
          <p:cNvPr id="943" name="ZoneTexte"/>
          <p:cNvSpPr txBox="1"/>
          <p:nvPr/>
        </p:nvSpPr>
        <p:spPr>
          <a:xfrm>
            <a:off x="6294462" y="1150000"/>
            <a:ext cx="5750000" cy="5168900"/>
          </a:xfrm>
          <a:prstGeom prst="rect">
            <a:avLst/>
          </a:prstGeom>
          <a:noFill/>
        </p:spPr>
        <p:txBody>
          <a:bodyPr wrap="square" lIns="0" tIns="54864" rIns="127000" bIns="54864" rtlCol="0" anchor="t"/>
          <a:lstStyle/>
          <a:p>
            <a:pPr>
              <a:lnSpc>
                <a:spcPts val="2240"/>
              </a:lnSpc>
              <a:spcBef>
                <a:spcPts val="0"/>
              </a:spcBef>
              <a:spcAft>
                <a:spcPts val="500"/>
              </a:spcAft>
              <a:buNone/>
            </a:pPr>
            <a:r>
              <a:rPr lang="fr-FR" sz="2000" b="1" spc="60" dirty="0">
                <a:solidFill>
                  <a:srgbClr val="FFAD46"/>
                </a:solidFill>
                <a:latin typeface="Aptos"/>
              </a:rPr>
              <a:t>ASSUMEZ LE RÉSULTAT À DEUX</a:t>
            </a:r>
          </a:p>
          <a:p>
            <a:pPr>
              <a:lnSpc>
                <a:spcPct val="112000"/>
              </a:lnSpc>
              <a:spcBef>
                <a:spcPts val="0"/>
              </a:spcBef>
              <a:spcAft>
                <a:spcPts val="800"/>
              </a:spcAft>
              <a:buNone/>
            </a:pPr>
            <a:endParaRPr lang="fr-FR" sz="2000" b="1" spc="60" dirty="0">
              <a:solidFill>
                <a:srgbClr val="FFAD46"/>
              </a:solidFill>
              <a:latin typeface="Aptos"/>
            </a:endParaRPr>
          </a:p>
          <a:p>
            <a:pPr>
              <a:lnSpc>
                <a:spcPts val="2240"/>
              </a:lnSpc>
              <a:spcBef>
                <a:spcPts val="0"/>
              </a:spcBef>
              <a:spcAft>
                <a:spcPts val="500"/>
              </a:spcAft>
              <a:buNone/>
            </a:pPr>
            <a:r>
              <a:rPr lang="fr-FR" sz="2000" b="0" spc="60" dirty="0">
                <a:solidFill>
                  <a:srgbClr val="E5E7EB"/>
                </a:solidFill>
                <a:latin typeface="Aptos"/>
              </a:rPr>
              <a:t>Chaque membre comprend le projet livré.</a:t>
            </a:r>
          </a:p>
          <a:p>
            <a:pPr>
              <a:lnSpc>
                <a:spcPts val="2240"/>
              </a:lnSpc>
              <a:spcBef>
                <a:spcPts val="0"/>
              </a:spcBef>
              <a:spcAft>
                <a:spcPts val="500"/>
              </a:spcAft>
              <a:buNone/>
            </a:pPr>
            <a:r>
              <a:rPr lang="fr-FR" sz="2000" b="0" spc="60" dirty="0">
                <a:solidFill>
                  <a:srgbClr val="E5E7EB"/>
                </a:solidFill>
                <a:latin typeface="Aptos"/>
              </a:rPr>
              <a:t>Chacun explique un parcours complet,</a:t>
            </a:r>
          </a:p>
          <a:p>
            <a:pPr>
              <a:lnSpc>
                <a:spcPts val="2240"/>
              </a:lnSpc>
              <a:spcBef>
                <a:spcPts val="0"/>
              </a:spcBef>
              <a:spcAft>
                <a:spcPts val="500"/>
              </a:spcAft>
              <a:buNone/>
            </a:pPr>
            <a:r>
              <a:rPr lang="fr-FR" sz="2000" b="0" spc="60" dirty="0">
                <a:solidFill>
                  <a:srgbClr val="E5E7EB"/>
                </a:solidFill>
                <a:latin typeface="Aptos"/>
              </a:rPr>
              <a:t>du navigateur jusqu’au serveur.</a:t>
            </a:r>
          </a:p>
          <a:p>
            <a:pPr>
              <a:lnSpc>
                <a:spcPts val="2240"/>
              </a:lnSpc>
              <a:spcBef>
                <a:spcPts val="0"/>
              </a:spcBef>
              <a:spcAft>
                <a:spcPts val="500"/>
              </a:spcAft>
              <a:buNone/>
            </a:pPr>
            <a:r>
              <a:rPr lang="fr-FR" sz="2000" b="0" spc="60" dirty="0">
                <a:solidFill>
                  <a:srgbClr val="E5E7EB"/>
                </a:solidFill>
                <a:latin typeface="Aptos"/>
              </a:rPr>
              <a:t>Les choix structurants se défendent à deux.</a:t>
            </a:r>
          </a:p>
          <a:p>
            <a:pPr>
              <a:lnSpc>
                <a:spcPts val="2240"/>
              </a:lnSpc>
              <a:spcBef>
                <a:spcPts val="0"/>
              </a:spcBef>
              <a:spcAft>
                <a:spcPts val="500"/>
              </a:spcAft>
              <a:buNone/>
            </a:pPr>
            <a:r>
              <a:rPr lang="fr-FR" sz="2000" b="0" spc="60" dirty="0">
                <a:solidFill>
                  <a:srgbClr val="E5E7EB"/>
                </a:solidFill>
                <a:latin typeface="Aptos"/>
              </a:rPr>
              <a:t>Le code délégué à l’IA reste votre travail.</a:t>
            </a:r>
          </a:p>
          <a:p>
            <a:pPr>
              <a:lnSpc>
                <a:spcPct val="112000"/>
              </a:lnSpc>
              <a:spcBef>
                <a:spcPts val="0"/>
              </a:spcBef>
              <a:spcAft>
                <a:spcPts val="800"/>
              </a:spcAft>
              <a:buNone/>
            </a:pPr>
            <a:endParaRPr lang="fr-FR" sz="2000" b="0" spc="60" dirty="0">
              <a:solidFill>
                <a:srgbClr val="E5E7EB"/>
              </a:solidFill>
              <a:latin typeface="Aptos"/>
            </a:endParaRPr>
          </a:p>
          <a:p>
            <a:pPr>
              <a:lnSpc>
                <a:spcPts val="2240"/>
              </a:lnSpc>
              <a:spcBef>
                <a:spcPts val="0"/>
              </a:spcBef>
              <a:spcAft>
                <a:spcPts val="500"/>
              </a:spcAft>
              <a:buNone/>
            </a:pPr>
            <a:r>
              <a:rPr lang="fr-FR" sz="2000" b="0" spc="60" dirty="0">
                <a:solidFill>
                  <a:srgbClr val="E5E7EB"/>
                </a:solidFill>
                <a:latin typeface="Aptos"/>
              </a:rPr>
              <a:t>La répartition des tâches vous appartient.</a:t>
            </a:r>
          </a:p>
          <a:p>
            <a:pPr>
              <a:lnSpc>
                <a:spcPts val="2240"/>
              </a:lnSpc>
              <a:spcBef>
                <a:spcPts val="0"/>
              </a:spcBef>
              <a:spcAft>
                <a:spcPts val="500"/>
              </a:spcAft>
              <a:buNone/>
            </a:pPr>
            <a:r>
              <a:rPr lang="fr-FR" sz="2000" b="0" spc="60" dirty="0">
                <a:solidFill>
                  <a:srgbClr val="E5E7EB"/>
                </a:solidFill>
                <a:latin typeface="Aptos"/>
              </a:rPr>
              <a:t>La maîtrise du projet concerne chacun.</a:t>
            </a:r>
          </a:p>
        </p:txBody>
      </p:sp>
      <p:cxnSp>
        <p:nvCxnSpPr>
          <p:cNvPr id="945" name="Accent titre"/>
          <p:cNvCxnSpPr/>
          <p:nvPr/>
        </p:nvCxnSpPr>
        <p:spPr>
          <a:xfrm>
            <a:off x="147535" y="894944"/>
            <a:ext cx="1100000" cy="0"/>
          </a:xfrm>
          <a:prstGeom prst="line">
            <a:avLst/>
          </a:prstGeom>
          <a:ln w="38100" cap="rnd">
            <a:solidFill>
              <a:srgbClr val="FFA53C"/>
            </a:solidFill>
          </a:ln>
        </p:spPr>
      </p:cxnSp>
      <p:sp>
        <p:nvSpPr>
          <p:cNvPr id="94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8</a:t>
            </a:r>
          </a:p>
        </p:txBody>
      </p:sp>
    </p:spTree>
    <p:extLst>
      <p:ext uri="{BB962C8B-B14F-4D97-AF65-F5344CB8AC3E}">
        <p14:creationId xmlns:p14="http://schemas.microsoft.com/office/powerpoint/2010/main" val="2899108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50"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4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UNE DÉMARCHE À ADAPTER</a:t>
            </a:r>
          </a:p>
        </p:txBody>
      </p:sp>
      <p:cxnSp>
        <p:nvCxnSpPr>
          <p:cNvPr id="94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951" name="Accent titre"/>
          <p:cNvCxnSpPr/>
          <p:nvPr/>
        </p:nvCxnSpPr>
        <p:spPr>
          <a:xfrm>
            <a:off x="147535" y="894944"/>
            <a:ext cx="1100000" cy="0"/>
          </a:xfrm>
          <a:prstGeom prst="line">
            <a:avLst/>
          </a:prstGeom>
          <a:ln w="38100" cap="rnd">
            <a:solidFill>
              <a:srgbClr val="FFA53C"/>
            </a:solidFill>
          </a:ln>
        </p:spPr>
      </p:cxnSp>
      <p:sp>
        <p:nvSpPr>
          <p:cNvPr id="95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9</a:t>
            </a:r>
          </a:p>
        </p:txBody>
      </p:sp>
      <p:sp>
        <p:nvSpPr>
          <p:cNvPr id="953"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Cadrer</a:t>
            </a:r>
          </a:p>
          <a:p>
            <a:pPr marL="285750" indent="-285750">
              <a:lnSpc>
                <a:spcPts val="2352"/>
              </a:lnSpc>
              <a:spcBef>
                <a:spcPts val="0"/>
              </a:spcBef>
              <a:spcAft>
                <a:spcPts val="500"/>
              </a:spcAft>
              <a:buNone/>
            </a:pPr>
            <a:r>
              <a:rPr lang="fr-FR" sz="2100" b="0" dirty="0">
                <a:solidFill>
                  <a:srgbClr val="E5E7EB"/>
                </a:solidFill>
                <a:latin typeface="Aptos"/>
              </a:rPr>
              <a:t>Définissez le besoin, les contraintes et le résultat attendu. Donnez à l’IA le contexte utile.</a:t>
            </a:r>
          </a:p>
          <a:p>
            <a:pPr marL="285750" indent="-285750">
              <a:lnSpc>
                <a:spcPts val="2352"/>
              </a:lnSpc>
              <a:spcBef>
                <a:spcPts val="0"/>
              </a:spcBef>
              <a:spcAft>
                <a:spcPts val="500"/>
              </a:spcAft>
              <a:buNone/>
            </a:pPr>
            <a:r>
              <a:rPr lang="fr-FR" sz="2100" b="1" dirty="0">
                <a:solidFill>
                  <a:srgbClr val="FFAD46"/>
                </a:solidFill>
                <a:latin typeface="Aptos"/>
              </a:rPr>
              <a:t>Explorer et réaliser</a:t>
            </a:r>
          </a:p>
          <a:p>
            <a:pPr marL="285750" indent="-285750">
              <a:lnSpc>
                <a:spcPts val="2352"/>
              </a:lnSpc>
              <a:spcBef>
                <a:spcPts val="0"/>
              </a:spcBef>
              <a:spcAft>
                <a:spcPts val="500"/>
              </a:spcAft>
              <a:buNone/>
            </a:pPr>
            <a:r>
              <a:rPr lang="fr-FR" sz="2100" b="0" dirty="0">
                <a:solidFill>
                  <a:srgbClr val="E5E7EB"/>
                </a:solidFill>
                <a:latin typeface="Aptos"/>
              </a:rPr>
              <a:t>Comparez les propositions, expérimentez et construisez une solution que vous comprenez.</a:t>
            </a:r>
          </a:p>
          <a:p>
            <a:pPr marL="285750" indent="-285750">
              <a:lnSpc>
                <a:spcPts val="2352"/>
              </a:lnSpc>
              <a:spcBef>
                <a:spcPts val="0"/>
              </a:spcBef>
              <a:spcAft>
                <a:spcPts val="500"/>
              </a:spcAft>
              <a:buNone/>
            </a:pPr>
            <a:r>
              <a:rPr lang="fr-FR" sz="2100" b="1" dirty="0">
                <a:solidFill>
                  <a:srgbClr val="FFAD46"/>
                </a:solidFill>
                <a:latin typeface="Aptos"/>
              </a:rPr>
              <a:t>Vérifier et décider</a:t>
            </a:r>
          </a:p>
          <a:p>
            <a:pPr marL="285750" indent="-285750">
              <a:lnSpc>
                <a:spcPts val="2352"/>
              </a:lnSpc>
              <a:spcBef>
                <a:spcPts val="0"/>
              </a:spcBef>
              <a:spcAft>
                <a:spcPts val="500"/>
              </a:spcAft>
              <a:buNone/>
            </a:pPr>
            <a:r>
              <a:rPr lang="fr-FR" sz="2100" b="0" dirty="0">
                <a:solidFill>
                  <a:srgbClr val="E5E7EB"/>
                </a:solidFill>
                <a:latin typeface="Aptos"/>
              </a:rPr>
              <a:t>Confrontez le résultat au besoin. Décidez ce que vous intégrez à partir de vos observations.</a:t>
            </a:r>
          </a:p>
          <a:p>
            <a:pPr marL="285750" indent="-285750">
              <a:lnSpc>
                <a:spcPts val="2352"/>
              </a:lnSpc>
              <a:spcBef>
                <a:spcPts val="0"/>
              </a:spcBef>
              <a:spcAft>
                <a:spcPts val="500"/>
              </a:spcAft>
              <a:buNone/>
            </a:pPr>
            <a:r>
              <a:rPr lang="fr-FR" sz="2100" b="1" dirty="0">
                <a:solidFill>
                  <a:srgbClr val="FFAD46"/>
                </a:solidFill>
                <a:latin typeface="Aptos"/>
              </a:rPr>
              <a:t>Adapter</a:t>
            </a:r>
          </a:p>
          <a:p>
            <a:pPr marL="285750" indent="-285750">
              <a:lnSpc>
                <a:spcPts val="2352"/>
              </a:lnSpc>
              <a:spcBef>
                <a:spcPts val="0"/>
              </a:spcBef>
              <a:spcAft>
                <a:spcPts val="500"/>
              </a:spcAft>
              <a:buNone/>
            </a:pPr>
            <a:r>
              <a:rPr lang="fr-FR" sz="2100" b="0" dirty="0">
                <a:solidFill>
                  <a:srgbClr val="E5E7EB"/>
                </a:solidFill>
                <a:latin typeface="Aptos"/>
              </a:rPr>
              <a:t>Révisez vos priorités quand les faits le justifient. Conservez les décisions utiles dans les livrables, diapo 11.</a:t>
            </a:r>
          </a:p>
          <a:p>
            <a:pPr marL="285750" indent="-285750">
              <a:lnSpc>
                <a:spcPts val="2352"/>
              </a:lnSpc>
              <a:spcBef>
                <a:spcPts val="0"/>
              </a:spcBef>
              <a:spcAft>
                <a:spcPts val="500"/>
              </a:spcAft>
              <a:buNone/>
            </a:pPr>
            <a:r>
              <a:rPr lang="fr-FR" sz="2100" b="0" dirty="0">
                <a:solidFill>
                  <a:srgbClr val="E5E7EB"/>
                </a:solidFill>
                <a:latin typeface="Aptos"/>
              </a:rPr>
              <a:t>La démarche vous appartient. La qualité du résultat et la solidité de vos décisions doivent être démontrables.</a:t>
            </a:r>
          </a:p>
        </p:txBody>
      </p:sp>
    </p:spTree>
    <p:extLst>
      <p:ext uri="{BB962C8B-B14F-4D97-AF65-F5344CB8AC3E}">
        <p14:creationId xmlns:p14="http://schemas.microsoft.com/office/powerpoint/2010/main" val="2899108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56"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53"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wrap="square" lIns="0" tIns="0" rIns="0" bIns="0" anchor="b">
            <a:normAutofit/>
          </a:bodyPr>
          <a:lstStyle/>
          <a:p>
            <a:pPr algn="l"/>
            <a:r>
              <a:rPr lang="fr-FR" sz="2800" spc="40" dirty="0">
                <a:solidFill>
                  <a:srgbClr val="FFFFFF"/>
                </a:solidFill>
                <a:latin typeface="Segoe UI Semibold"/>
              </a:rPr>
              <a:t>LE CODE GÉNÉRÉ DOIT FAIRE SES PREUVES</a:t>
            </a:r>
          </a:p>
        </p:txBody>
      </p:sp>
      <p:cxnSp>
        <p:nvCxnSpPr>
          <p:cNvPr id="954"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55" name="ZoneTexte"/>
          <p:cNvSpPr txBox="1"/>
          <p:nvPr/>
        </p:nvSpPr>
        <p:spPr>
          <a:xfrm>
            <a:off x="147535" y="1150000"/>
            <a:ext cx="11896927" cy="4994275"/>
          </a:xfrm>
          <a:prstGeom prst="rect">
            <a:avLst/>
          </a:prstGeom>
          <a:noFill/>
        </p:spPr>
        <p:txBody>
          <a:bodyPr wrap="square" lIns="0" tIns="0" rIns="127000" bIns="0" rtlCol="0" anchor="t"/>
          <a:lstStyle/>
          <a:p>
            <a:r>
              <a:rPr lang="fr-FR" sz="2200" b="0" dirty="0">
                <a:solidFill>
                  <a:srgbClr val="E5E7EB"/>
                </a:solidFill>
              </a:rPr>
              <a:t>Vous recevrez du code plausible. À vous d’établir qu’il respecte votre besoin.</a:t>
            </a:r>
          </a:p>
          <a:p>
            <a:pPr marL="285750" indent="-285750">
              <a:buClr>
                <a:srgbClr val="FFA53C"/>
              </a:buClr>
              <a:buFont typeface="Arial" panose="020B0604020202020204" pitchFamily="34" charset="0"/>
              <a:buChar char="•"/>
            </a:pPr>
            <a:r>
              <a:rPr lang="fr-FR" sz="2200" b="0" dirty="0">
                <a:solidFill>
                  <a:srgbClr val="E5E7EB"/>
                </a:solidFill>
              </a:rPr>
              <a:t>Compiler et réussir une démonstration ne prouvent pas tous les comportements.</a:t>
            </a:r>
          </a:p>
          <a:p>
            <a:pPr marL="285750" indent="-285750">
              <a:buClr>
                <a:srgbClr val="FFA53C"/>
              </a:buClr>
              <a:buFont typeface="Arial" panose="020B0604020202020204" pitchFamily="34" charset="0"/>
              <a:buChar char="•"/>
            </a:pPr>
            <a:r>
              <a:rPr lang="fr-FR" sz="2200" b="1" dirty="0">
                <a:solidFill>
                  <a:srgbClr val="FFAD46"/>
                </a:solidFill>
              </a:rPr>
              <a:t>Votre travail d’ingénieur</a:t>
            </a:r>
          </a:p>
          <a:p>
            <a:pPr marL="285750" indent="-285750">
              <a:buClr>
                <a:srgbClr val="FFA53C"/>
              </a:buClr>
              <a:buFont typeface="Arial" panose="020B0604020202020204" pitchFamily="34" charset="0"/>
              <a:buChar char="•"/>
            </a:pPr>
            <a:r>
              <a:rPr lang="fr-FR" sz="2200" b="0" dirty="0">
                <a:solidFill>
                  <a:srgbClr val="E5E7EB"/>
                </a:solidFill>
              </a:rPr>
              <a:t>Identifier les hypothèses dont dépend la solution.</a:t>
            </a:r>
          </a:p>
          <a:p>
            <a:pPr marL="285750" indent="-285750">
              <a:buClr>
                <a:srgbClr val="FFA53C"/>
              </a:buClr>
              <a:buFont typeface="Arial" panose="020B0604020202020204" pitchFamily="34" charset="0"/>
              <a:buChar char="•"/>
            </a:pPr>
            <a:r>
              <a:rPr lang="fr-FR" sz="2200" b="0" dirty="0">
                <a:solidFill>
                  <a:srgbClr val="E5E7EB"/>
                </a:solidFill>
              </a:rPr>
              <a:t>Choisir des expériences capables de mettre ces hypothèses en défaut.</a:t>
            </a:r>
          </a:p>
          <a:p>
            <a:pPr marL="285750" indent="-285750">
              <a:buClr>
                <a:srgbClr val="FFA53C"/>
              </a:buClr>
              <a:buFont typeface="Arial" panose="020B0604020202020204" pitchFamily="34" charset="0"/>
              <a:buChar char="•"/>
            </a:pPr>
            <a:r>
              <a:rPr lang="fr-FR" sz="2200" b="0" dirty="0">
                <a:solidFill>
                  <a:srgbClr val="E5E7EB"/>
                </a:solidFill>
              </a:rPr>
              <a:t>Interpréter les résultats, décider et connaître les limites de vos vérifications.</a:t>
            </a:r>
          </a:p>
          <a:p>
            <a:pPr marL="285750" indent="-285750">
              <a:buClr>
                <a:srgbClr val="FFA53C"/>
              </a:buClr>
              <a:buFont typeface="Arial" panose="020B0604020202020204" pitchFamily="34" charset="0"/>
              <a:buChar char="•"/>
            </a:pPr>
            <a:r>
              <a:rPr lang="fr-FR" sz="2200" b="1" dirty="0">
                <a:solidFill>
                  <a:srgbClr val="FFAD46"/>
                </a:solidFill>
              </a:rPr>
              <a:t>La preuve appartient à votre projet</a:t>
            </a:r>
          </a:p>
          <a:p>
            <a:pPr>
              <a:spcBef>
                <a:spcPts val="600"/>
              </a:spcBef>
            </a:pPr>
            <a:r>
              <a:rPr lang="fr-FR" sz="2200" b="0" spc="60" dirty="0">
                <a:solidFill>
                  <a:srgbClr val="E5E7EB"/>
                </a:solidFill>
              </a:rPr>
              <a:t>Une revue renvoie à un commit, un scénario précis et un résultat reproductible. Expliquez quelle erreur ce contrôle pourrait détecter.</a:t>
            </a:r>
          </a:p>
          <a:p>
            <a:r>
              <a:rPr lang="fr-FR" sz="2200" b="0" dirty="0">
                <a:solidFill>
                  <a:srgbClr val="E5E7EB"/>
                </a:solidFill>
              </a:rPr>
              <a:t>Recopier une analyse du support ou demander à l’IA de se déclarer correcte ne constitue pas une vérification.</a:t>
            </a:r>
          </a:p>
        </p:txBody>
      </p:sp>
      <p:cxnSp>
        <p:nvCxnSpPr>
          <p:cNvPr id="957" name="Accent titre"/>
          <p:cNvCxnSpPr/>
          <p:nvPr/>
        </p:nvCxnSpPr>
        <p:spPr>
          <a:xfrm>
            <a:off x="147535" y="894944"/>
            <a:ext cx="1100000" cy="0"/>
          </a:xfrm>
          <a:prstGeom prst="line">
            <a:avLst/>
          </a:prstGeom>
          <a:ln w="38100" cap="rnd">
            <a:solidFill>
              <a:srgbClr val="FFA53C"/>
            </a:solidFill>
          </a:ln>
        </p:spPr>
      </p:cxnSp>
      <p:sp>
        <p:nvSpPr>
          <p:cNvPr id="958"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10</a:t>
            </a:r>
          </a:p>
        </p:txBody>
      </p:sp>
    </p:spTree>
    <p:extLst>
      <p:ext uri="{BB962C8B-B14F-4D97-AF65-F5344CB8AC3E}">
        <p14:creationId xmlns:p14="http://schemas.microsoft.com/office/powerpoint/2010/main" val="2899108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62"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59"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VOS 3 LIVRABLES IA</a:t>
            </a:r>
          </a:p>
        </p:txBody>
      </p:sp>
      <p:cxnSp>
        <p:nvCxnSpPr>
          <p:cNvPr id="960"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61" name="ZoneTexte"/>
          <p:cNvSpPr txBox="1"/>
          <p:nvPr/>
        </p:nvSpPr>
        <p:spPr>
          <a:xfrm>
            <a:off x="147535" y="1150000"/>
            <a:ext cx="11896927" cy="4959350"/>
          </a:xfrm>
          <a:prstGeom prst="rect">
            <a:avLst/>
          </a:prstGeom>
          <a:noFill/>
        </p:spPr>
        <p:txBody>
          <a:bodyPr wrap="square" lIns="0" tIns="0" rIns="127000" bIns="0" rtlCol="0" anchor="t"/>
          <a:lstStyle/>
          <a:p>
            <a:pPr>
              <a:spcBef>
                <a:spcPts val="600"/>
              </a:spcBef>
            </a:pPr>
            <a:r>
              <a:rPr lang="fr-FR" sz="2200" b="1" spc="60" dirty="0">
                <a:solidFill>
                  <a:srgbClr val="FFA53C"/>
                </a:solidFill>
              </a:rPr>
              <a:t>PROMPTS.md : les échanges décisifs</a:t>
            </a:r>
          </a:p>
          <a:p>
            <a:pPr marL="285750" indent="-285750">
              <a:buClr>
                <a:srgbClr val="FFA53C"/>
              </a:buClr>
              <a:buFont typeface="Arial" panose="020B0604020202020204" pitchFamily="34" charset="0"/>
              <a:buChar char="•"/>
            </a:pPr>
            <a:r>
              <a:rPr lang="fr-FR" sz="2200" dirty="0">
                <a:solidFill>
                  <a:srgbClr val="ECEEF3"/>
                </a:solidFill>
              </a:rPr>
              <a:t>Date, outil ou modèle si connu, contexte, prompt, réponse résumée, décision et preuve. Inutile de recopier toutes les conversations.</a:t>
            </a:r>
          </a:p>
          <a:p>
            <a:pPr>
              <a:spcBef>
                <a:spcPts val="600"/>
              </a:spcBef>
            </a:pPr>
            <a:r>
              <a:rPr lang="fr-FR" sz="2200" b="1" spc="60" dirty="0">
                <a:solidFill>
                  <a:srgbClr val="FFA53C"/>
                </a:solidFill>
              </a:rPr>
              <a:t>docs/adr/ : les décisions d’architecture</a:t>
            </a:r>
          </a:p>
          <a:p>
            <a:pPr marL="285750" indent="-285750">
              <a:buClr>
                <a:srgbClr val="FFA53C"/>
              </a:buClr>
              <a:buFont typeface="Arial" panose="020B0604020202020204" pitchFamily="34" charset="0"/>
              <a:buChar char="•"/>
            </a:pPr>
            <a:r>
              <a:rPr lang="fr-FR" sz="2200" dirty="0">
                <a:solidFill>
                  <a:srgbClr val="ECEEF3"/>
                </a:solidFill>
              </a:rPr>
              <a:t>ADR signifie Architecture Decision Record. Pour chaque choix structurant : contexte, options, décision et conséquences.</a:t>
            </a:r>
          </a:p>
          <a:p>
            <a:pPr>
              <a:spcBef>
                <a:spcPts val="600"/>
              </a:spcBef>
            </a:pPr>
            <a:r>
              <a:rPr lang="fr-FR" sz="2200" b="1" spc="60" dirty="0">
                <a:solidFill>
                  <a:srgbClr val="FFA53C"/>
                </a:solidFill>
              </a:rPr>
              <a:t>REVUE-IA.md : trois revues argumentées minimum</a:t>
            </a:r>
          </a:p>
          <a:p>
            <a:pPr marL="285750" indent="-285750">
              <a:buClr>
                <a:srgbClr val="FFA53C"/>
              </a:buClr>
              <a:buFont typeface="Arial" panose="020B0604020202020204" pitchFamily="34" charset="0"/>
              <a:buChar char="•"/>
            </a:pPr>
            <a:r>
              <a:rPr lang="fr-FR" sz="2200" dirty="0">
                <a:solidFill>
                  <a:srgbClr val="ECEEF3"/>
                </a:solidFill>
              </a:rPr>
              <a:t>Une proposition acceptée, adaptée ou rejetée : ce que vous avez vérifié, votre conclusion et un lien vers le diff ou le test.</a:t>
            </a:r>
          </a:p>
          <a:p>
            <a:pPr marL="285750" indent="-285750">
              <a:buClr>
                <a:srgbClr val="FFA53C"/>
              </a:buClr>
              <a:buFont typeface="Arial" panose="020B0604020202020204" pitchFamily="34" charset="0"/>
              <a:buChar char="•"/>
            </a:pPr>
            <a:r>
              <a:rPr lang="fr-FR" sz="2200" dirty="0">
                <a:solidFill>
                  <a:srgbClr val="ECEEF3"/>
                </a:solidFill>
              </a:rPr>
              <a:t>Une proposition acceptée doit aussi être étayée par un contrôle pertinent et reproductible.</a:t>
            </a:r>
          </a:p>
          <a:p>
            <a:pPr>
              <a:spcBef>
                <a:spcPts val="600"/>
              </a:spcBef>
            </a:pPr>
            <a:r>
              <a:rPr lang="fr-FR" sz="2200" b="1" spc="60" dirty="0">
                <a:solidFill>
                  <a:srgbClr val="FFA53C"/>
                </a:solidFill>
              </a:rPr>
              <a:t>Les gabarits des diapos 56 à 58 sont aussi fournis en fichiers Markdown.</a:t>
            </a:r>
          </a:p>
        </p:txBody>
      </p:sp>
      <p:cxnSp>
        <p:nvCxnSpPr>
          <p:cNvPr id="963" name="Accent titre"/>
          <p:cNvCxnSpPr/>
          <p:nvPr/>
        </p:nvCxnSpPr>
        <p:spPr>
          <a:xfrm>
            <a:off x="147535" y="894944"/>
            <a:ext cx="1100000" cy="0"/>
          </a:xfrm>
          <a:prstGeom prst="line">
            <a:avLst/>
          </a:prstGeom>
          <a:ln w="38100" cap="rnd">
            <a:solidFill>
              <a:srgbClr val="FFA53C"/>
            </a:solidFill>
          </a:ln>
        </p:spPr>
      </p:cxnSp>
      <p:sp>
        <p:nvSpPr>
          <p:cNvPr id="964"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11</a:t>
            </a:r>
          </a:p>
        </p:txBody>
      </p:sp>
    </p:spTree>
    <p:extLst>
      <p:ext uri="{BB962C8B-B14F-4D97-AF65-F5344CB8AC3E}">
        <p14:creationId xmlns:p14="http://schemas.microsoft.com/office/powerpoint/2010/main" val="2899108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68"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65"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ÉVALUATION</a:t>
            </a:r>
          </a:p>
        </p:txBody>
      </p:sp>
      <p:cxnSp>
        <p:nvCxnSpPr>
          <p:cNvPr id="966"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969" name="Accent titre"/>
          <p:cNvCxnSpPr/>
          <p:nvPr/>
        </p:nvCxnSpPr>
        <p:spPr>
          <a:xfrm>
            <a:off x="147535" y="894944"/>
            <a:ext cx="1100000" cy="0"/>
          </a:xfrm>
          <a:prstGeom prst="line">
            <a:avLst/>
          </a:prstGeom>
          <a:ln w="38100" cap="rnd">
            <a:solidFill>
              <a:srgbClr val="FFA53C"/>
            </a:solidFill>
          </a:ln>
        </p:spPr>
      </p:cxnSp>
      <p:sp>
        <p:nvSpPr>
          <p:cNvPr id="97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12</a:t>
            </a:r>
          </a:p>
        </p:txBody>
      </p:sp>
      <p:sp>
        <p:nvSpPr>
          <p:cNvPr id="971"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464"/>
              </a:lnSpc>
              <a:spcBef>
                <a:spcPts val="0"/>
              </a:spcBef>
              <a:spcAft>
                <a:spcPts val="500"/>
              </a:spcAft>
              <a:buNone/>
            </a:pPr>
            <a:r>
              <a:rPr lang="fr-FR" sz="2200" b="1" dirty="0">
                <a:solidFill>
                  <a:srgbClr val="FFAD46"/>
                </a:solidFill>
                <a:latin typeface="Aptos"/>
              </a:rPr>
              <a:t>Deux composantes de l’évaluation</a:t>
            </a:r>
          </a:p>
          <a:p>
            <a:pPr marL="285750" indent="-285750">
              <a:lnSpc>
                <a:spcPts val="2464"/>
              </a:lnSpc>
              <a:spcBef>
                <a:spcPts val="0"/>
              </a:spcBef>
              <a:spcAft>
                <a:spcPts val="500"/>
              </a:spcAft>
              <a:buNone/>
            </a:pPr>
            <a:r>
              <a:rPr lang="fr-FR" sz="2200" b="0" dirty="0">
                <a:solidFill>
                  <a:srgbClr val="E5E7EB"/>
                </a:solidFill>
                <a:latin typeface="Aptos"/>
              </a:rPr>
              <a:t>50 % : le TP bataille navale, en binôme.</a:t>
            </a:r>
          </a:p>
          <a:p>
            <a:pPr marL="285750" indent="-285750">
              <a:lnSpc>
                <a:spcPts val="2464"/>
              </a:lnSpc>
              <a:spcBef>
                <a:spcPts val="0"/>
              </a:spcBef>
              <a:spcAft>
                <a:spcPts val="500"/>
              </a:spcAft>
              <a:buNone/>
            </a:pPr>
            <a:r>
              <a:rPr lang="fr-FR" sz="2200" b="0" dirty="0">
                <a:solidFill>
                  <a:srgbClr val="E5E7EB"/>
                </a:solidFill>
                <a:latin typeface="Aptos"/>
              </a:rPr>
              <a:t>50 % : le QCM final, individuel, dernière heure du jour 5.</a:t>
            </a:r>
          </a:p>
          <a:p>
            <a:pPr marL="285750" indent="-285750">
              <a:lnSpc>
                <a:spcPts val="2464"/>
              </a:lnSpc>
              <a:spcBef>
                <a:spcPts val="0"/>
              </a:spcBef>
              <a:spcAft>
                <a:spcPts val="500"/>
              </a:spcAft>
              <a:buNone/>
            </a:pPr>
            <a:r>
              <a:rPr lang="fr-FR" sz="2200" b="1" dirty="0">
                <a:solidFill>
                  <a:srgbClr val="FFAD46"/>
                </a:solidFill>
                <a:latin typeface="Aptos"/>
              </a:rPr>
              <a:t>Le projet</a:t>
            </a:r>
          </a:p>
          <a:p>
            <a:pPr marL="285750" indent="-285750">
              <a:lnSpc>
                <a:spcPts val="2464"/>
              </a:lnSpc>
              <a:spcBef>
                <a:spcPts val="0"/>
              </a:spcBef>
              <a:spcAft>
                <a:spcPts val="500"/>
              </a:spcAft>
              <a:buNone/>
            </a:pPr>
            <a:r>
              <a:rPr lang="fr-FR" sz="2200" b="0" dirty="0">
                <a:solidFill>
                  <a:srgbClr val="E5E7EB"/>
                </a:solidFill>
                <a:latin typeface="Aptos"/>
              </a:rPr>
              <a:t>Un résultat utilisable, un périmètre ambitieux et cohérent, des décisions justifiées et une maîtrise démontrable du code.</a:t>
            </a:r>
          </a:p>
          <a:p>
            <a:pPr marL="285750" indent="-285750">
              <a:lnSpc>
                <a:spcPts val="2464"/>
              </a:lnSpc>
              <a:spcBef>
                <a:spcPts val="0"/>
              </a:spcBef>
              <a:spcAft>
                <a:spcPts val="500"/>
              </a:spcAft>
              <a:buNone/>
            </a:pPr>
            <a:r>
              <a:rPr lang="fr-FR" sz="2200" b="1" dirty="0">
                <a:solidFill>
                  <a:srgbClr val="FFAD46"/>
                </a:solidFill>
                <a:latin typeface="Aptos"/>
              </a:rPr>
              <a:t>Le QCM</a:t>
            </a:r>
          </a:p>
          <a:p>
            <a:pPr marL="285750" indent="-285750">
              <a:lnSpc>
                <a:spcPts val="2464"/>
              </a:lnSpc>
              <a:spcBef>
                <a:spcPts val="0"/>
              </a:spcBef>
              <a:spcAft>
                <a:spcPts val="500"/>
              </a:spcAft>
              <a:buNone/>
            </a:pPr>
            <a:r>
              <a:rPr lang="fr-FR" sz="2200" b="0" dirty="0">
                <a:solidFill>
                  <a:srgbClr val="E5E7EB"/>
                </a:solidFill>
                <a:latin typeface="Aptos"/>
              </a:rPr>
              <a:t>Les connaissances techniques de chaque étudiant sur les notions du cours.</a:t>
            </a:r>
          </a:p>
          <a:p>
            <a:pPr marL="285750" indent="-285750">
              <a:lnSpc>
                <a:spcPts val="2464"/>
              </a:lnSpc>
              <a:spcBef>
                <a:spcPts val="0"/>
              </a:spcBef>
              <a:spcAft>
                <a:spcPts val="500"/>
              </a:spcAft>
              <a:buNone/>
            </a:pPr>
            <a:r>
              <a:rPr lang="fr-FR" sz="2200" b="0" dirty="0">
                <a:solidFill>
                  <a:srgbClr val="E5E7EB"/>
                </a:solidFill>
                <a:latin typeface="Aptos"/>
              </a:rPr>
              <a:t>Les critères qualitatifs du projet sont présentés diapo 61. Les livrables sont précisés diapo 62.</a:t>
            </a:r>
          </a:p>
        </p:txBody>
      </p:sp>
    </p:spTree>
    <p:extLst>
      <p:ext uri="{BB962C8B-B14F-4D97-AF65-F5344CB8AC3E}">
        <p14:creationId xmlns:p14="http://schemas.microsoft.com/office/powerpoint/2010/main" val="2899108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7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7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LE QCM FINAL</a:t>
            </a:r>
          </a:p>
        </p:txBody>
      </p:sp>
      <p:cxnSp>
        <p:nvCxnSpPr>
          <p:cNvPr id="97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73" name="ZoneTexte"/>
          <p:cNvSpPr txBox="1"/>
          <p:nvPr/>
        </p:nvSpPr>
        <p:spPr>
          <a:xfrm>
            <a:off x="147535" y="1150000"/>
            <a:ext cx="11896927" cy="5203825"/>
          </a:xfrm>
          <a:prstGeom prst="rect">
            <a:avLst/>
          </a:prstGeom>
          <a:noFill/>
        </p:spPr>
        <p:txBody>
          <a:bodyPr wrap="square" lIns="0" tIns="0" rIns="127000" bIns="0" rtlCol="0" anchor="t"/>
          <a:lstStyle/>
          <a:p>
            <a:pPr>
              <a:spcBef>
                <a:spcPts val="600"/>
              </a:spcBef>
            </a:pPr>
            <a:r>
              <a:rPr lang="fr-FR" sz="2200" b="1" spc="60" dirty="0">
                <a:solidFill>
                  <a:srgbClr val="FFA53C"/>
                </a:solidFill>
              </a:rPr>
              <a:t>50 % de la note. Dernière heure du jour 5.</a:t>
            </a:r>
          </a:p>
          <a:p>
            <a:pPr marL="285750" indent="-285750">
              <a:buClr>
                <a:srgbClr val="FFA53C"/>
              </a:buClr>
              <a:buFont typeface="Arial" panose="020B0604020202020204" pitchFamily="34" charset="0"/>
              <a:buChar char="•"/>
            </a:pPr>
            <a:r>
              <a:rPr lang="fr-FR" sz="2200" dirty="0">
                <a:solidFill>
                  <a:srgbClr val="ECEEF3"/>
                </a:solidFill>
              </a:rPr>
              <a:t>20 questions, une seule bonne réponse par question, sans point négatif</a:t>
            </a:r>
          </a:p>
          <a:p>
            <a:pPr marL="285750" indent="-285750">
              <a:buClr>
                <a:srgbClr val="FFA53C"/>
              </a:buClr>
              <a:buFont typeface="Arial" panose="020B0604020202020204" pitchFamily="34" charset="0"/>
              <a:buChar char="•"/>
            </a:pPr>
            <a:r>
              <a:rPr lang="fr-FR" sz="2200" dirty="0">
                <a:solidFill>
                  <a:srgbClr val="ECEEF3"/>
                </a:solidFill>
              </a:rPr>
              <a:t>Individuel. Sans document, sans IA, sans binôme</a:t>
            </a:r>
          </a:p>
          <a:p>
            <a:pPr>
              <a:spcBef>
                <a:spcPts val="600"/>
              </a:spcBef>
            </a:pPr>
            <a:r>
              <a:rPr lang="fr-FR" sz="2200" b="1" spc="60" dirty="0">
                <a:solidFill>
                  <a:srgbClr val="FFA53C"/>
                </a:solidFill>
              </a:rPr>
              <a:t>Ce qui est testé</a:t>
            </a:r>
          </a:p>
          <a:p>
            <a:r>
              <a:rPr lang="fr-FR" sz="2200" dirty="0">
                <a:solidFill>
                  <a:srgbClr val="ECEEF3"/>
                </a:solidFill>
              </a:rPr>
              <a:t>Les repères du projet : propriétés et records C#, asynchrone, commandes dotnet, paramètres des Minimal APIs, injection de dépendances, Blazor, FluentValidation, xUnit, gRPC et CORS.</a:t>
            </a:r>
          </a:p>
          <a:p>
            <a:pPr>
              <a:spcBef>
                <a:spcPts val="600"/>
              </a:spcBef>
            </a:pPr>
            <a:r>
              <a:rPr lang="fr-FR" sz="2200" b="1" spc="60" dirty="0">
                <a:solidFill>
                  <a:srgbClr val="FFA53C"/>
                </a:solidFill>
              </a:rPr>
              <a:t>Comment vous préparer</a:t>
            </a:r>
          </a:p>
          <a:p>
            <a:pPr marL="285750" indent="-285750">
              <a:buClr>
                <a:srgbClr val="FFA53C"/>
              </a:buClr>
              <a:buFont typeface="Arial" panose="020B0604020202020204" pitchFamily="34" charset="0"/>
              <a:buChar char="•"/>
            </a:pPr>
            <a:r>
              <a:rPr lang="fr-FR" sz="2200" dirty="0">
                <a:solidFill>
                  <a:srgbClr val="ECEEF3"/>
                </a:solidFill>
              </a:rPr>
              <a:t>Reliez chaque notion à un cas du projet : entrée, comportement, erreur possible et vérification.</a:t>
            </a:r>
          </a:p>
          <a:p>
            <a:pPr marL="285750" indent="-285750">
              <a:buClr>
                <a:srgbClr val="FFA53C"/>
              </a:buClr>
              <a:buFont typeface="Arial" panose="020B0604020202020204" pitchFamily="34" charset="0"/>
              <a:buChar char="•"/>
            </a:pPr>
            <a:r>
              <a:rPr lang="fr-FR" sz="2200" dirty="0">
                <a:solidFill>
                  <a:srgbClr val="ECEEF3"/>
                </a:solidFill>
              </a:rPr>
              <a:t>Expliquez-vous les choix et les corrections en binôme. Chaque membre doit maîtriser les notions mobilisées dans le projet.</a:t>
            </a:r>
          </a:p>
        </p:txBody>
      </p:sp>
      <p:cxnSp>
        <p:nvCxnSpPr>
          <p:cNvPr id="975" name="Accent titre"/>
          <p:cNvCxnSpPr/>
          <p:nvPr/>
        </p:nvCxnSpPr>
        <p:spPr>
          <a:xfrm>
            <a:off x="147535" y="894944"/>
            <a:ext cx="1100000" cy="0"/>
          </a:xfrm>
          <a:prstGeom prst="line">
            <a:avLst/>
          </a:prstGeom>
          <a:ln w="38100" cap="rnd">
            <a:solidFill>
              <a:srgbClr val="FFA53C"/>
            </a:solidFill>
          </a:ln>
        </p:spPr>
      </p:cxnSp>
      <p:sp>
        <p:nvSpPr>
          <p:cNvPr id="97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13</a:t>
            </a:r>
          </a:p>
        </p:txBody>
      </p:sp>
    </p:spTree>
    <p:extLst>
      <p:ext uri="{BB962C8B-B14F-4D97-AF65-F5344CB8AC3E}">
        <p14:creationId xmlns:p14="http://schemas.microsoft.com/office/powerpoint/2010/main" val="2899108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80"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7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VOUS PILOTEZ LE PROJET</a:t>
            </a:r>
          </a:p>
        </p:txBody>
      </p:sp>
      <p:cxnSp>
        <p:nvCxnSpPr>
          <p:cNvPr id="97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981" name="Accent titre"/>
          <p:cNvCxnSpPr/>
          <p:nvPr/>
        </p:nvCxnSpPr>
        <p:spPr>
          <a:xfrm>
            <a:off x="147535" y="894944"/>
            <a:ext cx="1100000" cy="0"/>
          </a:xfrm>
          <a:prstGeom prst="line">
            <a:avLst/>
          </a:prstGeom>
          <a:ln w="38100" cap="rnd">
            <a:solidFill>
              <a:srgbClr val="FFA53C"/>
            </a:solidFill>
          </a:ln>
        </p:spPr>
      </p:cxnSp>
      <p:sp>
        <p:nvSpPr>
          <p:cNvPr id="98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14</a:t>
            </a:r>
          </a:p>
        </p:txBody>
      </p:sp>
      <p:sp>
        <p:nvSpPr>
          <p:cNvPr id="983"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Une échéance, des contraintes, un projet à livrer</a:t>
            </a:r>
          </a:p>
          <a:p>
            <a:pPr marL="285750" indent="-285750">
              <a:lnSpc>
                <a:spcPts val="2352"/>
              </a:lnSpc>
              <a:spcBef>
                <a:spcPts val="0"/>
              </a:spcBef>
              <a:spcAft>
                <a:spcPts val="500"/>
              </a:spcAft>
              <a:buNone/>
            </a:pPr>
            <a:r>
              <a:rPr lang="fr-FR" sz="2100" b="0" dirty="0">
                <a:solidFill>
                  <a:srgbClr val="E5E7EB"/>
                </a:solidFill>
                <a:latin typeface="Aptos"/>
              </a:rPr>
              <a:t>Vous disposez de cinq jours, avant le QCM. Construisez un backlog ambitieux et cohérent à partir du socle.</a:t>
            </a:r>
          </a:p>
          <a:p>
            <a:pPr marL="285750" indent="-285750">
              <a:lnSpc>
                <a:spcPts val="2352"/>
              </a:lnSpc>
              <a:spcBef>
                <a:spcPts val="0"/>
              </a:spcBef>
              <a:spcAft>
                <a:spcPts val="500"/>
              </a:spcAft>
              <a:buNone/>
            </a:pPr>
            <a:r>
              <a:rPr lang="fr-FR" sz="2100" b="0" dirty="0">
                <a:solidFill>
                  <a:srgbClr val="E5E7EB"/>
                </a:solidFill>
                <a:latin typeface="Aptos"/>
              </a:rPr>
              <a:t>Définissez les tâches, les priorités, la répartition du travail et vos points de contrôle.</a:t>
            </a:r>
          </a:p>
          <a:p>
            <a:pPr marL="285750" indent="-285750">
              <a:lnSpc>
                <a:spcPts val="2352"/>
              </a:lnSpc>
              <a:spcBef>
                <a:spcPts val="0"/>
              </a:spcBef>
              <a:spcAft>
                <a:spcPts val="500"/>
              </a:spcAft>
              <a:buNone/>
            </a:pPr>
            <a:r>
              <a:rPr lang="fr-FR" sz="2100" b="0" dirty="0">
                <a:solidFill>
                  <a:srgbClr val="E5E7EB"/>
                </a:solidFill>
                <a:latin typeface="Aptos"/>
              </a:rPr>
              <a:t>Avec l’IA et les ressources disponibles, explorez les pistes du backlog et évaluez ce que vous pouvez livrer.</a:t>
            </a:r>
          </a:p>
          <a:p>
            <a:pPr marL="285750" indent="-285750">
              <a:lnSpc>
                <a:spcPts val="2352"/>
              </a:lnSpc>
              <a:spcBef>
                <a:spcPts val="0"/>
              </a:spcBef>
              <a:spcAft>
                <a:spcPts val="500"/>
              </a:spcAft>
              <a:buNone/>
            </a:pPr>
            <a:r>
              <a:rPr lang="fr-FR" sz="2100" b="0" dirty="0">
                <a:solidFill>
                  <a:srgbClr val="E5E7EB"/>
                </a:solidFill>
                <a:latin typeface="Aptos"/>
              </a:rPr>
              <a:t>Faites évoluer votre plan à partir de vos résultats, des risques et du temps disponible.</a:t>
            </a:r>
          </a:p>
          <a:p>
            <a:pPr marL="285750" indent="-285750">
              <a:lnSpc>
                <a:spcPts val="2352"/>
              </a:lnSpc>
              <a:spcBef>
                <a:spcPts val="0"/>
              </a:spcBef>
              <a:spcAft>
                <a:spcPts val="500"/>
              </a:spcAft>
              <a:buNone/>
            </a:pPr>
            <a:r>
              <a:rPr lang="fr-FR" sz="2100" b="1" dirty="0">
                <a:solidFill>
                  <a:srgbClr val="FFAD46"/>
                </a:solidFill>
                <a:latin typeface="Aptos"/>
              </a:rPr>
              <a:t>Des arbitrages à défendre</a:t>
            </a:r>
          </a:p>
          <a:p>
            <a:pPr marL="285750" indent="-285750">
              <a:lnSpc>
                <a:spcPts val="2352"/>
              </a:lnSpc>
              <a:spcBef>
                <a:spcPts val="0"/>
              </a:spcBef>
              <a:spcAft>
                <a:spcPts val="500"/>
              </a:spcAft>
              <a:buNone/>
            </a:pPr>
            <a:r>
              <a:rPr lang="fr-FR" sz="2100" b="0" dirty="0">
                <a:solidFill>
                  <a:srgbClr val="E5E7EB"/>
                </a:solidFill>
                <a:latin typeface="Aptos"/>
              </a:rPr>
              <a:t>Expliquez les fonctionnalités réalisées, les changements de priorité et les renoncements.</a:t>
            </a:r>
          </a:p>
          <a:p>
            <a:pPr marL="285750" indent="-285750">
              <a:lnSpc>
                <a:spcPts val="2352"/>
              </a:lnSpc>
              <a:spcBef>
                <a:spcPts val="0"/>
              </a:spcBef>
              <a:spcAft>
                <a:spcPts val="500"/>
              </a:spcAft>
              <a:buNone/>
            </a:pPr>
            <a:r>
              <a:rPr lang="fr-FR" sz="2100" b="0" dirty="0">
                <a:solidFill>
                  <a:srgbClr val="E5E7EB"/>
                </a:solidFill>
                <a:latin typeface="Aptos"/>
              </a:rPr>
              <a:t>Choisir un périmètre limité engage votre responsabilité. L’ambition et la qualité du résultat font partie de l’évaluation.</a:t>
            </a:r>
          </a:p>
        </p:txBody>
      </p:sp>
    </p:spTree>
    <p:extLst>
      <p:ext uri="{BB962C8B-B14F-4D97-AF65-F5344CB8AC3E}">
        <p14:creationId xmlns:p14="http://schemas.microsoft.com/office/powerpoint/2010/main" val="2899108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88"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83"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DÉMARREZ MAINTENANT</a:t>
            </a:r>
          </a:p>
        </p:txBody>
      </p:sp>
      <p:cxnSp>
        <p:nvCxnSpPr>
          <p:cNvPr id="984"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85" name="ZoneTexte"/>
          <p:cNvSpPr txBox="1"/>
          <p:nvPr/>
        </p:nvSpPr>
        <p:spPr>
          <a:xfrm>
            <a:off x="147535" y="1150000"/>
            <a:ext cx="11896927" cy="349250"/>
          </a:xfrm>
          <a:prstGeom prst="rect">
            <a:avLst/>
          </a:prstGeom>
          <a:noFill/>
        </p:spPr>
        <p:txBody>
          <a:bodyPr wrap="square" lIns="0" tIns="0" rIns="127000" bIns="0" rtlCol="0" anchor="t"/>
          <a:lstStyle/>
          <a:p>
            <a:r>
              <a:rPr lang="fr-FR" sz="2200" dirty="0">
                <a:solidFill>
                  <a:srgbClr val="ECEEF3"/>
                </a:solidFill>
              </a:rPr>
              <a:t>Dix minutes pour vérifier le démarrage. Installez les outils avant la séance.</a:t>
            </a:r>
          </a:p>
        </p:txBody>
      </p:sp>
      <p:sp>
        <p:nvSpPr>
          <p:cNvPr id="986" name="Bloc de code"/>
          <p:cNvSpPr/>
          <p:nvPr/>
        </p:nvSpPr>
        <p:spPr>
          <a:xfrm>
            <a:off x="147535" y="1649250"/>
            <a:ext cx="11896927" cy="375600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792"/>
              </a:lnSpc>
              <a:spcBef>
                <a:spcPts val="0"/>
              </a:spcBef>
              <a:spcAft>
                <a:spcPts val="0"/>
              </a:spcAft>
            </a:pPr>
            <a:r>
              <a:rPr lang="fr-FR" sz="1600" i="0" dirty="0">
                <a:solidFill>
                  <a:srgbClr val="DCE5F0"/>
                </a:solidFill>
                <a:latin typeface="Consolas" pitchFamily="49" charset="0"/>
              </a:rPr>
              <a:t>dotnet --version</a:t>
            </a:r>
          </a:p>
          <a:p>
            <a:pPr>
              <a:lnSpc>
                <a:spcPts val="1792"/>
              </a:lnSpc>
              <a:spcBef>
                <a:spcPts val="0"/>
              </a:spcBef>
              <a:spcAft>
                <a:spcPts val="0"/>
              </a:spcAft>
            </a:pPr>
            <a:endParaRPr lang="fr-FR" sz="1600" i="0" dirty="0">
              <a:solidFill>
                <a:srgbClr val="DCE5F0"/>
              </a:solidFill>
              <a:latin typeface="Consolas" pitchFamily="49" charset="0"/>
            </a:endParaRPr>
          </a:p>
          <a:p>
            <a:pPr marL="0">
              <a:lnSpc>
                <a:spcPts val="1792"/>
              </a:lnSpc>
              <a:spcBef>
                <a:spcPts val="0"/>
              </a:spcBef>
              <a:spcAft>
                <a:spcPts val="0"/>
              </a:spcAft>
            </a:pPr>
            <a:r>
              <a:rPr lang="fr-FR" sz="1600" i="0" dirty="0">
                <a:solidFill>
                  <a:srgbClr val="DCE5F0"/>
                </a:solidFill>
                <a:latin typeface="Consolas" pitchFamily="49" charset="0"/>
              </a:rPr>
              <a:t>dotnet new sln -n BattleShip</a:t>
            </a:r>
          </a:p>
          <a:p>
            <a:pPr marL="0">
              <a:lnSpc>
                <a:spcPts val="1792"/>
              </a:lnSpc>
              <a:spcBef>
                <a:spcPts val="0"/>
              </a:spcBef>
              <a:spcAft>
                <a:spcPts val="0"/>
              </a:spcAft>
            </a:pPr>
            <a:r>
              <a:rPr lang="fr-FR" sz="1600" i="0" dirty="0">
                <a:solidFill>
                  <a:srgbClr val="DCE5F0"/>
                </a:solidFill>
                <a:latin typeface="Consolas" pitchFamily="49" charset="0"/>
              </a:rPr>
              <a:t>dotnet new webapi     -n BattleShip.API</a:t>
            </a:r>
          </a:p>
          <a:p>
            <a:pPr marL="0">
              <a:lnSpc>
                <a:spcPts val="1792"/>
              </a:lnSpc>
              <a:spcBef>
                <a:spcPts val="0"/>
              </a:spcBef>
              <a:spcAft>
                <a:spcPts val="0"/>
              </a:spcAft>
            </a:pPr>
            <a:r>
              <a:rPr lang="fr-FR" sz="1600" i="0" dirty="0">
                <a:solidFill>
                  <a:srgbClr val="DCE5F0"/>
                </a:solidFill>
                <a:latin typeface="Consolas" pitchFamily="49" charset="0"/>
              </a:rPr>
              <a:t>dotnet new blazorwasm -n BattleShip.App</a:t>
            </a:r>
          </a:p>
          <a:p>
            <a:pPr marL="0">
              <a:lnSpc>
                <a:spcPts val="1792"/>
              </a:lnSpc>
              <a:spcBef>
                <a:spcPts val="0"/>
              </a:spcBef>
              <a:spcAft>
                <a:spcPts val="0"/>
              </a:spcAft>
            </a:pPr>
            <a:r>
              <a:rPr lang="fr-FR" sz="1600" i="0" dirty="0">
                <a:solidFill>
                  <a:srgbClr val="DCE5F0"/>
                </a:solidFill>
                <a:latin typeface="Consolas" pitchFamily="49" charset="0"/>
              </a:rPr>
              <a:t>dotnet new classlib   -n BattleShip.Models</a:t>
            </a:r>
          </a:p>
          <a:p>
            <a:pPr marL="0">
              <a:lnSpc>
                <a:spcPts val="1792"/>
              </a:lnSpc>
              <a:spcBef>
                <a:spcPts val="0"/>
              </a:spcBef>
              <a:spcAft>
                <a:spcPts val="0"/>
              </a:spcAft>
            </a:pPr>
            <a:r>
              <a:rPr lang="fr-FR" sz="1600" i="0" dirty="0">
                <a:solidFill>
                  <a:srgbClr val="DCE5F0"/>
                </a:solidFill>
                <a:latin typeface="Consolas" pitchFamily="49" charset="0"/>
              </a:rPr>
              <a:t>dotnet new xunit      -n BattleShip.Tests</a:t>
            </a:r>
          </a:p>
          <a:p>
            <a:pPr>
              <a:lnSpc>
                <a:spcPts val="1792"/>
              </a:lnSpc>
              <a:spcBef>
                <a:spcPts val="0"/>
              </a:spcBef>
              <a:spcAft>
                <a:spcPts val="0"/>
              </a:spcAft>
            </a:pPr>
            <a:endParaRPr lang="fr-FR" sz="1600" i="0" dirty="0">
              <a:solidFill>
                <a:srgbClr val="DCE5F0"/>
              </a:solidFill>
              <a:latin typeface="Consolas" pitchFamily="49" charset="0"/>
            </a:endParaRPr>
          </a:p>
          <a:p>
            <a:pPr marL="0">
              <a:lnSpc>
                <a:spcPts val="1792"/>
              </a:lnSpc>
              <a:spcBef>
                <a:spcPts val="0"/>
              </a:spcBef>
              <a:spcAft>
                <a:spcPts val="0"/>
              </a:spcAft>
            </a:pPr>
            <a:r>
              <a:rPr lang="fr-FR" sz="1600" i="0" dirty="0">
                <a:solidFill>
                  <a:srgbClr val="DCE5F0"/>
                </a:solidFill>
                <a:latin typeface="Consolas" pitchFamily="49" charset="0"/>
              </a:rPr>
              <a:t>dotnet sln add BattleShip.API BattleShip.App BattleShip.Models BattleShip.Tests</a:t>
            </a:r>
          </a:p>
          <a:p>
            <a:pPr marL="0">
              <a:lnSpc>
                <a:spcPts val="1792"/>
              </a:lnSpc>
              <a:spcBef>
                <a:spcPts val="0"/>
              </a:spcBef>
              <a:spcAft>
                <a:spcPts val="0"/>
              </a:spcAft>
            </a:pPr>
            <a:r>
              <a:rPr lang="fr-FR" sz="1600" i="0" dirty="0">
                <a:solidFill>
                  <a:srgbClr val="DCE5F0"/>
                </a:solidFill>
                <a:latin typeface="Consolas" pitchFamily="49" charset="0"/>
              </a:rPr>
              <a:t>dotnet add BattleShip.API   reference BattleShip.Models</a:t>
            </a:r>
          </a:p>
          <a:p>
            <a:pPr marL="0">
              <a:lnSpc>
                <a:spcPts val="1792"/>
              </a:lnSpc>
              <a:spcBef>
                <a:spcPts val="0"/>
              </a:spcBef>
              <a:spcAft>
                <a:spcPts val="0"/>
              </a:spcAft>
            </a:pPr>
            <a:r>
              <a:rPr lang="fr-FR" sz="1600" i="0" dirty="0">
                <a:solidFill>
                  <a:srgbClr val="DCE5F0"/>
                </a:solidFill>
                <a:latin typeface="Consolas" pitchFamily="49" charset="0"/>
              </a:rPr>
              <a:t>dotnet add BattleShip.App   reference BattleShip.Models</a:t>
            </a:r>
          </a:p>
          <a:p>
            <a:pPr marL="0">
              <a:lnSpc>
                <a:spcPts val="1792"/>
              </a:lnSpc>
              <a:spcBef>
                <a:spcPts val="0"/>
              </a:spcBef>
              <a:spcAft>
                <a:spcPts val="0"/>
              </a:spcAft>
            </a:pPr>
            <a:r>
              <a:rPr lang="fr-FR" sz="1600" i="0" dirty="0">
                <a:solidFill>
                  <a:srgbClr val="DCE5F0"/>
                </a:solidFill>
                <a:latin typeface="Consolas" pitchFamily="49" charset="0"/>
              </a:rPr>
              <a:t>dotnet add BattleShip.Tests reference BattleShip.API</a:t>
            </a:r>
          </a:p>
          <a:p>
            <a:pPr>
              <a:lnSpc>
                <a:spcPts val="1792"/>
              </a:lnSpc>
              <a:spcBef>
                <a:spcPts val="0"/>
              </a:spcBef>
              <a:spcAft>
                <a:spcPts val="0"/>
              </a:spcAft>
            </a:pPr>
            <a:endParaRPr lang="fr-FR" sz="1600" i="0" dirty="0">
              <a:solidFill>
                <a:srgbClr val="DCE5F0"/>
              </a:solidFill>
              <a:latin typeface="Consolas" pitchFamily="49" charset="0"/>
            </a:endParaRPr>
          </a:p>
          <a:p>
            <a:pPr marL="0">
              <a:lnSpc>
                <a:spcPts val="1792"/>
              </a:lnSpc>
              <a:spcBef>
                <a:spcPts val="0"/>
              </a:spcBef>
              <a:spcAft>
                <a:spcPts val="0"/>
              </a:spcAft>
            </a:pPr>
            <a:r>
              <a:rPr lang="fr-FR" sz="1600" i="0" dirty="0">
                <a:solidFill>
                  <a:srgbClr val="DCE5F0"/>
                </a:solidFill>
                <a:latin typeface="Consolas" pitchFamily="49" charset="0"/>
              </a:rPr>
              <a:t>dotnet build</a:t>
            </a:r>
          </a:p>
          <a:p>
            <a:pPr marL="0">
              <a:lnSpc>
                <a:spcPts val="1792"/>
              </a:lnSpc>
              <a:spcBef>
                <a:spcPts val="0"/>
              </a:spcBef>
              <a:spcAft>
                <a:spcPts val="0"/>
              </a:spcAft>
            </a:pPr>
            <a:r>
              <a:rPr lang="fr-FR" sz="1600" i="0" dirty="0">
                <a:solidFill>
                  <a:srgbClr val="DCE5F0"/>
                </a:solidFill>
                <a:latin typeface="Consolas" pitchFamily="49" charset="0"/>
              </a:rPr>
              <a:t>dotnet test</a:t>
            </a:r>
          </a:p>
        </p:txBody>
      </p:sp>
      <p:sp>
        <p:nvSpPr>
          <p:cNvPr id="987" name="ZoneTexte"/>
          <p:cNvSpPr txBox="1"/>
          <p:nvPr/>
        </p:nvSpPr>
        <p:spPr>
          <a:xfrm>
            <a:off x="147535" y="5555250"/>
            <a:ext cx="11896927" cy="1047750"/>
          </a:xfrm>
          <a:prstGeom prst="rect">
            <a:avLst/>
          </a:prstGeom>
          <a:noFill/>
        </p:spPr>
        <p:txBody>
          <a:bodyPr wrap="square" lIns="0" tIns="0" rIns="127000" bIns="0" rtlCol="0" anchor="t"/>
          <a:lstStyle/>
          <a:p>
            <a:pPr marL="285750" indent="-285750">
              <a:buClr>
                <a:srgbClr val="FFA53C"/>
              </a:buClr>
              <a:buFont typeface="Arial" panose="020B0604020202020204" pitchFamily="34" charset="0"/>
              <a:buChar char="•"/>
            </a:pPr>
            <a:r>
              <a:rPr lang="fr-FR" sz="2000" dirty="0">
                <a:solidFill>
                  <a:srgbClr val="ECEEF3"/>
                </a:solidFill>
              </a:rPr>
              <a:t>Vérifiez compilation et tests.</a:t>
            </a:r>
          </a:p>
          <a:p>
            <a:pPr marL="285750" indent="-285750">
              <a:buClr>
                <a:srgbClr val="FFA53C"/>
              </a:buClr>
              <a:buFont typeface="Arial" panose="020B0604020202020204" pitchFamily="34" charset="0"/>
              <a:buChar char="•"/>
            </a:pPr>
            <a:r>
              <a:rPr lang="fr-FR" sz="2000" dirty="0">
                <a:solidFill>
                  <a:srgbClr val="ECEEF3"/>
                </a:solidFill>
              </a:rPr>
              <a:t>Créez le dépôt avec un .gitignore .NET et faites le premier commit</a:t>
            </a:r>
          </a:p>
        </p:txBody>
      </p:sp>
      <p:cxnSp>
        <p:nvCxnSpPr>
          <p:cNvPr id="989" name="Accent titre"/>
          <p:cNvCxnSpPr/>
          <p:nvPr/>
        </p:nvCxnSpPr>
        <p:spPr>
          <a:xfrm>
            <a:off x="147535" y="894944"/>
            <a:ext cx="1100000" cy="0"/>
          </a:xfrm>
          <a:prstGeom prst="line">
            <a:avLst/>
          </a:prstGeom>
          <a:ln w="38100" cap="rnd">
            <a:solidFill>
              <a:srgbClr val="FFA53C"/>
            </a:solidFill>
          </a:ln>
        </p:spPr>
      </p:cxnSp>
      <p:sp>
        <p:nvSpPr>
          <p:cNvPr id="99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15</a:t>
            </a:r>
          </a:p>
        </p:txBody>
      </p:sp>
    </p:spTree>
    <p:extLst>
      <p:ext uri="{BB962C8B-B14F-4D97-AF65-F5344CB8AC3E}">
        <p14:creationId xmlns:p14="http://schemas.microsoft.com/office/powerpoint/2010/main" val="2899108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994" name="Chapo"/>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PRÉSENTATION</a:t>
            </a:r>
          </a:p>
        </p:txBody>
      </p:sp>
      <p:sp>
        <p:nvSpPr>
          <p:cNvPr id="99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COMMENT UTILISER LA SUITE</a:t>
            </a:r>
          </a:p>
        </p:txBody>
      </p:sp>
      <p:cxnSp>
        <p:nvCxnSpPr>
          <p:cNvPr id="99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993" name="ZoneTexte"/>
          <p:cNvSpPr txBox="1"/>
          <p:nvPr/>
        </p:nvSpPr>
        <p:spPr>
          <a:xfrm>
            <a:off x="147535" y="1150000"/>
            <a:ext cx="11896927" cy="5166360"/>
          </a:xfrm>
          <a:prstGeom prst="rect">
            <a:avLst/>
          </a:prstGeom>
          <a:noFill/>
        </p:spPr>
        <p:txBody>
          <a:bodyPr wrap="square" lIns="0" tIns="0" rIns="127000" bIns="0" rtlCol="0" anchor="t"/>
          <a:lstStyle/>
          <a:p>
            <a:r>
              <a:rPr lang="fr-FR" sz="2200" dirty="0">
                <a:solidFill>
                  <a:srgbClr val="ECEEF3"/>
                </a:solidFill>
              </a:rPr>
              <a:t>Le référentiel présente les outils avec des exemples génériques. À vous de les appliquer au projet. Les six liens ci-dessous sont cliquables.</a:t>
            </a:r>
          </a:p>
          <a:p>
            <a:pPr>
              <a:spcBef>
                <a:spcPts val="600"/>
              </a:spcBef>
            </a:pPr>
            <a:r>
              <a:rPr lang="fr-FR" sz="2200" b="1" spc="60" dirty="0">
                <a:solidFill>
                  <a:srgbClr val="FFA53C"/>
                </a:solidFill>
              </a:rPr>
              <a:t>Les six parties</a:t>
            </a:r>
          </a:p>
          <a:p>
            <a:pPr marL="285750" indent="-285750">
              <a:buClr>
                <a:srgbClr val="FFA53C"/>
              </a:buClr>
              <a:buFont typeface="Arial" panose="020B0604020202020204" pitchFamily="34" charset="0"/>
              <a:buChar char="•"/>
            </a:pPr>
            <a:r>
              <a:rPr lang="fr-FR" sz="2200" dirty="0">
                <a:solidFill>
                  <a:srgbClr val="80D8FF"/>
                </a:solidFill>
                <a:hlinkClick r:id="rId2" action="ppaction://hlinksldjump"/>
              </a:rPr>
              <a:t>01 : S’équiper et démarrer, diapo 18</a:t>
            </a:r>
          </a:p>
          <a:p>
            <a:pPr marL="285750" indent="-285750">
              <a:buClr>
                <a:srgbClr val="FFA53C"/>
              </a:buClr>
              <a:buFont typeface="Arial" panose="020B0604020202020204" pitchFamily="34" charset="0"/>
              <a:buChar char="•"/>
            </a:pPr>
            <a:r>
              <a:rPr lang="fr-FR" sz="2200" dirty="0">
                <a:solidFill>
                  <a:srgbClr val="80D8FF"/>
                </a:solidFill>
                <a:hlinkClick r:id="rId3" action="ppaction://hlinksldjump"/>
              </a:rPr>
              <a:t>02 : API, contrats, tests et validation, diapo 30</a:t>
            </a:r>
          </a:p>
          <a:p>
            <a:pPr marL="285750" indent="-285750">
              <a:buClr>
                <a:srgbClr val="FFA53C"/>
              </a:buClr>
              <a:buFont typeface="Arial" panose="020B0604020202020204" pitchFamily="34" charset="0"/>
              <a:buChar char="•"/>
            </a:pPr>
            <a:r>
              <a:rPr lang="fr-FR" sz="2200" dirty="0">
                <a:solidFill>
                  <a:srgbClr val="80D8FF"/>
                </a:solidFill>
                <a:hlinkClick r:id="rId4" action="ppaction://hlinksldjump"/>
              </a:rPr>
              <a:t>03 : Blazor, HTTP et CORS, diapo 41</a:t>
            </a:r>
          </a:p>
          <a:p>
            <a:pPr marL="285750" indent="-285750">
              <a:buClr>
                <a:srgbClr val="FFA53C"/>
              </a:buClr>
              <a:buFont typeface="Arial" panose="020B0604020202020204" pitchFamily="34" charset="0"/>
              <a:buChar char="•"/>
            </a:pPr>
            <a:r>
              <a:rPr lang="fr-FR" sz="2200" dirty="0">
                <a:solidFill>
                  <a:srgbClr val="80D8FF"/>
                </a:solidFill>
                <a:hlinkClick r:id="rId5" action="ppaction://hlinksldjump"/>
              </a:rPr>
              <a:t>04 : gRPC et gRPC-Web, diapo 47</a:t>
            </a:r>
          </a:p>
          <a:p>
            <a:pPr marL="285750" indent="-285750">
              <a:buClr>
                <a:srgbClr val="FFA53C"/>
              </a:buClr>
              <a:buFont typeface="Arial" panose="020B0604020202020204" pitchFamily="34" charset="0"/>
              <a:buChar char="•"/>
            </a:pPr>
            <a:r>
              <a:rPr lang="fr-FR" sz="2200" dirty="0">
                <a:solidFill>
                  <a:srgbClr val="80D8FF"/>
                </a:solidFill>
                <a:hlinkClick r:id="rId6" action="ppaction://hlinksldjump"/>
              </a:rPr>
              <a:t>05 : Utiliser l’IA et tracer les décisions, diapo 53</a:t>
            </a:r>
          </a:p>
          <a:p>
            <a:pPr marL="285750" indent="-285750">
              <a:buClr>
                <a:srgbClr val="FFA53C"/>
              </a:buClr>
              <a:buFont typeface="Arial" panose="020B0604020202020204" pitchFamily="34" charset="0"/>
              <a:buChar char="•"/>
            </a:pPr>
            <a:r>
              <a:rPr lang="fr-FR" sz="2200" dirty="0">
                <a:solidFill>
                  <a:srgbClr val="80D8FF"/>
                </a:solidFill>
                <a:hlinkClick r:id="rId7" action="ppaction://hlinksldjump"/>
              </a:rPr>
              <a:t>06 : Backlog, évaluation et remise, diapo 59</a:t>
            </a:r>
          </a:p>
          <a:p>
            <a:pPr>
              <a:spcBef>
                <a:spcPts val="600"/>
              </a:spcBef>
            </a:pPr>
            <a:r>
              <a:rPr lang="fr-FR" sz="2200" b="1" spc="60" dirty="0">
                <a:solidFill>
                  <a:srgbClr val="FFA53C"/>
                </a:solidFill>
              </a:rPr>
              <a:t>Vous orienter</a:t>
            </a:r>
          </a:p>
          <a:p>
            <a:pPr marL="285750" indent="-285750">
              <a:buClr>
                <a:srgbClr val="FFA53C"/>
              </a:buClr>
              <a:buFont typeface="Arial" panose="020B0604020202020204" pitchFamily="34" charset="0"/>
              <a:buChar char="•"/>
            </a:pPr>
            <a:r>
              <a:rPr lang="fr-FR" sz="2200" dirty="0">
                <a:solidFill>
                  <a:srgbClr val="ECEEF3"/>
                </a:solidFill>
              </a:rPr>
              <a:t>Diagnostic de blocage : diapo 22. Construire vos vérifications : diapos 54–55.</a:t>
            </a:r>
          </a:p>
          <a:p>
            <a:pPr marL="285750" indent="-285750">
              <a:buClr>
                <a:srgbClr val="FFA53C"/>
              </a:buClr>
              <a:buFont typeface="Arial" panose="020B0604020202020204" pitchFamily="34" charset="0"/>
              <a:buChar char="•"/>
            </a:pPr>
            <a:r>
              <a:rPr lang="fr-FR" sz="2200" dirty="0">
                <a:solidFill>
                  <a:srgbClr val="ECEEF3"/>
                </a:solidFill>
              </a:rPr>
              <a:t>Copiez les gabarits du dossier « Ressources Bataille Navale ». Le bandeau en haut de chaque page ramène à ce sommaire.</a:t>
            </a:r>
          </a:p>
        </p:txBody>
      </p:sp>
      <p:cxnSp>
        <p:nvCxnSpPr>
          <p:cNvPr id="995" name="Accent titre"/>
          <p:cNvCxnSpPr/>
          <p:nvPr/>
        </p:nvCxnSpPr>
        <p:spPr>
          <a:xfrm>
            <a:off x="147535" y="894944"/>
            <a:ext cx="1100000" cy="0"/>
          </a:xfrm>
          <a:prstGeom prst="line">
            <a:avLst/>
          </a:prstGeom>
          <a:ln w="38100" cap="rnd">
            <a:solidFill>
              <a:srgbClr val="FFA53C"/>
            </a:solidFill>
          </a:ln>
        </p:spPr>
      </p:cxnSp>
      <p:sp>
        <p:nvSpPr>
          <p:cNvPr id="99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16</a:t>
            </a:r>
          </a:p>
        </p:txBody>
      </p:sp>
    </p:spTree>
    <p:extLst>
      <p:ext uri="{BB962C8B-B14F-4D97-AF65-F5344CB8AC3E}">
        <p14:creationId xmlns:p14="http://schemas.microsoft.com/office/powerpoint/2010/main" val="289910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cxnSp>
        <p:nvCxnSpPr>
          <p:cNvPr id="999" name="Filet section">
            <a:hlinkClick r:id="rId2" action="ppaction://hlinksldjump"/>
          </p:cNvPr>
          <p:cNvCxnSpPr/>
          <p:nvPr/>
        </p:nvCxnSpPr>
        <p:spPr>
          <a:xfrm>
            <a:off x="147535" y="2700000"/>
            <a:ext cx="900000" cy="0"/>
          </a:xfrm>
          <a:prstGeom prst="line">
            <a:avLst/>
          </a:prstGeom>
          <a:ln w="50800" cap="rnd">
            <a:solidFill>
              <a:srgbClr val="FFA53C"/>
            </a:solidFill>
          </a:ln>
        </p:spPr>
      </p:cxnSp>
      <p:sp>
        <p:nvSpPr>
          <p:cNvPr id="1000" name="Section titre"/>
          <p:cNvSpPr txBox="1"/>
          <p:nvPr/>
        </p:nvSpPr>
        <p:spPr>
          <a:xfrm>
            <a:off x="147535" y="2980000"/>
            <a:ext cx="10900000" cy="1000000"/>
          </a:xfrm>
          <a:prstGeom prst="rect">
            <a:avLst/>
          </a:prstGeom>
          <a:noFill/>
        </p:spPr>
        <p:txBody>
          <a:bodyPr wrap="square" lIns="0" tIns="0" rIns="127000" bIns="0" rtlCol="0" anchor="t"/>
          <a:lstStyle/>
          <a:p>
            <a:r>
              <a:rPr lang="fr-FR" sz="5400" spc="60" dirty="0">
                <a:solidFill>
                  <a:srgbClr val="FFFFFF"/>
                </a:solidFill>
                <a:latin typeface="Segoe UI Semibold"/>
              </a:rPr>
              <a:t>LE RÉFÉRENTIEL</a:t>
            </a:r>
          </a:p>
        </p:txBody>
      </p:sp>
      <p:sp>
        <p:nvSpPr>
          <p:cNvPr id="1001" name="Section sous-titre"/>
          <p:cNvSpPr txBox="1"/>
          <p:nvPr/>
        </p:nvSpPr>
        <p:spPr>
          <a:xfrm>
            <a:off x="147535" y="4080000"/>
            <a:ext cx="10900000" cy="900000"/>
          </a:xfrm>
          <a:prstGeom prst="rect">
            <a:avLst/>
          </a:prstGeom>
          <a:noFill/>
        </p:spPr>
        <p:txBody>
          <a:bodyPr wrap="square" lIns="0" tIns="0" rIns="127000" bIns="0" rtlCol="0" anchor="t"/>
          <a:lstStyle/>
          <a:p>
            <a:r>
              <a:rPr lang="fr-FR" sz="2000" dirty="0">
                <a:solidFill>
                  <a:srgbClr val="7A808F"/>
                </a:solidFill>
                <a:latin typeface="Segoe UI"/>
              </a:rPr>
              <a:t>À partir d’ici, le document se consulte. Il ne se projette pas.</a:t>
            </a:r>
          </a:p>
        </p:txBody>
      </p:sp>
      <p:sp>
        <p:nvSpPr>
          <p:cNvPr id="100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17</a:t>
            </a:r>
          </a:p>
        </p:txBody>
      </p:sp>
    </p:spTree>
    <p:extLst>
      <p:ext uri="{BB962C8B-B14F-4D97-AF65-F5344CB8AC3E}">
        <p14:creationId xmlns:p14="http://schemas.microsoft.com/office/powerpoint/2010/main" val="2899108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05" name="Numero section">
            <a:hlinkClick r:id="rId2" action="ppaction://hlinksldjump"/>
          </p:cNvPr>
          <p:cNvSpPr txBox="1"/>
          <p:nvPr/>
        </p:nvSpPr>
        <p:spPr>
          <a:xfrm>
            <a:off x="147535" y="1850000"/>
            <a:ext cx="4000000" cy="1868872"/>
          </a:xfrm>
          <a:prstGeom prst="rect">
            <a:avLst/>
          </a:prstGeom>
          <a:noFill/>
        </p:spPr>
        <p:txBody>
          <a:bodyPr wrap="square" lIns="0" tIns="0" rIns="127000" bIns="0" rtlCol="0" anchor="t"/>
          <a:lstStyle/>
          <a:p>
            <a:r>
              <a:rPr lang="fr-FR" sz="12000" spc="-100" dirty="0">
                <a:solidFill>
                  <a:srgbClr val="FFA53C"/>
                </a:solidFill>
                <a:latin typeface="Segoe UI Semibold"/>
              </a:rPr>
              <a:t>01</a:t>
            </a:r>
          </a:p>
        </p:txBody>
      </p:sp>
      <p:cxnSp>
        <p:nvCxnSpPr>
          <p:cNvPr id="1006" name="Filet section"/>
          <p:cNvCxnSpPr/>
          <p:nvPr/>
        </p:nvCxnSpPr>
        <p:spPr>
          <a:xfrm>
            <a:off x="147535" y="3700000"/>
            <a:ext cx="900000" cy="0"/>
          </a:xfrm>
          <a:prstGeom prst="line">
            <a:avLst/>
          </a:prstGeom>
          <a:ln w="50800" cap="rnd">
            <a:solidFill>
              <a:srgbClr val="FFA53C"/>
            </a:solidFill>
          </a:ln>
        </p:spPr>
      </p:cxnSp>
      <p:sp>
        <p:nvSpPr>
          <p:cNvPr id="1007" name="Section titre"/>
          <p:cNvSpPr txBox="1"/>
          <p:nvPr/>
        </p:nvSpPr>
        <p:spPr>
          <a:xfrm>
            <a:off x="147535" y="4040000"/>
            <a:ext cx="10900000" cy="800000"/>
          </a:xfrm>
          <a:prstGeom prst="rect">
            <a:avLst/>
          </a:prstGeom>
          <a:noFill/>
        </p:spPr>
        <p:txBody>
          <a:bodyPr wrap="square" lIns="0" tIns="0" rIns="127000" bIns="0" rtlCol="0" anchor="t"/>
          <a:lstStyle/>
          <a:p>
            <a:r>
              <a:rPr lang="fr-FR" sz="4400" spc="60" dirty="0">
                <a:solidFill>
                  <a:srgbClr val="FFFFFF"/>
                </a:solidFill>
                <a:latin typeface="Segoe UI Semibold"/>
              </a:rPr>
              <a:t>S’ÉQUIPER ET DÉMARRER</a:t>
            </a:r>
          </a:p>
        </p:txBody>
      </p:sp>
      <p:sp>
        <p:nvSpPr>
          <p:cNvPr id="1008" name="Section sous-titre"/>
          <p:cNvSpPr txBox="1"/>
          <p:nvPr/>
        </p:nvSpPr>
        <p:spPr>
          <a:xfrm>
            <a:off x="147535" y="4940000"/>
            <a:ext cx="10900000" cy="500000"/>
          </a:xfrm>
          <a:prstGeom prst="rect">
            <a:avLst/>
          </a:prstGeom>
          <a:noFill/>
        </p:spPr>
        <p:txBody>
          <a:bodyPr wrap="square" lIns="0" tIns="0" rIns="127000" bIns="0" rtlCol="0" anchor="t"/>
          <a:lstStyle/>
          <a:p>
            <a:r>
              <a:rPr lang="fr-FR" sz="1800" dirty="0">
                <a:solidFill>
                  <a:srgbClr val="7A808F"/>
                </a:solidFill>
                <a:latin typeface="Segoe UI"/>
              </a:rPr>
              <a:t>SDK, IDE, CLI, déblocage, et le C# essentiel</a:t>
            </a:r>
          </a:p>
        </p:txBody>
      </p:sp>
      <p:sp>
        <p:nvSpPr>
          <p:cNvPr id="100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18</a:t>
            </a:r>
          </a:p>
        </p:txBody>
      </p:sp>
    </p:spTree>
    <p:extLst>
      <p:ext uri="{BB962C8B-B14F-4D97-AF65-F5344CB8AC3E}">
        <p14:creationId xmlns:p14="http://schemas.microsoft.com/office/powerpoint/2010/main" val="2899108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16"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1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INSTALLER SON ENVIRONNEMENT</a:t>
            </a:r>
          </a:p>
        </p:txBody>
      </p:sp>
      <p:cxnSp>
        <p:nvCxnSpPr>
          <p:cNvPr id="101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12" name="ZoneTexte"/>
          <p:cNvSpPr txBox="1"/>
          <p:nvPr/>
        </p:nvSpPr>
        <p:spPr>
          <a:xfrm>
            <a:off x="147535" y="1150000"/>
            <a:ext cx="11896927" cy="1047750"/>
          </a:xfrm>
          <a:prstGeom prst="rect">
            <a:avLst/>
          </a:prstGeom>
          <a:noFill/>
        </p:spPr>
        <p:txBody>
          <a:bodyPr wrap="square" lIns="0" tIns="0" rIns="127000" bIns="0" rtlCol="0" anchor="t"/>
          <a:lstStyle/>
          <a:p>
            <a:pPr>
              <a:spcBef>
                <a:spcPts val="600"/>
              </a:spcBef>
            </a:pPr>
            <a:r>
              <a:rPr lang="fr-FR" sz="2000" b="1" spc="60" dirty="0">
                <a:solidFill>
                  <a:srgbClr val="FFA53C"/>
                </a:solidFill>
              </a:rPr>
              <a:t>1. Le SDK .NET 10</a:t>
            </a:r>
          </a:p>
          <a:p>
            <a:pPr marL="285750" indent="-285750">
              <a:buClr>
                <a:srgbClr val="FFA53C"/>
              </a:buClr>
              <a:buFont typeface="Arial" panose="020B0604020202020204" pitchFamily="34" charset="0"/>
              <a:buChar char="•"/>
            </a:pPr>
            <a:r>
              <a:rPr lang="fr-FR" sz="2000" dirty="0">
                <a:solidFill>
                  <a:srgbClr val="ECEEF3"/>
                </a:solidFill>
              </a:rPr>
              <a:t>Téléchargez le SDK .NET 10 (LTS) sur dotnet.microsoft.com/download. Le SDK contient le compilateur, les bibliothèques et la CLI ; le runtime seul ne suffit pas pour développer.</a:t>
            </a:r>
          </a:p>
        </p:txBody>
      </p:sp>
      <p:sp>
        <p:nvSpPr>
          <p:cNvPr id="1013" name="Bloc de code"/>
          <p:cNvSpPr/>
          <p:nvPr/>
        </p:nvSpPr>
        <p:spPr>
          <a:xfrm>
            <a:off x="147535" y="2347750"/>
            <a:ext cx="11896927" cy="70800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792"/>
              </a:lnSpc>
              <a:spcBef>
                <a:spcPts val="0"/>
              </a:spcBef>
              <a:spcAft>
                <a:spcPts val="0"/>
              </a:spcAft>
            </a:pPr>
            <a:r>
              <a:rPr lang="fr-FR" sz="1600" i="0" dirty="0">
                <a:solidFill>
                  <a:srgbClr val="DCE5F0"/>
                </a:solidFill>
                <a:latin typeface="Consolas" pitchFamily="49" charset="0"/>
              </a:rPr>
              <a:t>dotnet --info          # tout : SDK, runtimes, architecture</a:t>
            </a:r>
          </a:p>
          <a:p>
            <a:pPr marL="0">
              <a:lnSpc>
                <a:spcPts val="1792"/>
              </a:lnSpc>
              <a:spcBef>
                <a:spcPts val="0"/>
              </a:spcBef>
              <a:spcAft>
                <a:spcPts val="0"/>
              </a:spcAft>
            </a:pPr>
            <a:r>
              <a:rPr lang="fr-FR" sz="1600" i="0" dirty="0">
                <a:solidFill>
                  <a:srgbClr val="DCE5F0"/>
                </a:solidFill>
                <a:latin typeface="Consolas" pitchFamily="49" charset="0"/>
              </a:rPr>
              <a:t>dotnet --version      # 10.x depuis le dossier contenant global.json</a:t>
            </a:r>
          </a:p>
        </p:txBody>
      </p:sp>
      <p:sp>
        <p:nvSpPr>
          <p:cNvPr id="1014" name="ZoneTexte"/>
          <p:cNvSpPr txBox="1"/>
          <p:nvPr/>
        </p:nvSpPr>
        <p:spPr>
          <a:xfrm>
            <a:off x="147535" y="3205750"/>
            <a:ext cx="11896927" cy="1778000"/>
          </a:xfrm>
          <a:prstGeom prst="rect">
            <a:avLst/>
          </a:prstGeom>
          <a:noFill/>
        </p:spPr>
        <p:txBody>
          <a:bodyPr wrap="square" lIns="0" tIns="0" rIns="127000" bIns="0" rtlCol="0" anchor="t"/>
          <a:lstStyle/>
          <a:p>
            <a:pPr>
              <a:spcBef>
                <a:spcPts val="600"/>
              </a:spcBef>
            </a:pPr>
            <a:r>
              <a:rPr lang="fr-FR" sz="2000" b="1" spc="60" dirty="0">
                <a:solidFill>
                  <a:srgbClr val="FFA53C"/>
                </a:solidFill>
              </a:rPr>
              <a:t>2. L’IDE</a:t>
            </a:r>
          </a:p>
          <a:p>
            <a:pPr marL="285750" indent="-285750">
              <a:buClr>
                <a:srgbClr val="FFA53C"/>
              </a:buClr>
              <a:buFont typeface="Arial" panose="020B0604020202020204" pitchFamily="34" charset="0"/>
              <a:buChar char="•"/>
            </a:pPr>
            <a:r>
              <a:rPr lang="fr-FR" sz="2000" dirty="0">
                <a:solidFill>
                  <a:srgbClr val="ECEEF3"/>
                </a:solidFill>
              </a:rPr>
              <a:t>JetBrains Rider : recommandé ici, multiplateforme, gratuit pour les étudiants.</a:t>
            </a:r>
          </a:p>
          <a:p>
            <a:pPr marL="285750" indent="-285750">
              <a:buClr>
                <a:srgbClr val="FFA53C"/>
              </a:buClr>
              <a:buFont typeface="Arial" panose="020B0604020202020204" pitchFamily="34" charset="0"/>
              <a:buChar char="•"/>
            </a:pPr>
            <a:r>
              <a:rPr lang="fr-FR" sz="2000" dirty="0">
                <a:solidFill>
                  <a:srgbClr val="ECEEF3"/>
                </a:solidFill>
              </a:rPr>
              <a:t>Visual Studio 2026 18.0+ sous Windows, ou VS Code avec C# Dev Kit, conviennent aussi.</a:t>
            </a:r>
          </a:p>
          <a:p>
            <a:pPr>
              <a:spcBef>
                <a:spcPts val="600"/>
              </a:spcBef>
            </a:pPr>
            <a:r>
              <a:rPr lang="fr-FR" sz="2000" b="1" spc="60" dirty="0">
                <a:solidFill>
                  <a:srgbClr val="FFA53C"/>
                </a:solidFill>
              </a:rPr>
              <a:t>3. Git</a:t>
            </a:r>
          </a:p>
          <a:p>
            <a:pPr marL="285750" indent="-285750">
              <a:buClr>
                <a:srgbClr val="FFA53C"/>
              </a:buClr>
              <a:buFont typeface="Arial" panose="020B0604020202020204" pitchFamily="34" charset="0"/>
              <a:buChar char="•"/>
            </a:pPr>
            <a:r>
              <a:rPr lang="fr-FR" sz="2000" dirty="0">
                <a:solidFill>
                  <a:srgbClr val="ECEEF3"/>
                </a:solidFill>
              </a:rPr>
              <a:t>Indispensable : votre historique de commits fait partie de la note.</a:t>
            </a:r>
          </a:p>
        </p:txBody>
      </p:sp>
      <p:sp>
        <p:nvSpPr>
          <p:cNvPr id="1015" name="Bloc de code"/>
          <p:cNvSpPr/>
          <p:nvPr/>
        </p:nvSpPr>
        <p:spPr>
          <a:xfrm>
            <a:off x="147535" y="5133750"/>
            <a:ext cx="11896927" cy="70800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792"/>
              </a:lnSpc>
              <a:spcBef>
                <a:spcPts val="0"/>
              </a:spcBef>
              <a:spcAft>
                <a:spcPts val="0"/>
              </a:spcAft>
            </a:pPr>
            <a:r>
              <a:rPr lang="fr-FR" sz="1600" i="0" dirty="0">
                <a:solidFill>
                  <a:srgbClr val="DCE5F0"/>
                </a:solidFill>
                <a:latin typeface="Consolas" pitchFamily="49" charset="0"/>
              </a:rPr>
              <a:t>git --version</a:t>
            </a:r>
          </a:p>
          <a:p>
            <a:pPr marL="0">
              <a:lnSpc>
                <a:spcPts val="1792"/>
              </a:lnSpc>
              <a:spcBef>
                <a:spcPts val="0"/>
              </a:spcBef>
              <a:spcAft>
                <a:spcPts val="0"/>
              </a:spcAft>
            </a:pPr>
            <a:r>
              <a:rPr lang="fr-FR" sz="1600" i="0" dirty="0">
                <a:solidFill>
                  <a:srgbClr val="DCE5F0"/>
                </a:solidFill>
                <a:latin typeface="Consolas" pitchFamily="49" charset="0"/>
              </a:rPr>
              <a:t>dotnet new gitignore   # .gitignore adapté à .NET, à la racine</a:t>
            </a:r>
          </a:p>
        </p:txBody>
      </p:sp>
      <p:cxnSp>
        <p:nvCxnSpPr>
          <p:cNvPr id="1017" name="Accent titre"/>
          <p:cNvCxnSpPr/>
          <p:nvPr/>
        </p:nvCxnSpPr>
        <p:spPr>
          <a:xfrm>
            <a:off x="147535" y="894944"/>
            <a:ext cx="1100000" cy="0"/>
          </a:xfrm>
          <a:prstGeom prst="line">
            <a:avLst/>
          </a:prstGeom>
          <a:ln w="38100" cap="rnd">
            <a:solidFill>
              <a:srgbClr val="FFA53C"/>
            </a:solidFill>
          </a:ln>
        </p:spPr>
      </p:cxnSp>
      <p:sp>
        <p:nvSpPr>
          <p:cNvPr id="1018"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19</a:t>
            </a:r>
          </a:p>
        </p:txBody>
      </p:sp>
    </p:spTree>
    <p:extLst>
      <p:ext uri="{BB962C8B-B14F-4D97-AF65-F5344CB8AC3E}">
        <p14:creationId xmlns:p14="http://schemas.microsoft.com/office/powerpoint/2010/main" val="2899108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2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19"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RIDER : L’IDE RECOMMANDÉ</a:t>
            </a:r>
          </a:p>
        </p:txBody>
      </p:sp>
      <p:cxnSp>
        <p:nvCxnSpPr>
          <p:cNvPr id="1020"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21" name="ZoneTexte"/>
          <p:cNvSpPr txBox="1"/>
          <p:nvPr/>
        </p:nvSpPr>
        <p:spPr>
          <a:xfrm>
            <a:off x="147535" y="1150000"/>
            <a:ext cx="11896927" cy="3048000"/>
          </a:xfrm>
          <a:prstGeom prst="rect">
            <a:avLst/>
          </a:prstGeom>
          <a:noFill/>
        </p:spPr>
        <p:txBody>
          <a:bodyPr wrap="square" lIns="0" tIns="0" rIns="127000" bIns="0" rtlCol="0" anchor="t"/>
          <a:lstStyle/>
          <a:p>
            <a:r>
              <a:rPr lang="fr-FR" sz="2000" dirty="0">
                <a:solidFill>
                  <a:srgbClr val="ECEEF3"/>
                </a:solidFill>
              </a:rPr>
              <a:t>Gratuit pour les étudiants via la licence éducation JetBrains, et gratuit pour un usage non commercial.</a:t>
            </a:r>
          </a:p>
          <a:p>
            <a:pPr>
              <a:spcBef>
                <a:spcPts val="600"/>
              </a:spcBef>
            </a:pPr>
            <a:r>
              <a:rPr lang="fr-FR" sz="2000" b="1" spc="60" dirty="0">
                <a:solidFill>
                  <a:srgbClr val="FFA53C"/>
                </a:solidFill>
              </a:rPr>
              <a:t>Pourquoi celui-là</a:t>
            </a:r>
          </a:p>
          <a:p>
            <a:pPr marL="285750" indent="-285750">
              <a:buClr>
                <a:srgbClr val="FFA53C"/>
              </a:buClr>
              <a:buFont typeface="Arial" panose="020B0604020202020204" pitchFamily="34" charset="0"/>
              <a:buChar char="•"/>
            </a:pPr>
            <a:r>
              <a:rPr lang="fr-FR" sz="2000" dirty="0">
                <a:solidFill>
                  <a:srgbClr val="ECEEF3"/>
                </a:solidFill>
              </a:rPr>
              <a:t>Le même IDE sous Windows, macOS et Linux : tout le groupe voit la même chose.</a:t>
            </a:r>
          </a:p>
          <a:p>
            <a:pPr marL="285750" indent="-285750">
              <a:buClr>
                <a:srgbClr val="FFA53C"/>
              </a:buClr>
              <a:buFont typeface="Arial" panose="020B0604020202020204" pitchFamily="34" charset="0"/>
              <a:buChar char="•"/>
            </a:pPr>
            <a:r>
              <a:rPr lang="fr-FR" sz="2000" dirty="0">
                <a:solidFill>
                  <a:srgbClr val="ECEEF3"/>
                </a:solidFill>
              </a:rPr>
              <a:t>Analyse statique : elle signale certaines erreurs et aide à relire le code avant compilation.</a:t>
            </a:r>
          </a:p>
          <a:p>
            <a:pPr marL="285750" indent="-285750">
              <a:buClr>
                <a:srgbClr val="FFA53C"/>
              </a:buClr>
              <a:buFont typeface="Arial" panose="020B0604020202020204" pitchFamily="34" charset="0"/>
              <a:buChar char="•"/>
            </a:pPr>
            <a:r>
              <a:rPr lang="fr-FR" sz="2000" dirty="0">
                <a:solidFill>
                  <a:srgbClr val="ECEEF3"/>
                </a:solidFill>
              </a:rPr>
              <a:t>Refactorings sérieux — renommer, extraire une méthode, introduire une interface : c’est l’outil qui transforme du code généré en code propre.</a:t>
            </a:r>
          </a:p>
          <a:p>
            <a:pPr marL="285750" indent="-285750">
              <a:buClr>
                <a:srgbClr val="FFA53C"/>
              </a:buClr>
              <a:buFont typeface="Arial" panose="020B0604020202020204" pitchFamily="34" charset="0"/>
              <a:buChar char="•"/>
            </a:pPr>
            <a:r>
              <a:rPr lang="fr-FR" sz="2000" dirty="0">
                <a:solidFill>
                  <a:srgbClr val="ECEEF3"/>
                </a:solidFill>
              </a:rPr>
              <a:t>Débogueur, tests, client HTTP intégré (indispensable, voir « Tester son API »), Git.</a:t>
            </a:r>
          </a:p>
          <a:p>
            <a:pPr>
              <a:spcBef>
                <a:spcPts val="600"/>
              </a:spcBef>
            </a:pPr>
            <a:r>
              <a:rPr lang="fr-FR" sz="2000" b="1" spc="60" dirty="0">
                <a:solidFill>
                  <a:srgbClr val="FFA53C"/>
                </a:solidFill>
              </a:rPr>
              <a:t>Raccourcis : keymap IntelliJ sous Windows/Linux ; à adapter sur macOS</a:t>
            </a:r>
          </a:p>
        </p:txBody>
      </p:sp>
      <p:sp>
        <p:nvSpPr>
          <p:cNvPr id="1022" name="Bloc de code"/>
          <p:cNvSpPr/>
          <p:nvPr/>
        </p:nvSpPr>
        <p:spPr>
          <a:xfrm>
            <a:off x="147535" y="4348000"/>
            <a:ext cx="11896927" cy="172400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792"/>
              </a:lnSpc>
              <a:spcBef>
                <a:spcPts val="0"/>
              </a:spcBef>
              <a:spcAft>
                <a:spcPts val="0"/>
              </a:spcAft>
            </a:pPr>
            <a:r>
              <a:rPr lang="fr-FR" sz="1600" i="0" dirty="0">
                <a:solidFill>
                  <a:srgbClr val="DCE5F0"/>
                </a:solidFill>
                <a:latin typeface="Consolas" pitchFamily="49" charset="0"/>
              </a:rPr>
              <a:t>Double Maj     chercher n'importe quoi dans la solution</a:t>
            </a:r>
          </a:p>
          <a:p>
            <a:pPr marL="0">
              <a:lnSpc>
                <a:spcPts val="1792"/>
              </a:lnSpc>
              <a:spcBef>
                <a:spcPts val="0"/>
              </a:spcBef>
              <a:spcAft>
                <a:spcPts val="0"/>
              </a:spcAft>
            </a:pPr>
            <a:r>
              <a:rPr lang="fr-FR" sz="1600" i="0" dirty="0">
                <a:solidFill>
                  <a:srgbClr val="DCE5F0"/>
                </a:solidFill>
                <a:latin typeface="Consolas" pitchFamily="49" charset="0"/>
              </a:rPr>
              <a:t>Alt+Entrée     corriger / suggérer une action sur le code</a:t>
            </a:r>
          </a:p>
          <a:p>
            <a:pPr marL="0">
              <a:lnSpc>
                <a:spcPts val="1792"/>
              </a:lnSpc>
              <a:spcBef>
                <a:spcPts val="0"/>
              </a:spcBef>
              <a:spcAft>
                <a:spcPts val="0"/>
              </a:spcAft>
            </a:pPr>
            <a:r>
              <a:rPr lang="fr-FR" sz="1600" i="0" dirty="0">
                <a:solidFill>
                  <a:srgbClr val="DCE5F0"/>
                </a:solidFill>
                <a:latin typeface="Consolas" pitchFamily="49" charset="0"/>
              </a:rPr>
              <a:t>Ctrl+B         aller à la définition</a:t>
            </a:r>
          </a:p>
          <a:p>
            <a:pPr marL="0">
              <a:lnSpc>
                <a:spcPts val="1792"/>
              </a:lnSpc>
              <a:spcBef>
                <a:spcPts val="0"/>
              </a:spcBef>
              <a:spcAft>
                <a:spcPts val="0"/>
              </a:spcAft>
            </a:pPr>
            <a:r>
              <a:rPr lang="fr-FR" sz="1600" i="0" dirty="0">
                <a:solidFill>
                  <a:srgbClr val="DCE5F0"/>
                </a:solidFill>
                <a:latin typeface="Consolas" pitchFamily="49" charset="0"/>
              </a:rPr>
              <a:t>Ctrl+Alt+L     reformater le fichier</a:t>
            </a:r>
          </a:p>
          <a:p>
            <a:pPr marL="0">
              <a:lnSpc>
                <a:spcPts val="1792"/>
              </a:lnSpc>
              <a:spcBef>
                <a:spcPts val="0"/>
              </a:spcBef>
              <a:spcAft>
                <a:spcPts val="0"/>
              </a:spcAft>
            </a:pPr>
            <a:r>
              <a:rPr lang="fr-FR" sz="1600" i="0" dirty="0">
                <a:solidFill>
                  <a:srgbClr val="DCE5F0"/>
                </a:solidFill>
                <a:latin typeface="Consolas" pitchFamily="49" charset="0"/>
              </a:rPr>
              <a:t>Maj+F10        exécuter          Maj+F9   déboguer</a:t>
            </a:r>
          </a:p>
          <a:p>
            <a:pPr marL="0">
              <a:lnSpc>
                <a:spcPts val="1792"/>
              </a:lnSpc>
              <a:spcBef>
                <a:spcPts val="0"/>
              </a:spcBef>
              <a:spcAft>
                <a:spcPts val="0"/>
              </a:spcAft>
            </a:pPr>
            <a:r>
              <a:rPr lang="fr-FR" sz="1600" i="0" dirty="0">
                <a:solidFill>
                  <a:srgbClr val="DCE5F0"/>
                </a:solidFill>
                <a:latin typeface="Consolas" pitchFamily="49" charset="0"/>
              </a:rPr>
              <a:t>Ctrl+Maj+T     aller au test correspondant</a:t>
            </a:r>
          </a:p>
        </p:txBody>
      </p:sp>
      <p:sp>
        <p:nvSpPr>
          <p:cNvPr id="1023" name="ZoneTexte"/>
          <p:cNvSpPr txBox="1"/>
          <p:nvPr/>
        </p:nvSpPr>
        <p:spPr>
          <a:xfrm>
            <a:off x="147535" y="6222000"/>
            <a:ext cx="11896927" cy="317500"/>
          </a:xfrm>
          <a:prstGeom prst="rect">
            <a:avLst/>
          </a:prstGeom>
          <a:noFill/>
        </p:spPr>
        <p:txBody>
          <a:bodyPr wrap="square" lIns="0" tIns="0" rIns="127000" bIns="0" rtlCol="0" anchor="t"/>
          <a:lstStyle/>
          <a:p>
            <a:r>
              <a:rPr lang="fr-FR" sz="1900" dirty="0">
                <a:solidFill>
                  <a:srgbClr val="7A808F"/>
                </a:solidFill>
              </a:rPr>
              <a:t>L’accès à l’assistant IA dépend du compte et de l’offre. Vérifiez vos droits ; un autre outil IA convient aussi.</a:t>
            </a:r>
          </a:p>
        </p:txBody>
      </p:sp>
      <p:cxnSp>
        <p:nvCxnSpPr>
          <p:cNvPr id="1025" name="Accent titre"/>
          <p:cNvCxnSpPr/>
          <p:nvPr/>
        </p:nvCxnSpPr>
        <p:spPr>
          <a:xfrm>
            <a:off x="147535" y="894944"/>
            <a:ext cx="1100000" cy="0"/>
          </a:xfrm>
          <a:prstGeom prst="line">
            <a:avLst/>
          </a:prstGeom>
          <a:ln w="38100" cap="rnd">
            <a:solidFill>
              <a:srgbClr val="FFA53C"/>
            </a:solidFill>
          </a:ln>
        </p:spPr>
      </p:cxnSp>
      <p:sp>
        <p:nvSpPr>
          <p:cNvPr id="102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20</a:t>
            </a:r>
          </a:p>
        </p:txBody>
      </p:sp>
    </p:spTree>
    <p:extLst>
      <p:ext uri="{BB962C8B-B14F-4D97-AF65-F5344CB8AC3E}">
        <p14:creationId xmlns:p14="http://schemas.microsoft.com/office/powerpoint/2010/main" val="2899108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32"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2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LA CLI DOTNET</a:t>
            </a:r>
          </a:p>
        </p:txBody>
      </p:sp>
      <p:cxnSp>
        <p:nvCxnSpPr>
          <p:cNvPr id="102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29" name="ZoneTexte"/>
          <p:cNvSpPr txBox="1"/>
          <p:nvPr/>
        </p:nvSpPr>
        <p:spPr>
          <a:xfrm>
            <a:off x="147535" y="1150000"/>
            <a:ext cx="11896927" cy="349250"/>
          </a:xfrm>
          <a:prstGeom prst="rect">
            <a:avLst/>
          </a:prstGeom>
          <a:noFill/>
        </p:spPr>
        <p:txBody>
          <a:bodyPr wrap="square" lIns="0" tIns="0" rIns="127000" bIns="0" rtlCol="0" anchor="t"/>
          <a:lstStyle/>
          <a:p>
            <a:r>
              <a:rPr lang="fr-FR" sz="2200" dirty="0">
                <a:solidFill>
                  <a:srgbClr val="ECEEF3"/>
                </a:solidFill>
              </a:rPr>
              <a:t>La CLI permet de reproduire les opérations sans dépendre de votre IDE.</a:t>
            </a:r>
          </a:p>
        </p:txBody>
      </p:sp>
      <p:sp>
        <p:nvSpPr>
          <p:cNvPr id="1030" name="Bloc de code"/>
          <p:cNvSpPr/>
          <p:nvPr/>
        </p:nvSpPr>
        <p:spPr>
          <a:xfrm>
            <a:off x="147535" y="1649250"/>
            <a:ext cx="11896927" cy="324800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792"/>
              </a:lnSpc>
              <a:spcBef>
                <a:spcPts val="0"/>
              </a:spcBef>
              <a:spcAft>
                <a:spcPts val="0"/>
              </a:spcAft>
            </a:pPr>
            <a:r>
              <a:rPr lang="fr-FR" sz="1600" i="0" dirty="0">
                <a:solidFill>
                  <a:srgbClr val="DCE5F0"/>
                </a:solidFill>
                <a:latin typeface="Consolas" pitchFamily="49" charset="0"/>
              </a:rPr>
              <a:t>dotnet new console -n MonProjet     créer un projet</a:t>
            </a:r>
          </a:p>
          <a:p>
            <a:pPr marL="0">
              <a:lnSpc>
                <a:spcPts val="1792"/>
              </a:lnSpc>
              <a:spcBef>
                <a:spcPts val="0"/>
              </a:spcBef>
              <a:spcAft>
                <a:spcPts val="0"/>
              </a:spcAft>
            </a:pPr>
            <a:r>
              <a:rPr lang="fr-FR" sz="1600" i="0" dirty="0">
                <a:solidFill>
                  <a:srgbClr val="DCE5F0"/>
                </a:solidFill>
                <a:latin typeface="Consolas" pitchFamily="49" charset="0"/>
              </a:rPr>
              <a:t>dotnet new sln -n MaSolution        créer une solution</a:t>
            </a:r>
          </a:p>
          <a:p>
            <a:pPr marL="0">
              <a:lnSpc>
                <a:spcPts val="1792"/>
              </a:lnSpc>
              <a:spcBef>
                <a:spcPts val="0"/>
              </a:spcBef>
              <a:spcAft>
                <a:spcPts val="0"/>
              </a:spcAft>
            </a:pPr>
            <a:r>
              <a:rPr lang="fr-FR" sz="1600" i="0" dirty="0">
                <a:solidFill>
                  <a:srgbClr val="DCE5F0"/>
                </a:solidFill>
                <a:latin typeface="Consolas" pitchFamily="49" charset="0"/>
              </a:rPr>
              <a:t>dotnet sln add MonProjet            rattacher un projet</a:t>
            </a:r>
          </a:p>
          <a:p>
            <a:pPr marL="0">
              <a:lnSpc>
                <a:spcPts val="1792"/>
              </a:lnSpc>
              <a:spcBef>
                <a:spcPts val="0"/>
              </a:spcBef>
              <a:spcAft>
                <a:spcPts val="0"/>
              </a:spcAft>
            </a:pPr>
            <a:r>
              <a:rPr lang="fr-FR" sz="1600" i="0" dirty="0">
                <a:solidFill>
                  <a:srgbClr val="DCE5F0"/>
                </a:solidFill>
                <a:latin typeface="Consolas" pitchFamily="49" charset="0"/>
              </a:rPr>
              <a:t>dotnet add A reference B            référencer un projet depuis un autre</a:t>
            </a:r>
          </a:p>
          <a:p>
            <a:pPr marL="0">
              <a:lnSpc>
                <a:spcPts val="1792"/>
              </a:lnSpc>
              <a:spcBef>
                <a:spcPts val="0"/>
              </a:spcBef>
              <a:spcAft>
                <a:spcPts val="0"/>
              </a:spcAft>
            </a:pPr>
            <a:r>
              <a:rPr lang="fr-FR" sz="1600" i="0" dirty="0">
                <a:solidFill>
                  <a:srgbClr val="DCE5F0"/>
                </a:solidFill>
                <a:latin typeface="Consolas" pitchFamily="49" charset="0"/>
              </a:rPr>
              <a:t>dotnet add package NomDuPackage     ajouter une dépendance NuGet</a:t>
            </a:r>
          </a:p>
          <a:p>
            <a:pPr marL="0">
              <a:lnSpc>
                <a:spcPts val="1792"/>
              </a:lnSpc>
              <a:spcBef>
                <a:spcPts val="0"/>
              </a:spcBef>
              <a:spcAft>
                <a:spcPts val="0"/>
              </a:spcAft>
            </a:pPr>
            <a:r>
              <a:rPr lang="fr-FR" sz="1600" i="0" dirty="0">
                <a:solidFill>
                  <a:srgbClr val="DCE5F0"/>
                </a:solidFill>
                <a:latin typeface="Consolas" pitchFamily="49" charset="0"/>
              </a:rPr>
              <a:t>dotnet build                        compiler</a:t>
            </a:r>
          </a:p>
          <a:p>
            <a:pPr marL="0">
              <a:lnSpc>
                <a:spcPts val="1792"/>
              </a:lnSpc>
              <a:spcBef>
                <a:spcPts val="0"/>
              </a:spcBef>
              <a:spcAft>
                <a:spcPts val="0"/>
              </a:spcAft>
            </a:pPr>
            <a:r>
              <a:rPr lang="fr-FR" sz="1600" i="0" dirty="0">
                <a:solidFill>
                  <a:srgbClr val="DCE5F0"/>
                </a:solidFill>
                <a:latin typeface="Consolas" pitchFamily="49" charset="0"/>
              </a:rPr>
              <a:t>dotnet run                          compiler et exécuter</a:t>
            </a:r>
          </a:p>
          <a:p>
            <a:pPr marL="0">
              <a:lnSpc>
                <a:spcPts val="1792"/>
              </a:lnSpc>
              <a:spcBef>
                <a:spcPts val="0"/>
              </a:spcBef>
              <a:spcAft>
                <a:spcPts val="0"/>
              </a:spcAft>
            </a:pPr>
            <a:r>
              <a:rPr lang="fr-FR" sz="1600" i="0" dirty="0">
                <a:solidFill>
                  <a:srgbClr val="DCE5F0"/>
                </a:solidFill>
                <a:latin typeface="Consolas" pitchFamily="49" charset="0"/>
              </a:rPr>
              <a:t>dotnet run --project BattleShip.API lancer un projet précis</a:t>
            </a:r>
          </a:p>
          <a:p>
            <a:pPr marL="0">
              <a:lnSpc>
                <a:spcPts val="1792"/>
              </a:lnSpc>
              <a:spcBef>
                <a:spcPts val="0"/>
              </a:spcBef>
              <a:spcAft>
                <a:spcPts val="0"/>
              </a:spcAft>
            </a:pPr>
            <a:r>
              <a:rPr lang="fr-FR" sz="1600" i="0" dirty="0">
                <a:solidFill>
                  <a:srgbClr val="DCE5F0"/>
                </a:solidFill>
                <a:latin typeface="Consolas" pitchFamily="49" charset="0"/>
              </a:rPr>
              <a:t>dotnet watch                        relancer à chaque sauvegarde</a:t>
            </a:r>
          </a:p>
          <a:p>
            <a:pPr marL="0">
              <a:lnSpc>
                <a:spcPts val="1792"/>
              </a:lnSpc>
              <a:spcBef>
                <a:spcPts val="0"/>
              </a:spcBef>
              <a:spcAft>
                <a:spcPts val="0"/>
              </a:spcAft>
            </a:pPr>
            <a:r>
              <a:rPr lang="fr-FR" sz="1600" i="0" dirty="0">
                <a:solidFill>
                  <a:srgbClr val="DCE5F0"/>
                </a:solidFill>
                <a:latin typeface="Consolas" pitchFamily="49" charset="0"/>
              </a:rPr>
              <a:t>dotnet test                         exécuter les tests</a:t>
            </a:r>
          </a:p>
          <a:p>
            <a:pPr marL="0">
              <a:lnSpc>
                <a:spcPts val="1792"/>
              </a:lnSpc>
              <a:spcBef>
                <a:spcPts val="0"/>
              </a:spcBef>
              <a:spcAft>
                <a:spcPts val="0"/>
              </a:spcAft>
            </a:pPr>
            <a:r>
              <a:rPr lang="fr-FR" sz="1600" i="0" dirty="0">
                <a:solidFill>
                  <a:srgbClr val="DCE5F0"/>
                </a:solidFill>
                <a:latin typeface="Consolas" pitchFamily="49" charset="0"/>
              </a:rPr>
              <a:t>dotnet format                       reformater tout le code</a:t>
            </a:r>
          </a:p>
          <a:p>
            <a:pPr marL="0">
              <a:lnSpc>
                <a:spcPts val="1792"/>
              </a:lnSpc>
              <a:spcBef>
                <a:spcPts val="0"/>
              </a:spcBef>
              <a:spcAft>
                <a:spcPts val="0"/>
              </a:spcAft>
            </a:pPr>
            <a:r>
              <a:rPr lang="fr-FR" sz="1600" i="0" dirty="0">
                <a:solidFill>
                  <a:srgbClr val="DCE5F0"/>
                </a:solidFill>
                <a:latin typeface="Consolas" pitchFamily="49" charset="0"/>
              </a:rPr>
              <a:t>dotnet new list                     lister les modèles disponibles</a:t>
            </a:r>
          </a:p>
        </p:txBody>
      </p:sp>
      <p:sp>
        <p:nvSpPr>
          <p:cNvPr id="1031" name="ZoneTexte"/>
          <p:cNvSpPr txBox="1"/>
          <p:nvPr/>
        </p:nvSpPr>
        <p:spPr>
          <a:xfrm>
            <a:off x="147535" y="5047250"/>
            <a:ext cx="11896927" cy="698500"/>
          </a:xfrm>
          <a:prstGeom prst="rect">
            <a:avLst/>
          </a:prstGeom>
          <a:noFill/>
        </p:spPr>
        <p:txBody>
          <a:bodyPr wrap="square" lIns="0" tIns="0" rIns="127000" bIns="0" rtlCol="0" anchor="t"/>
          <a:lstStyle/>
          <a:p>
            <a:r>
              <a:rPr lang="fr-FR" sz="1900" dirty="0">
                <a:solidFill>
                  <a:srgbClr val="7A808F"/>
                </a:solidFill>
              </a:rPr>
              <a:t>« dotnet new &lt;modèle&gt; --help » liste les options réelles d’un modèle. À vérifier avant de croire l’IA sur une option.</a:t>
            </a:r>
          </a:p>
        </p:txBody>
      </p:sp>
      <p:cxnSp>
        <p:nvCxnSpPr>
          <p:cNvPr id="1033" name="Accent titre"/>
          <p:cNvCxnSpPr/>
          <p:nvPr/>
        </p:nvCxnSpPr>
        <p:spPr>
          <a:xfrm>
            <a:off x="147535" y="894944"/>
            <a:ext cx="1100000" cy="0"/>
          </a:xfrm>
          <a:prstGeom prst="line">
            <a:avLst/>
          </a:prstGeom>
          <a:ln w="38100" cap="rnd">
            <a:solidFill>
              <a:srgbClr val="FFA53C"/>
            </a:solidFill>
          </a:ln>
        </p:spPr>
      </p:cxnSp>
      <p:sp>
        <p:nvSpPr>
          <p:cNvPr id="1034"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21</a:t>
            </a:r>
          </a:p>
        </p:txBody>
      </p:sp>
    </p:spTree>
    <p:extLst>
      <p:ext uri="{BB962C8B-B14F-4D97-AF65-F5344CB8AC3E}">
        <p14:creationId xmlns:p14="http://schemas.microsoft.com/office/powerpoint/2010/main" val="2899108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40"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35"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wrap="square" lIns="0" tIns="0" rIns="0" bIns="0" anchor="b">
            <a:normAutofit/>
          </a:bodyPr>
          <a:lstStyle/>
          <a:p>
            <a:pPr algn="l"/>
            <a:r>
              <a:rPr lang="fr-FR" sz="2800" spc="40" dirty="0">
                <a:solidFill>
                  <a:srgbClr val="FFFFFF"/>
                </a:solidFill>
                <a:latin typeface="Segoe UI Semibold"/>
              </a:rPr>
              <a:t>DIAGNOSTIQUER ET TRAITER UN BLOCAGE</a:t>
            </a:r>
          </a:p>
        </p:txBody>
      </p:sp>
      <p:cxnSp>
        <p:nvCxnSpPr>
          <p:cNvPr id="1036"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37" name="ZoneTexte"/>
          <p:cNvSpPr txBox="1"/>
          <p:nvPr/>
        </p:nvSpPr>
        <p:spPr>
          <a:xfrm>
            <a:off x="147535" y="1150000"/>
            <a:ext cx="11896927" cy="3048000"/>
          </a:xfrm>
          <a:prstGeom prst="rect">
            <a:avLst/>
          </a:prstGeom>
          <a:noFill/>
        </p:spPr>
        <p:txBody>
          <a:bodyPr wrap="square" lIns="0" tIns="0" rIns="127000" bIns="0" rtlCol="0" anchor="t"/>
          <a:lstStyle/>
          <a:p>
            <a:pPr>
              <a:spcBef>
                <a:spcPts val="600"/>
              </a:spcBef>
            </a:pPr>
            <a:r>
              <a:rPr lang="fr-FR" sz="2000" b="1" spc="60" dirty="0">
                <a:solidFill>
                  <a:srgbClr val="FFA53C"/>
                </a:solidFill>
              </a:rPr>
              <a:t>Un diagnostic avant une nouvelle tentative</a:t>
            </a:r>
          </a:p>
          <a:p>
            <a:pPr marL="285750" indent="-285750">
              <a:buClr>
                <a:srgbClr val="FFA53C"/>
              </a:buClr>
              <a:buFont typeface="Arial" panose="020B0604020202020204" pitchFamily="34" charset="0"/>
              <a:buChar char="•"/>
            </a:pPr>
            <a:r>
              <a:rPr lang="fr-FR" sz="2000" dirty="0">
                <a:solidFill>
                  <a:srgbClr val="ECEEF3"/>
                </a:solidFill>
              </a:rPr>
              <a:t>Lisez l’erreur entière et repérez le fichier, la ligne et le code d’erreur.</a:t>
            </a:r>
          </a:p>
          <a:p>
            <a:pPr marL="285750" indent="-285750">
              <a:buClr>
                <a:srgbClr val="FFA53C"/>
              </a:buClr>
              <a:buFont typeface="Arial" panose="020B0604020202020204" pitchFamily="34" charset="0"/>
              <a:buChar char="•"/>
            </a:pPr>
            <a:r>
              <a:rPr lang="fr-FR" sz="2000" dirty="0">
                <a:solidFill>
                  <a:srgbClr val="ECEEF3"/>
                </a:solidFill>
              </a:rPr>
              <a:t>Comparez le résultat obtenu au comportement attendu.</a:t>
            </a:r>
          </a:p>
          <a:p>
            <a:pPr marL="285750" indent="-285750">
              <a:buClr>
                <a:srgbClr val="FFA53C"/>
              </a:buClr>
              <a:buFont typeface="Arial" panose="020B0604020202020204" pitchFamily="34" charset="0"/>
              <a:buChar char="•"/>
            </a:pPr>
            <a:r>
              <a:rPr lang="fr-FR" sz="2000" dirty="0">
                <a:solidFill>
                  <a:srgbClr val="ECEEF3"/>
                </a:solidFill>
              </a:rPr>
              <a:t>Isolez le problème dans un test ou un exemple minimal.</a:t>
            </a:r>
          </a:p>
          <a:p>
            <a:pPr marL="285750" indent="-285750">
              <a:buClr>
                <a:srgbClr val="FFA53C"/>
              </a:buClr>
              <a:buFont typeface="Arial" panose="020B0604020202020204" pitchFamily="34" charset="0"/>
              <a:buChar char="•"/>
            </a:pPr>
            <a:r>
              <a:rPr lang="fr-FR" sz="2000" dirty="0">
                <a:solidFill>
                  <a:srgbClr val="ECEEF3"/>
                </a:solidFill>
              </a:rPr>
              <a:t>Consultez la documentation de la bonne version ; donnez à l’IA les faits et les hypothèses déjà testées.</a:t>
            </a:r>
          </a:p>
          <a:p>
            <a:pPr marL="285750" indent="-285750">
              <a:buClr>
                <a:srgbClr val="FFA53C"/>
              </a:buClr>
              <a:buFont typeface="Arial" panose="020B0604020202020204" pitchFamily="34" charset="0"/>
              <a:buChar char="•"/>
            </a:pPr>
            <a:r>
              <a:rPr lang="fr-FR" sz="2000" dirty="0">
                <a:solidFill>
                  <a:srgbClr val="ECEEF3"/>
                </a:solidFill>
              </a:rPr>
              <a:t>Dans le navigateur : console F12, onglet Réseau et logs serveur selon le cas.</a:t>
            </a:r>
          </a:p>
          <a:p>
            <a:pPr>
              <a:spcBef>
                <a:spcPts val="600"/>
              </a:spcBef>
            </a:pPr>
            <a:r>
              <a:rPr lang="fr-FR" sz="2000" b="1" spc="60" dirty="0">
                <a:solidFill>
                  <a:srgbClr val="FFA53C"/>
                </a:solidFill>
              </a:rPr>
              <a:t>Commandes utiles</a:t>
            </a:r>
          </a:p>
        </p:txBody>
      </p:sp>
      <p:sp>
        <p:nvSpPr>
          <p:cNvPr id="1038" name="Bloc de code"/>
          <p:cNvSpPr/>
          <p:nvPr/>
        </p:nvSpPr>
        <p:spPr>
          <a:xfrm>
            <a:off x="147535" y="4348000"/>
            <a:ext cx="11896927" cy="1025500"/>
          </a:xfrm>
          <a:prstGeom prst="roundRect">
            <a:avLst>
              <a:gd name="adj" fmla="val 3500"/>
            </a:avLst>
          </a:prstGeom>
          <a:solidFill>
            <a:srgbClr val="11141B"/>
          </a:solidFill>
          <a:ln w="9525">
            <a:solidFill>
              <a:srgbClr val="2B3140"/>
            </a:solidFill>
          </a:ln>
        </p:spPr>
        <p:txBody>
          <a:bodyPr wrap="square" lIns="228600" tIns="73152" rIns="152400" bIns="73152" rtlCol="0" anchor="t"/>
          <a:lstStyle/>
          <a:p>
            <a:pPr marL="0">
              <a:lnSpc>
                <a:spcPts val="1792"/>
              </a:lnSpc>
              <a:spcBef>
                <a:spcPts val="0"/>
              </a:spcBef>
              <a:spcAft>
                <a:spcPts val="0"/>
              </a:spcAft>
            </a:pPr>
            <a:r>
              <a:rPr lang="fr-FR" sz="1600" b="0" i="0" dirty="0">
                <a:solidFill>
                  <a:srgbClr val="DCE5F0"/>
                </a:solidFill>
                <a:latin typeface="Consolas" pitchFamily="49" charset="0"/>
              </a:rPr>
              <a:t>dotnet build -v normal</a:t>
            </a:r>
          </a:p>
          <a:p>
            <a:pPr marL="0">
              <a:lnSpc>
                <a:spcPts val="1792"/>
              </a:lnSpc>
              <a:spcBef>
                <a:spcPts val="0"/>
              </a:spcBef>
              <a:spcAft>
                <a:spcPts val="0"/>
              </a:spcAft>
            </a:pPr>
            <a:r>
              <a:rPr lang="fr-FR" sz="1600" b="0" i="0" dirty="0">
                <a:solidFill>
                  <a:srgbClr val="DCE5F0"/>
                </a:solidFill>
                <a:latin typeface="Consolas" pitchFamily="49" charset="0"/>
              </a:rPr>
              <a:t>dotnet restore</a:t>
            </a:r>
          </a:p>
          <a:p>
            <a:pPr marL="0">
              <a:lnSpc>
                <a:spcPts val="1792"/>
              </a:lnSpc>
              <a:spcBef>
                <a:spcPts val="0"/>
              </a:spcBef>
              <a:spcAft>
                <a:spcPts val="0"/>
              </a:spcAft>
            </a:pPr>
            <a:r>
              <a:rPr lang="fr-FR" sz="1600" b="0" i="0" dirty="0">
                <a:solidFill>
                  <a:srgbClr val="DCE5F0"/>
                </a:solidFill>
                <a:latin typeface="Consolas" pitchFamily="49" charset="0"/>
              </a:rPr>
              <a:t>dotnet test --logger "console;verbosity=detailed"</a:t>
            </a:r>
          </a:p>
        </p:txBody>
      </p:sp>
      <p:sp>
        <p:nvSpPr>
          <p:cNvPr id="1039" name="ZoneTexte"/>
          <p:cNvSpPr txBox="1"/>
          <p:nvPr/>
        </p:nvSpPr>
        <p:spPr>
          <a:xfrm>
            <a:off x="147535" y="5523500"/>
            <a:ext cx="11896927" cy="1047750"/>
          </a:xfrm>
          <a:prstGeom prst="rect">
            <a:avLst/>
          </a:prstGeom>
          <a:noFill/>
        </p:spPr>
        <p:txBody>
          <a:bodyPr wrap="square" lIns="0" tIns="0" rIns="127000" bIns="0" rtlCol="0" anchor="t"/>
          <a:lstStyle/>
          <a:p>
            <a:pPr>
              <a:spcBef>
                <a:spcPts val="600"/>
              </a:spcBef>
            </a:pPr>
            <a:r>
              <a:rPr lang="fr-FR" sz="1900" b="1" spc="60" dirty="0">
                <a:solidFill>
                  <a:srgbClr val="FFA53C"/>
                </a:solidFill>
              </a:rPr>
              <a:t>Quand le diagnostic n’avance plus</a:t>
            </a:r>
          </a:p>
          <a:p>
            <a:r>
              <a:rPr lang="fr-FR" sz="1900" dirty="0">
                <a:solidFill>
                  <a:srgbClr val="ECEEF3"/>
                </a:solidFill>
              </a:rPr>
              <a:t>Écrivez une reproduction et vos essais ; demandez une relecture à un autre binôme. Signalez les blocages d’accès ou d’organisation à contact@hts-learning.com. Avancez sur une tâche indépendante en attendant.</a:t>
            </a:r>
          </a:p>
        </p:txBody>
      </p:sp>
      <p:cxnSp>
        <p:nvCxnSpPr>
          <p:cNvPr id="1041" name="Accent titre"/>
          <p:cNvCxnSpPr/>
          <p:nvPr/>
        </p:nvCxnSpPr>
        <p:spPr>
          <a:xfrm>
            <a:off x="147535" y="894944"/>
            <a:ext cx="1100000" cy="0"/>
          </a:xfrm>
          <a:prstGeom prst="line">
            <a:avLst/>
          </a:prstGeom>
          <a:ln w="38100" cap="rnd">
            <a:solidFill>
              <a:srgbClr val="FFA53C"/>
            </a:solidFill>
          </a:ln>
        </p:spPr>
      </p:cxnSp>
      <p:sp>
        <p:nvSpPr>
          <p:cNvPr id="104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22</a:t>
            </a:r>
          </a:p>
        </p:txBody>
      </p:sp>
    </p:spTree>
    <p:extLst>
      <p:ext uri="{BB962C8B-B14F-4D97-AF65-F5344CB8AC3E}">
        <p14:creationId xmlns:p14="http://schemas.microsoft.com/office/powerpoint/2010/main" val="2899108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51"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43"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wrap="square" lIns="0" tIns="0" rIns="0" bIns="0" anchor="b">
            <a:normAutofit/>
          </a:bodyPr>
          <a:lstStyle/>
          <a:p>
            <a:pPr algn="l"/>
            <a:r>
              <a:rPr lang="fr-FR" sz="2800" spc="40" dirty="0">
                <a:solidFill>
                  <a:srgbClr val="FFFFFF"/>
                </a:solidFill>
                <a:latin typeface="Segoe UI Semibold"/>
              </a:rPr>
              <a:t>VÉRIFIER UN COMPORTEMENT EN ISOLATION</a:t>
            </a:r>
          </a:p>
        </p:txBody>
      </p:sp>
      <p:cxnSp>
        <p:nvCxnSpPr>
          <p:cNvPr id="1044"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45" name="ZoneTexte"/>
          <p:cNvSpPr txBox="1"/>
          <p:nvPr/>
        </p:nvSpPr>
        <p:spPr>
          <a:xfrm>
            <a:off x="147535" y="1150000"/>
            <a:ext cx="11896927" cy="571500"/>
          </a:xfrm>
          <a:prstGeom prst="rect">
            <a:avLst/>
          </a:prstGeom>
          <a:noFill/>
        </p:spPr>
        <p:txBody>
          <a:bodyPr wrap="square" lIns="0" tIns="0" rIns="127000" bIns="0" rtlCol="0" anchor="t"/>
          <a:lstStyle/>
          <a:p>
            <a:r>
              <a:rPr lang="fr-FR" sz="1800" dirty="0">
                <a:solidFill>
                  <a:srgbClr val="ECEEF3"/>
                </a:solidFill>
              </a:rPr>
              <a:t>Nouveauté .NET 10 : un fichier .cs s’exécute seul, sans projet, sans solution. Idéal pour vérifier une syntaxe ou un comportement avant de l’intégrer.</a:t>
            </a:r>
          </a:p>
        </p:txBody>
      </p:sp>
      <p:sp>
        <p:nvSpPr>
          <p:cNvPr id="1046" name="Bloc de code"/>
          <p:cNvSpPr/>
          <p:nvPr/>
        </p:nvSpPr>
        <p:spPr>
          <a:xfrm>
            <a:off x="147535" y="1871500"/>
            <a:ext cx="11896927" cy="175575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 essai.cs</a:t>
            </a:r>
          </a:p>
          <a:p>
            <a:pPr marL="0">
              <a:lnSpc>
                <a:spcPts val="2016"/>
              </a:lnSpc>
              <a:spcBef>
                <a:spcPts val="0"/>
              </a:spcBef>
              <a:spcAft>
                <a:spcPts val="0"/>
              </a:spcAft>
              <a:buNone/>
            </a:pPr>
            <a:r>
              <a:rPr lang="fr-FR" sz="1800" b="0" i="0" dirty="0">
                <a:solidFill>
                  <a:srgbClr val="E5E7EB"/>
                </a:solidFill>
                <a:latin typeface="Consolas" pitchFamily="49" charset="0"/>
              </a:rPr>
              <a:t>decimal[] prices = [12.50m, 3m, 7.25m];</a:t>
            </a:r>
          </a:p>
          <a:p>
            <a:pPr marL="0">
              <a:lnSpc>
                <a:spcPts val="2016"/>
              </a:lnSpc>
              <a:spcBef>
                <a:spcPts val="0"/>
              </a:spcBef>
              <a:spcAft>
                <a:spcPts val="0"/>
              </a:spcAft>
              <a:buNone/>
            </a:pPr>
            <a:r>
              <a:rPr lang="fr-FR" sz="1800" b="0" i="0" dirty="0">
                <a:solidFill>
                  <a:srgbClr val="E5E7EB"/>
                </a:solidFill>
                <a:latin typeface="Consolas" pitchFamily="49" charset="0"/>
              </a:rPr>
              <a:t>var selected = prices.Where(price =&gt; price &gt;= 5m);</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Console.WriteLine(string.Join(", ", selected));</a:t>
            </a:r>
          </a:p>
          <a:p>
            <a:pPr marL="0">
              <a:lnSpc>
                <a:spcPts val="2016"/>
              </a:lnSpc>
              <a:spcBef>
                <a:spcPts val="0"/>
              </a:spcBef>
              <a:spcAft>
                <a:spcPts val="0"/>
              </a:spcAft>
              <a:buNone/>
            </a:pPr>
            <a:r>
              <a:rPr lang="fr-FR" sz="1800" b="0" i="0" dirty="0">
                <a:solidFill>
                  <a:srgbClr val="E5E7EB"/>
                </a:solidFill>
                <a:latin typeface="Consolas" pitchFamily="49" charset="0"/>
              </a:rPr>
              <a:t>Console.WriteLine($"Total : {prices.Sum()}");</a:t>
            </a:r>
          </a:p>
        </p:txBody>
      </p:sp>
      <p:sp>
        <p:nvSpPr>
          <p:cNvPr id="1047" name="Bloc de code"/>
          <p:cNvSpPr/>
          <p:nvPr/>
        </p:nvSpPr>
        <p:spPr>
          <a:xfrm>
            <a:off x="147535" y="3777250"/>
            <a:ext cx="11896927" cy="42225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568"/>
              </a:lnSpc>
              <a:spcBef>
                <a:spcPts val="0"/>
              </a:spcBef>
              <a:spcAft>
                <a:spcPts val="0"/>
              </a:spcAft>
            </a:pPr>
            <a:r>
              <a:rPr lang="fr-FR" sz="1400" i="0" dirty="0">
                <a:solidFill>
                  <a:srgbClr val="DCE5F0"/>
                </a:solidFill>
                <a:latin typeface="Consolas" pitchFamily="49" charset="0"/>
              </a:rPr>
              <a:t>dotnet run --file essai.cs</a:t>
            </a:r>
          </a:p>
        </p:txBody>
      </p:sp>
      <p:sp>
        <p:nvSpPr>
          <p:cNvPr id="1048" name="ZoneTexte"/>
          <p:cNvSpPr txBox="1"/>
          <p:nvPr/>
        </p:nvSpPr>
        <p:spPr>
          <a:xfrm>
            <a:off x="147535" y="4349500"/>
            <a:ext cx="11896927" cy="942975"/>
          </a:xfrm>
          <a:prstGeom prst="rect">
            <a:avLst/>
          </a:prstGeom>
          <a:noFill/>
        </p:spPr>
        <p:txBody>
          <a:bodyPr wrap="square" lIns="0" tIns="0" rIns="127000" bIns="0" rtlCol="0" anchor="t"/>
          <a:lstStyle/>
          <a:p>
            <a:pPr marL="285750" indent="-285750">
              <a:buClr>
                <a:srgbClr val="FFA53C"/>
              </a:buClr>
              <a:buFont typeface="Arial" panose="020B0604020202020204" pitchFamily="34" charset="0"/>
              <a:buChar char="•"/>
            </a:pPr>
            <a:r>
              <a:rPr lang="fr-FR" sz="1800" dirty="0">
                <a:solidFill>
                  <a:srgbClr val="ECEEF3"/>
                </a:solidFill>
              </a:rPr>
              <a:t>Placez le fichier HORS du dossier de vos projets, et gardez l’option --file : s’il y a un .csproj dans le dossier courant, « dotnet run essai.cs » lance le projet et passe votre fichier en argument.</a:t>
            </a:r>
          </a:p>
          <a:p>
            <a:pPr>
              <a:spcBef>
                <a:spcPts val="600"/>
              </a:spcBef>
            </a:pPr>
            <a:r>
              <a:rPr lang="fr-FR" sz="1800" b="1" spc="60" dirty="0">
                <a:solidFill>
                  <a:srgbClr val="FFA53C"/>
                </a:solidFill>
              </a:rPr>
              <a:t>Ajouter un package sans projet</a:t>
            </a:r>
          </a:p>
        </p:txBody>
      </p:sp>
      <p:sp>
        <p:nvSpPr>
          <p:cNvPr id="1049" name="Bloc de code"/>
          <p:cNvSpPr/>
          <p:nvPr/>
        </p:nvSpPr>
        <p:spPr>
          <a:xfrm>
            <a:off x="147535" y="5442475"/>
            <a:ext cx="11896927" cy="64450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568"/>
              </a:lnSpc>
              <a:spcBef>
                <a:spcPts val="0"/>
              </a:spcBef>
              <a:spcAft>
                <a:spcPts val="0"/>
              </a:spcAft>
            </a:pPr>
            <a:r>
              <a:rPr lang="fr-FR" sz="1400" i="0" dirty="0">
                <a:solidFill>
                  <a:srgbClr val="DCE5F0"/>
                </a:solidFill>
                <a:latin typeface="Consolas" pitchFamily="49" charset="0"/>
              </a:rPr>
              <a:t>#:package FluentValidation@*     // exploration ; fixez ensuite la version</a:t>
            </a:r>
          </a:p>
          <a:p>
            <a:pPr marL="0">
              <a:lnSpc>
                <a:spcPts val="1568"/>
              </a:lnSpc>
              <a:spcBef>
                <a:spcPts val="0"/>
              </a:spcBef>
              <a:spcAft>
                <a:spcPts val="0"/>
              </a:spcAft>
            </a:pPr>
            <a:r>
              <a:rPr lang="fr-FR" sz="1400" i="0" dirty="0">
                <a:solidFill>
                  <a:srgbClr val="DCE5F0"/>
                </a:solidFill>
                <a:latin typeface="Consolas" pitchFamily="49" charset="0"/>
              </a:rPr>
              <a:t>using FluentValidation;</a:t>
            </a:r>
          </a:p>
        </p:txBody>
      </p:sp>
      <p:sp>
        <p:nvSpPr>
          <p:cNvPr id="1050" name="ZoneTexte"/>
          <p:cNvSpPr txBox="1"/>
          <p:nvPr/>
        </p:nvSpPr>
        <p:spPr>
          <a:xfrm>
            <a:off x="147535" y="6236975"/>
            <a:ext cx="11896927" cy="285750"/>
          </a:xfrm>
          <a:prstGeom prst="rect">
            <a:avLst/>
          </a:prstGeom>
          <a:noFill/>
        </p:spPr>
        <p:txBody>
          <a:bodyPr wrap="square" lIns="0" tIns="0" rIns="127000" bIns="0" rtlCol="0" anchor="t"/>
          <a:lstStyle/>
          <a:p>
            <a:r>
              <a:rPr lang="fr-FR" sz="1900" dirty="0">
                <a:solidFill>
                  <a:srgbClr val="7A808F"/>
                </a:solidFill>
              </a:rPr>
              <a:t>Servez-vous-en pour confronter une affirmation de l’IA à une exécution réelle.</a:t>
            </a:r>
          </a:p>
        </p:txBody>
      </p:sp>
      <p:cxnSp>
        <p:nvCxnSpPr>
          <p:cNvPr id="1052" name="Accent titre"/>
          <p:cNvCxnSpPr/>
          <p:nvPr/>
        </p:nvCxnSpPr>
        <p:spPr>
          <a:xfrm>
            <a:off x="147535" y="894944"/>
            <a:ext cx="1100000" cy="0"/>
          </a:xfrm>
          <a:prstGeom prst="line">
            <a:avLst/>
          </a:prstGeom>
          <a:ln w="38100" cap="rnd">
            <a:solidFill>
              <a:srgbClr val="FFA53C"/>
            </a:solidFill>
          </a:ln>
        </p:spPr>
      </p:cxnSp>
      <p:sp>
        <p:nvSpPr>
          <p:cNvPr id="1053"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23</a:t>
            </a:r>
          </a:p>
        </p:txBody>
      </p:sp>
    </p:spTree>
    <p:extLst>
      <p:ext uri="{BB962C8B-B14F-4D97-AF65-F5344CB8AC3E}">
        <p14:creationId xmlns:p14="http://schemas.microsoft.com/office/powerpoint/2010/main" val="2899108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58"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54"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LE C# ESSENTIEL — TYPES ET OBJETS</a:t>
            </a:r>
          </a:p>
        </p:txBody>
      </p:sp>
      <p:cxnSp>
        <p:nvCxnSpPr>
          <p:cNvPr id="1055"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56" name="Bloc de code"/>
          <p:cNvSpPr/>
          <p:nvPr/>
        </p:nvSpPr>
        <p:spPr>
          <a:xfrm>
            <a:off x="147535" y="1150000"/>
            <a:ext cx="11896927" cy="451800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 Le typage reste statique avec var.</a:t>
            </a:r>
          </a:p>
          <a:p>
            <a:pPr marL="0">
              <a:lnSpc>
                <a:spcPts val="2016"/>
              </a:lnSpc>
              <a:spcBef>
                <a:spcPts val="0"/>
              </a:spcBef>
              <a:spcAft>
                <a:spcPts val="0"/>
              </a:spcAft>
              <a:buNone/>
            </a:pPr>
            <a:r>
              <a:rPr lang="fr-FR" sz="1800" b="0" i="0" dirty="0">
                <a:solidFill>
                  <a:srgbClr val="E5E7EB"/>
                </a:solidFill>
                <a:latin typeface="Consolas" pitchFamily="49" charset="0"/>
              </a:rPr>
              <a:t>int quantity = 3;</a:t>
            </a:r>
          </a:p>
          <a:p>
            <a:pPr marL="0">
              <a:lnSpc>
                <a:spcPts val="2016"/>
              </a:lnSpc>
              <a:spcBef>
                <a:spcPts val="0"/>
              </a:spcBef>
              <a:spcAft>
                <a:spcPts val="0"/>
              </a:spcAft>
              <a:buNone/>
            </a:pPr>
            <a:r>
              <a:rPr lang="fr-FR" sz="1800" b="0" i="0" dirty="0">
                <a:solidFill>
                  <a:srgbClr val="E5E7EB"/>
                </a:solidFill>
                <a:latin typeface="Consolas" pitchFamily="49" charset="0"/>
              </a:rPr>
              <a:t>var name = "Cahier";</a:t>
            </a:r>
          </a:p>
          <a:p>
            <a:pPr marL="0">
              <a:lnSpc>
                <a:spcPts val="2016"/>
              </a:lnSpc>
              <a:spcBef>
                <a:spcPts val="0"/>
              </a:spcBef>
              <a:spcAft>
                <a:spcPts val="0"/>
              </a:spcAft>
              <a:buNone/>
            </a:pPr>
            <a:r>
              <a:rPr lang="fr-FR" sz="1800" b="0" i="0" dirty="0">
                <a:solidFill>
                  <a:srgbClr val="E5E7EB"/>
                </a:solidFill>
                <a:latin typeface="Consolas" pitchFamily="49" charset="0"/>
              </a:rPr>
              <a:t>string? description = null;</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public class Product</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public required string Name { get; init; }</a:t>
            </a:r>
          </a:p>
          <a:p>
            <a:pPr marL="0">
              <a:lnSpc>
                <a:spcPts val="2016"/>
              </a:lnSpc>
              <a:spcBef>
                <a:spcPts val="0"/>
              </a:spcBef>
              <a:spcAft>
                <a:spcPts val="0"/>
              </a:spcAft>
              <a:buNone/>
            </a:pPr>
            <a:r>
              <a:rPr lang="fr-FR" sz="1800" b="0" i="0" dirty="0">
                <a:solidFill>
                  <a:srgbClr val="E5E7EB"/>
                </a:solidFill>
                <a:latin typeface="Consolas" pitchFamily="49" charset="0"/>
              </a:rPr>
              <a:t>    public decimal Price { get; set; }</a:t>
            </a:r>
          </a:p>
          <a:p>
            <a:pPr marL="0">
              <a:lnSpc>
                <a:spcPts val="2016"/>
              </a:lnSpc>
              <a:spcBef>
                <a:spcPts val="0"/>
              </a:spcBef>
              <a:spcAft>
                <a:spcPts val="0"/>
              </a:spcAft>
              <a:buNone/>
            </a:pPr>
            <a:r>
              <a:rPr lang="fr-FR" sz="1800" b="0" i="0" dirty="0">
                <a:solidFill>
                  <a:srgbClr val="E5E7EB"/>
                </a:solidFill>
                <a:latin typeface="Consolas" pitchFamily="49" charset="0"/>
              </a:rPr>
              <a:t>    public bool IsFree =&gt; Price == 0;</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 Un record positionnel fournit notamment l’égalité par valeur.</a:t>
            </a:r>
          </a:p>
          <a:p>
            <a:pPr marL="0">
              <a:lnSpc>
                <a:spcPts val="2016"/>
              </a:lnSpc>
              <a:spcBef>
                <a:spcPts val="0"/>
              </a:spcBef>
              <a:spcAft>
                <a:spcPts val="0"/>
              </a:spcAft>
              <a:buNone/>
            </a:pPr>
            <a:r>
              <a:rPr lang="fr-FR" sz="1800" b="0" i="0" dirty="0">
                <a:solidFill>
                  <a:srgbClr val="E5E7EB"/>
                </a:solidFill>
                <a:latin typeface="Consolas" pitchFamily="49" charset="0"/>
              </a:rPr>
              <a:t>public record ProductDto(int Id, string Name, decimal Price);</a:t>
            </a:r>
          </a:p>
        </p:txBody>
      </p:sp>
      <p:sp>
        <p:nvSpPr>
          <p:cNvPr id="1057" name="ZoneTexte"/>
          <p:cNvSpPr txBox="1"/>
          <p:nvPr/>
        </p:nvSpPr>
        <p:spPr>
          <a:xfrm>
            <a:off x="147535" y="5818000"/>
            <a:ext cx="11896927" cy="731520"/>
          </a:xfrm>
          <a:prstGeom prst="rect">
            <a:avLst/>
          </a:prstGeom>
          <a:noFill/>
        </p:spPr>
        <p:txBody>
          <a:bodyPr wrap="square" lIns="0" tIns="54864" rIns="127000" bIns="54864" rtlCol="0" anchor="t"/>
          <a:lstStyle/>
          <a:p>
            <a:pPr>
              <a:lnSpc>
                <a:spcPts val="2352"/>
              </a:lnSpc>
              <a:spcBef>
                <a:spcPts val="0"/>
              </a:spcBef>
              <a:spcAft>
                <a:spcPts val="500"/>
              </a:spcAft>
              <a:buNone/>
            </a:pPr>
            <a:r>
              <a:rPr lang="fr-FR" sz="2100" b="0" dirty="0">
                <a:solidFill>
                  <a:srgbClr val="E5E7EB"/>
                </a:solidFill>
                <a:latin typeface="Aptos"/>
              </a:rPr>
              <a:t>Un record peut être mutable ; init ne rend pas immuable le contenu d’une collection. Choisissez vos types selon les données et les responsabilités.</a:t>
            </a:r>
          </a:p>
        </p:txBody>
      </p:sp>
      <p:cxnSp>
        <p:nvCxnSpPr>
          <p:cNvPr id="1059" name="Accent titre"/>
          <p:cNvCxnSpPr/>
          <p:nvPr/>
        </p:nvCxnSpPr>
        <p:spPr>
          <a:xfrm>
            <a:off x="147535" y="894944"/>
            <a:ext cx="1100000" cy="0"/>
          </a:xfrm>
          <a:prstGeom prst="line">
            <a:avLst/>
          </a:prstGeom>
          <a:ln w="38100" cap="rnd">
            <a:solidFill>
              <a:srgbClr val="FFA53C"/>
            </a:solidFill>
          </a:ln>
        </p:spPr>
      </p:cxnSp>
      <p:sp>
        <p:nvSpPr>
          <p:cNvPr id="106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24</a:t>
            </a:r>
          </a:p>
        </p:txBody>
      </p:sp>
    </p:spTree>
    <p:extLst>
      <p:ext uri="{BB962C8B-B14F-4D97-AF65-F5344CB8AC3E}">
        <p14:creationId xmlns:p14="http://schemas.microsoft.com/office/powerpoint/2010/main" val="2899108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6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6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LE C# ESSENTIEL — COLLECTIONS ET LINQ</a:t>
            </a:r>
          </a:p>
        </p:txBody>
      </p:sp>
      <p:cxnSp>
        <p:nvCxnSpPr>
          <p:cNvPr id="106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63" name="Bloc de code"/>
          <p:cNvSpPr/>
          <p:nvPr/>
        </p:nvSpPr>
        <p:spPr>
          <a:xfrm>
            <a:off x="147535" y="1150000"/>
            <a:ext cx="11896927" cy="543875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var products = new List&lt;Product&gt;();</a:t>
            </a:r>
          </a:p>
          <a:p>
            <a:pPr marL="0">
              <a:lnSpc>
                <a:spcPts val="2016"/>
              </a:lnSpc>
              <a:spcBef>
                <a:spcPts val="0"/>
              </a:spcBef>
              <a:spcAft>
                <a:spcPts val="0"/>
              </a:spcAft>
              <a:buNone/>
            </a:pPr>
            <a:r>
              <a:rPr lang="fr-FR" sz="1800" b="0" i="0" dirty="0">
                <a:solidFill>
                  <a:srgbClr val="E5E7EB"/>
                </a:solidFill>
                <a:latin typeface="Consolas" pitchFamily="49" charset="0"/>
              </a:rPr>
              <a:t>var byName = new Dictionary&lt;string, Product&gt;();</a:t>
            </a:r>
          </a:p>
          <a:p>
            <a:pPr marL="0">
              <a:lnSpc>
                <a:spcPts val="2016"/>
              </a:lnSpc>
              <a:spcBef>
                <a:spcPts val="0"/>
              </a:spcBef>
              <a:spcAft>
                <a:spcPts val="0"/>
              </a:spcAft>
              <a:buNone/>
            </a:pPr>
            <a:r>
              <a:rPr lang="fr-FR" sz="1800" b="0" i="0" dirty="0">
                <a:solidFill>
                  <a:srgbClr val="E5E7EB"/>
                </a:solidFill>
                <a:latin typeface="Consolas" pitchFamily="49" charset="0"/>
              </a:rPr>
              <a:t>var dimensions = (Width: 12, Height: 8);</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var affordable = products.Where(p =&gt; p.Price &lt;= 20m).ToList();</a:t>
            </a:r>
          </a:p>
          <a:p>
            <a:pPr marL="0">
              <a:lnSpc>
                <a:spcPts val="2016"/>
              </a:lnSpc>
              <a:spcBef>
                <a:spcPts val="0"/>
              </a:spcBef>
              <a:spcAft>
                <a:spcPts val="0"/>
              </a:spcAft>
              <a:buNone/>
            </a:pPr>
            <a:r>
              <a:rPr lang="fr-FR" sz="1800" b="0" i="0" dirty="0">
                <a:solidFill>
                  <a:srgbClr val="E5E7EB"/>
                </a:solidFill>
                <a:latin typeface="Consolas" pitchFamily="49" charset="0"/>
              </a:rPr>
              <a:t>var total = products.Sum(p =&gt; p.Price);</a:t>
            </a:r>
          </a:p>
          <a:p>
            <a:pPr marL="0">
              <a:lnSpc>
                <a:spcPts val="2016"/>
              </a:lnSpc>
              <a:spcBef>
                <a:spcPts val="0"/>
              </a:spcBef>
              <a:spcAft>
                <a:spcPts val="0"/>
              </a:spcAft>
              <a:buNone/>
            </a:pPr>
            <a:r>
              <a:rPr lang="fr-FR" sz="1800" b="0" i="0" dirty="0">
                <a:solidFill>
                  <a:srgbClr val="E5E7EB"/>
                </a:solidFill>
                <a:latin typeface="Consolas" pitchFamily="49" charset="0"/>
              </a:rPr>
              <a:t>var first = products.FirstOrDefault(p =&gt; p.Name == "Cahier");</a:t>
            </a:r>
          </a:p>
          <a:p>
            <a:pPr marL="0">
              <a:lnSpc>
                <a:spcPts val="2016"/>
              </a:lnSpc>
              <a:spcBef>
                <a:spcPts val="0"/>
              </a:spcBef>
              <a:spcAft>
                <a:spcPts val="0"/>
              </a:spcAft>
              <a:buNone/>
            </a:pPr>
            <a:r>
              <a:rPr lang="fr-FR" sz="1800" b="0" i="0" dirty="0">
                <a:solidFill>
                  <a:srgbClr val="E5E7EB"/>
                </a:solidFill>
                <a:latin typeface="Consolas" pitchFamily="49" charset="0"/>
              </a:rPr>
              <a:t>var hasFree = products.Any(p =&gt; p.IsFree);</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var label = total switch</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0 =&gt; "vide",</a:t>
            </a:r>
          </a:p>
          <a:p>
            <a:pPr marL="0">
              <a:lnSpc>
                <a:spcPts val="2016"/>
              </a:lnSpc>
              <a:spcBef>
                <a:spcPts val="0"/>
              </a:spcBef>
              <a:spcAft>
                <a:spcPts val="0"/>
              </a:spcAft>
              <a:buNone/>
            </a:pPr>
            <a:r>
              <a:rPr lang="fr-FR" sz="1800" b="0" i="0" dirty="0">
                <a:solidFill>
                  <a:srgbClr val="E5E7EB"/>
                </a:solidFill>
                <a:latin typeface="Consolas" pitchFamily="49" charset="0"/>
              </a:rPr>
              <a:t>    &lt; 50 =&gt; "petit montant",</a:t>
            </a:r>
          </a:p>
          <a:p>
            <a:pPr marL="0">
              <a:lnSpc>
                <a:spcPts val="2016"/>
              </a:lnSpc>
              <a:spcBef>
                <a:spcPts val="0"/>
              </a:spcBef>
              <a:spcAft>
                <a:spcPts val="0"/>
              </a:spcAft>
              <a:buNone/>
            </a:pPr>
            <a:r>
              <a:rPr lang="fr-FR" sz="1800" b="0" i="0" dirty="0">
                <a:solidFill>
                  <a:srgbClr val="E5E7EB"/>
                </a:solidFill>
                <a:latin typeface="Consolas" pitchFamily="49" charset="0"/>
              </a:rPr>
              <a:t>    _ =&gt; "montant élevé"</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if (first is { Price: &gt; 0 }) { /* produit payant trouvé */ }</a:t>
            </a:r>
          </a:p>
        </p:txBody>
      </p:sp>
      <p:cxnSp>
        <p:nvCxnSpPr>
          <p:cNvPr id="1065" name="Accent titre"/>
          <p:cNvCxnSpPr/>
          <p:nvPr/>
        </p:nvCxnSpPr>
        <p:spPr>
          <a:xfrm>
            <a:off x="147535" y="894944"/>
            <a:ext cx="1100000" cy="0"/>
          </a:xfrm>
          <a:prstGeom prst="line">
            <a:avLst/>
          </a:prstGeom>
          <a:ln w="38100" cap="rnd">
            <a:solidFill>
              <a:srgbClr val="FFA53C"/>
            </a:solidFill>
          </a:ln>
        </p:spPr>
      </p:cxnSp>
      <p:sp>
        <p:nvSpPr>
          <p:cNvPr id="106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25</a:t>
            </a:r>
          </a:p>
        </p:txBody>
      </p:sp>
    </p:spTree>
    <p:extLst>
      <p:ext uri="{BB962C8B-B14F-4D97-AF65-F5344CB8AC3E}">
        <p14:creationId xmlns:p14="http://schemas.microsoft.com/office/powerpoint/2010/main" val="2899108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70"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6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LE C# ESSENTIEL — ASYNCHRONE ET ERREURS</a:t>
            </a:r>
          </a:p>
        </p:txBody>
      </p:sp>
      <p:cxnSp>
        <p:nvCxnSpPr>
          <p:cNvPr id="106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69" name="Bloc de code"/>
          <p:cNvSpPr/>
          <p:nvPr/>
        </p:nvSpPr>
        <p:spPr>
          <a:xfrm>
            <a:off x="147535" y="1150000"/>
            <a:ext cx="11896927" cy="528000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public interface IProductStore</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Task&lt;Product?&gt; FindAsync(int id);</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 Constructeur primaire et dépendance explicite.</a:t>
            </a:r>
          </a:p>
          <a:p>
            <a:pPr marL="0">
              <a:lnSpc>
                <a:spcPts val="2016"/>
              </a:lnSpc>
              <a:spcBef>
                <a:spcPts val="0"/>
              </a:spcBef>
              <a:spcAft>
                <a:spcPts val="0"/>
              </a:spcAft>
              <a:buNone/>
            </a:pPr>
            <a:r>
              <a:rPr lang="fr-FR" sz="1800" b="0" i="0" dirty="0">
                <a:solidFill>
                  <a:srgbClr val="E5E7EB"/>
                </a:solidFill>
                <a:latin typeface="Consolas" pitchFamily="49" charset="0"/>
              </a:rPr>
              <a:t>public sealed class ProductLookup(IProductStore store)</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public async Task&lt;Product&gt; GetAsync(int id)</a:t>
            </a:r>
          </a:p>
          <a:p>
            <a:pPr marL="0">
              <a:lnSpc>
                <a:spcPts val="2016"/>
              </a:lnSpc>
              <a:spcBef>
                <a:spcPts val="0"/>
              </a:spcBef>
              <a:spcAft>
                <a:spcPts val="0"/>
              </a:spcAft>
              <a:buNone/>
            </a:pPr>
            <a:r>
              <a:rPr lang="fr-FR" sz="1800" b="0" i="0" dirty="0">
                <a:solidFill>
                  <a:srgbClr val="E5E7EB"/>
                </a:solidFill>
                <a:latin typeface="Consolas" pitchFamily="49" charset="0"/>
              </a:rPr>
              <a:t>    {</a:t>
            </a:r>
          </a:p>
          <a:p>
            <a:pPr marL="0">
              <a:lnSpc>
                <a:spcPts val="2016"/>
              </a:lnSpc>
              <a:spcBef>
                <a:spcPts val="0"/>
              </a:spcBef>
              <a:spcAft>
                <a:spcPts val="0"/>
              </a:spcAft>
              <a:buNone/>
            </a:pPr>
            <a:r>
              <a:rPr lang="fr-FR" sz="1800" b="0" i="0" dirty="0">
                <a:solidFill>
                  <a:srgbClr val="E5E7EB"/>
                </a:solidFill>
                <a:latin typeface="Consolas" pitchFamily="49" charset="0"/>
              </a:rPr>
              <a:t>        if (id &lt;= 0)</a:t>
            </a:r>
          </a:p>
          <a:p>
            <a:pPr marL="0">
              <a:lnSpc>
                <a:spcPts val="2016"/>
              </a:lnSpc>
              <a:spcBef>
                <a:spcPts val="0"/>
              </a:spcBef>
              <a:spcAft>
                <a:spcPts val="0"/>
              </a:spcAft>
              <a:buNone/>
            </a:pPr>
            <a:r>
              <a:rPr lang="fr-FR" sz="1800" b="0" i="0" dirty="0">
                <a:solidFill>
                  <a:srgbClr val="E5E7EB"/>
                </a:solidFill>
                <a:latin typeface="Consolas" pitchFamily="49" charset="0"/>
              </a:rPr>
              <a:t>            throw new ArgumentOutOfRangeException(nameof(id));</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        return await store.FindAsync(id)</a:t>
            </a:r>
          </a:p>
          <a:p>
            <a:pPr marL="0">
              <a:lnSpc>
                <a:spcPts val="2016"/>
              </a:lnSpc>
              <a:spcBef>
                <a:spcPts val="0"/>
              </a:spcBef>
              <a:spcAft>
                <a:spcPts val="0"/>
              </a:spcAft>
              <a:buNone/>
            </a:pPr>
            <a:r>
              <a:rPr lang="fr-FR" sz="1800" b="0" i="0" dirty="0">
                <a:solidFill>
                  <a:srgbClr val="E5E7EB"/>
                </a:solidFill>
                <a:latin typeface="Consolas" pitchFamily="49" charset="0"/>
              </a:rPr>
              <a:t>            ?? throw new KeyNotFoundException("Produit inconnu");</a:t>
            </a:r>
          </a:p>
          <a:p>
            <a:pPr marL="0">
              <a:lnSpc>
                <a:spcPts val="2016"/>
              </a:lnSpc>
              <a:spcBef>
                <a:spcPts val="0"/>
              </a:spcBef>
              <a:spcAft>
                <a:spcPts val="0"/>
              </a:spcAft>
              <a:buNone/>
            </a:pPr>
            <a:r>
              <a:rPr lang="fr-FR" sz="1800" b="0" i="0" dirty="0">
                <a:solidFill>
                  <a:srgbClr val="E5E7EB"/>
                </a:solidFill>
                <a:latin typeface="Consolas" pitchFamily="49" charset="0"/>
              </a:rPr>
              <a:t>    }</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Task&lt;T&gt; représente le résultat d’une opération asynchrone.</a:t>
            </a:r>
          </a:p>
        </p:txBody>
      </p:sp>
      <p:cxnSp>
        <p:nvCxnSpPr>
          <p:cNvPr id="1071" name="Accent titre"/>
          <p:cNvCxnSpPr/>
          <p:nvPr/>
        </p:nvCxnSpPr>
        <p:spPr>
          <a:xfrm>
            <a:off x="147535" y="894944"/>
            <a:ext cx="1100000" cy="0"/>
          </a:xfrm>
          <a:prstGeom prst="line">
            <a:avLst/>
          </a:prstGeom>
          <a:ln w="38100" cap="rnd">
            <a:solidFill>
              <a:srgbClr val="FFA53C"/>
            </a:solidFill>
          </a:ln>
        </p:spPr>
      </p:cxnSp>
      <p:sp>
        <p:nvSpPr>
          <p:cNvPr id="107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26</a:t>
            </a:r>
          </a:p>
        </p:txBody>
      </p:sp>
    </p:spTree>
    <p:extLst>
      <p:ext uri="{BB962C8B-B14F-4D97-AF65-F5344CB8AC3E}">
        <p14:creationId xmlns:p14="http://schemas.microsoft.com/office/powerpoint/2010/main" val="2899108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77"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73"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CE QUI EST NOUVEAU EN C# 14</a:t>
            </a:r>
          </a:p>
        </p:txBody>
      </p:sp>
      <p:cxnSp>
        <p:nvCxnSpPr>
          <p:cNvPr id="1074"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75" name="ZoneTexte"/>
          <p:cNvSpPr txBox="1"/>
          <p:nvPr/>
        </p:nvSpPr>
        <p:spPr>
          <a:xfrm>
            <a:off x="147535" y="1150000"/>
            <a:ext cx="11896927" cy="329184"/>
          </a:xfrm>
          <a:prstGeom prst="rect">
            <a:avLst/>
          </a:prstGeom>
          <a:noFill/>
        </p:spPr>
        <p:txBody>
          <a:bodyPr wrap="square" lIns="0" tIns="0" rIns="127000" bIns="0" rtlCol="0" anchor="t"/>
          <a:lstStyle/>
          <a:p>
            <a:r>
              <a:rPr lang="fr-FR" sz="2000" dirty="0">
                <a:solidFill>
                  <a:srgbClr val="ECEEF3"/>
                </a:solidFill>
              </a:rPr>
              <a:t>C# 14 : des formes facultatives, à choisir pour la lisibilité du code.</a:t>
            </a:r>
          </a:p>
        </p:txBody>
      </p:sp>
      <p:sp>
        <p:nvSpPr>
          <p:cNvPr id="1076" name="Bloc de code"/>
          <p:cNvSpPr/>
          <p:nvPr/>
        </p:nvSpPr>
        <p:spPr>
          <a:xfrm>
            <a:off x="147535" y="1554000"/>
            <a:ext cx="11896927" cy="474025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904"/>
              </a:lnSpc>
              <a:spcBef>
                <a:spcPts val="0"/>
              </a:spcBef>
              <a:spcAft>
                <a:spcPts val="0"/>
              </a:spcAft>
              <a:buNone/>
            </a:pPr>
            <a:r>
              <a:rPr lang="fr-FR" sz="1700" b="0" i="0" dirty="0">
                <a:solidFill>
                  <a:srgbClr val="E5E7EB"/>
                </a:solidFill>
                <a:latin typeface="Consolas" pitchFamily="49" charset="0"/>
              </a:rPr>
              <a:t>// 'field' : accès au champ privé généré d’une propriété.</a:t>
            </a:r>
          </a:p>
          <a:p>
            <a:pPr marL="0">
              <a:lnSpc>
                <a:spcPts val="1904"/>
              </a:lnSpc>
              <a:spcBef>
                <a:spcPts val="0"/>
              </a:spcBef>
              <a:spcAft>
                <a:spcPts val="0"/>
              </a:spcAft>
              <a:buNone/>
            </a:pPr>
            <a:r>
              <a:rPr lang="fr-FR" sz="1700" b="0" i="0" dirty="0">
                <a:solidFill>
                  <a:srgbClr val="E5E7EB"/>
                </a:solidFill>
                <a:latin typeface="Consolas" pitchFamily="49" charset="0"/>
              </a:rPr>
              <a:t>public string Label</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get =&gt; field;</a:t>
            </a:r>
          </a:p>
          <a:p>
            <a:pPr marL="0">
              <a:lnSpc>
                <a:spcPts val="1904"/>
              </a:lnSpc>
              <a:spcBef>
                <a:spcPts val="0"/>
              </a:spcBef>
              <a:spcAft>
                <a:spcPts val="0"/>
              </a:spcAft>
              <a:buNone/>
            </a:pPr>
            <a:r>
              <a:rPr lang="fr-FR" sz="1700" b="0" i="0" dirty="0">
                <a:solidFill>
                  <a:srgbClr val="E5E7EB"/>
                </a:solidFill>
                <a:latin typeface="Consolas" pitchFamily="49" charset="0"/>
              </a:rPr>
              <a:t>    set =&gt; field = !string.IsNullOrWhiteSpace(value)</a:t>
            </a:r>
          </a:p>
          <a:p>
            <a:pPr marL="0">
              <a:lnSpc>
                <a:spcPts val="1904"/>
              </a:lnSpc>
              <a:spcBef>
                <a:spcPts val="0"/>
              </a:spcBef>
              <a:spcAft>
                <a:spcPts val="0"/>
              </a:spcAft>
              <a:buNone/>
            </a:pPr>
            <a:r>
              <a:rPr lang="fr-FR" sz="1700" b="0" i="0" dirty="0">
                <a:solidFill>
                  <a:srgbClr val="E5E7EB"/>
                </a:solidFill>
                <a:latin typeface="Consolas" pitchFamily="49" charset="0"/>
              </a:rPr>
              <a:t>        ? value</a:t>
            </a:r>
          </a:p>
          <a:p>
            <a:pPr marL="0">
              <a:lnSpc>
                <a:spcPts val="1904"/>
              </a:lnSpc>
              <a:spcBef>
                <a:spcPts val="0"/>
              </a:spcBef>
              <a:spcAft>
                <a:spcPts val="0"/>
              </a:spcAft>
              <a:buNone/>
            </a:pPr>
            <a:r>
              <a:rPr lang="fr-FR" sz="1700" b="0" i="0" dirty="0">
                <a:solidFill>
                  <a:srgbClr val="E5E7EB"/>
                </a:solidFill>
                <a:latin typeface="Consolas" pitchFamily="49" charset="0"/>
              </a:rPr>
              <a:t>        : throw new ArgumentException("Libellé requis", nameof(value));</a:t>
            </a:r>
          </a:p>
          <a:p>
            <a:pPr marL="0">
              <a:lnSpc>
                <a:spcPts val="1904"/>
              </a:lnSpc>
              <a:spcBef>
                <a:spcPts val="0"/>
              </a:spcBef>
              <a:spcAft>
                <a:spcPts val="0"/>
              </a:spcAft>
              <a:buNone/>
            </a:pPr>
            <a:r>
              <a:rPr lang="fr-FR" sz="1700" b="0" i="0" dirty="0">
                <a:solidFill>
                  <a:srgbClr val="E5E7EB"/>
                </a:solidFill>
                <a:latin typeface="Consolas" pitchFamily="49" charset="0"/>
              </a:rPr>
              <a:t>} = "Catalogue";</a:t>
            </a:r>
          </a:p>
          <a:p>
            <a:pPr marL="0">
              <a:lnSpc>
                <a:spcPts val="1904"/>
              </a:lnSpc>
              <a:spcBef>
                <a:spcPts val="0"/>
              </a:spcBef>
              <a:spcAft>
                <a:spcPts val="0"/>
              </a:spcAft>
              <a:buNone/>
            </a:pPr>
            <a:r>
              <a:rPr lang="fr-FR" sz="1700" b="0" i="0" dirty="0">
                <a:solidFill>
                  <a:srgbClr val="E5E7EB"/>
                </a:solidFill>
                <a:latin typeface="Consolas" pitchFamily="49" charset="0"/>
              </a:rPr>
              <a:t>// Affectation null-conditionnelle.</a:t>
            </a:r>
          </a:p>
          <a:p>
            <a:pPr marL="0">
              <a:lnSpc>
                <a:spcPts val="1904"/>
              </a:lnSpc>
              <a:spcBef>
                <a:spcPts val="0"/>
              </a:spcBef>
              <a:spcAft>
                <a:spcPts val="0"/>
              </a:spcAft>
              <a:buNone/>
            </a:pPr>
            <a:r>
              <a:rPr lang="fr-FR" sz="1700" b="0" i="0" dirty="0">
                <a:solidFill>
                  <a:srgbClr val="E5E7EB"/>
                </a:solidFill>
                <a:latin typeface="Consolas" pitchFamily="49" charset="0"/>
              </a:rPr>
              <a:t>product?.Price = 12m;</a:t>
            </a:r>
          </a:p>
          <a:p>
            <a:pPr marL="0">
              <a:lnSpc>
                <a:spcPts val="1904"/>
              </a:lnSpc>
              <a:spcBef>
                <a:spcPts val="0"/>
              </a:spcBef>
              <a:spcAft>
                <a:spcPts val="0"/>
              </a:spcAft>
              <a:buNone/>
            </a:pPr>
            <a:r>
              <a:rPr lang="fr-FR" sz="1700" b="0" i="0" dirty="0">
                <a:solidFill>
                  <a:srgbClr val="E5E7EB"/>
                </a:solidFill>
                <a:latin typeface="Consolas" pitchFamily="49" charset="0"/>
              </a:rPr>
              <a:t>// Membres d’extension.</a:t>
            </a:r>
          </a:p>
          <a:p>
            <a:pPr marL="0">
              <a:lnSpc>
                <a:spcPts val="1904"/>
              </a:lnSpc>
              <a:spcBef>
                <a:spcPts val="0"/>
              </a:spcBef>
              <a:spcAft>
                <a:spcPts val="0"/>
              </a:spcAft>
              <a:buNone/>
            </a:pPr>
            <a:r>
              <a:rPr lang="fr-FR" sz="1700" b="0" i="0" dirty="0">
                <a:solidFill>
                  <a:srgbClr val="E5E7EB"/>
                </a:solidFill>
                <a:latin typeface="Consolas" pitchFamily="49" charset="0"/>
              </a:rPr>
              <a:t>public static class TextExtensions</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extension(string text)</a:t>
            </a:r>
          </a:p>
          <a:p>
            <a:pPr marL="0">
              <a:lnSpc>
                <a:spcPts val="1904"/>
              </a:lnSpc>
              <a:spcBef>
                <a:spcPts val="0"/>
              </a:spcBef>
              <a:spcAft>
                <a:spcPts val="0"/>
              </a:spcAft>
              <a:buNone/>
            </a:pPr>
            <a:r>
              <a:rPr lang="fr-FR" sz="1700" b="0" i="0" dirty="0">
                <a:solidFill>
                  <a:srgbClr val="E5E7EB"/>
                </a:solidFill>
                <a:latin typeface="Consolas" pitchFamily="49" charset="0"/>
              </a:rPr>
              <a:t>    {</a:t>
            </a:r>
          </a:p>
          <a:p>
            <a:pPr marL="0">
              <a:lnSpc>
                <a:spcPts val="1904"/>
              </a:lnSpc>
              <a:spcBef>
                <a:spcPts val="0"/>
              </a:spcBef>
              <a:spcAft>
                <a:spcPts val="0"/>
              </a:spcAft>
              <a:buNone/>
            </a:pPr>
            <a:r>
              <a:rPr lang="fr-FR" sz="1700" b="0" i="0" dirty="0">
                <a:solidFill>
                  <a:srgbClr val="E5E7EB"/>
                </a:solidFill>
                <a:latin typeface="Consolas" pitchFamily="49" charset="0"/>
              </a:rPr>
              <a:t>        public bool IsBlank =&gt; string.IsNullOrWhiteSpace(text);</a:t>
            </a:r>
          </a:p>
          <a:p>
            <a:pPr marL="0">
              <a:lnSpc>
                <a:spcPts val="1904"/>
              </a:lnSpc>
              <a:spcBef>
                <a:spcPts val="0"/>
              </a:spcBef>
              <a:spcAft>
                <a:spcPts val="0"/>
              </a:spcAft>
              <a:buNone/>
            </a:pPr>
            <a:r>
              <a:rPr lang="fr-FR" sz="1700" b="0" i="0" dirty="0">
                <a:solidFill>
                  <a:srgbClr val="E5E7EB"/>
                </a:solidFill>
                <a:latin typeface="Consolas" pitchFamily="49" charset="0"/>
              </a:rPr>
              <a:t>    }</a:t>
            </a:r>
          </a:p>
          <a:p>
            <a:pPr marL="0">
              <a:lnSpc>
                <a:spcPts val="1904"/>
              </a:lnSpc>
              <a:spcBef>
                <a:spcPts val="0"/>
              </a:spcBef>
              <a:spcAft>
                <a:spcPts val="0"/>
              </a:spcAft>
              <a:buNone/>
            </a:pPr>
            <a:r>
              <a:rPr lang="fr-FR" sz="1700" b="0" i="0" dirty="0">
                <a:solidFill>
                  <a:srgbClr val="E5E7EB"/>
                </a:solidFill>
                <a:latin typeface="Consolas" pitchFamily="49" charset="0"/>
              </a:rPr>
              <a:t>}</a:t>
            </a:r>
          </a:p>
        </p:txBody>
      </p:sp>
      <p:cxnSp>
        <p:nvCxnSpPr>
          <p:cNvPr id="1078" name="Accent titre"/>
          <p:cNvCxnSpPr/>
          <p:nvPr/>
        </p:nvCxnSpPr>
        <p:spPr>
          <a:xfrm>
            <a:off x="147535" y="894944"/>
            <a:ext cx="1100000" cy="0"/>
          </a:xfrm>
          <a:prstGeom prst="line">
            <a:avLst/>
          </a:prstGeom>
          <a:ln w="38100" cap="rnd">
            <a:solidFill>
              <a:srgbClr val="FFA53C"/>
            </a:solidFill>
          </a:ln>
        </p:spPr>
      </p:cxnSp>
      <p:sp>
        <p:nvSpPr>
          <p:cNvPr id="107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27</a:t>
            </a:r>
          </a:p>
        </p:txBody>
      </p:sp>
    </p:spTree>
    <p:extLst>
      <p:ext uri="{BB962C8B-B14F-4D97-AF65-F5344CB8AC3E}">
        <p14:creationId xmlns:p14="http://schemas.microsoft.com/office/powerpoint/2010/main" val="2899108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8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8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CRÉER LA SOLUTION</a:t>
            </a:r>
          </a:p>
        </p:txBody>
      </p:sp>
      <p:cxnSp>
        <p:nvCxnSpPr>
          <p:cNvPr id="108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082" name="Bloc de code"/>
          <p:cNvSpPr/>
          <p:nvPr/>
        </p:nvSpPr>
        <p:spPr>
          <a:xfrm>
            <a:off x="147535" y="1150000"/>
            <a:ext cx="11896927" cy="2676500"/>
          </a:xfrm>
          <a:prstGeom prst="roundRect">
            <a:avLst>
              <a:gd name="adj" fmla="val 3500"/>
            </a:avLst>
          </a:prstGeom>
          <a:solidFill>
            <a:srgbClr val="11141B"/>
          </a:solidFill>
          <a:ln w="9525">
            <a:solidFill>
              <a:srgbClr val="2B3140"/>
            </a:solidFill>
          </a:ln>
        </p:spPr>
        <p:txBody>
          <a:bodyPr wrap="square" lIns="228600" tIns="73152" rIns="152400" bIns="73152" rtlCol="0" anchor="t"/>
          <a:lstStyle/>
          <a:p>
            <a:pPr marL="0">
              <a:lnSpc>
                <a:spcPts val="1456"/>
              </a:lnSpc>
              <a:spcBef>
                <a:spcPts val="0"/>
              </a:spcBef>
              <a:spcAft>
                <a:spcPts val="0"/>
              </a:spcAft>
            </a:pPr>
            <a:r>
              <a:rPr lang="fr-FR" sz="1300" b="0" i="0" dirty="0">
                <a:solidFill>
                  <a:srgbClr val="DCE5F0"/>
                </a:solidFill>
                <a:latin typeface="Consolas" pitchFamily="49" charset="0"/>
              </a:rPr>
              <a:t># Copier global.json à la racine, puis vérifier dotnet --version</a:t>
            </a:r>
          </a:p>
          <a:p>
            <a:pPr marL="0">
              <a:lnSpc>
                <a:spcPts val="1456"/>
              </a:lnSpc>
              <a:spcBef>
                <a:spcPts val="0"/>
              </a:spcBef>
              <a:spcAft>
                <a:spcPts val="0"/>
              </a:spcAft>
            </a:pPr>
            <a:r>
              <a:rPr lang="fr-FR" sz="1300" b="0" i="0" dirty="0">
                <a:solidFill>
                  <a:srgbClr val="DCE5F0"/>
                </a:solidFill>
                <a:latin typeface="Consolas" pitchFamily="49" charset="0"/>
              </a:rPr>
              <a:t>dotnet new sln -n BattleShip</a:t>
            </a:r>
          </a:p>
          <a:p>
            <a:pPr marL="0">
              <a:lnSpc>
                <a:spcPts val="1456"/>
              </a:lnSpc>
              <a:spcBef>
                <a:spcPts val="0"/>
              </a:spcBef>
              <a:spcAft>
                <a:spcPts val="0"/>
              </a:spcAft>
            </a:pPr>
            <a:r>
              <a:rPr lang="fr-FR" sz="1300" b="0" i="0" dirty="0">
                <a:solidFill>
                  <a:srgbClr val="DCE5F0"/>
                </a:solidFill>
                <a:latin typeface="Consolas" pitchFamily="49" charset="0"/>
              </a:rPr>
              <a:t>dotnet new webapi     -n BattleShip.API      # Minimal API par défaut</a:t>
            </a:r>
          </a:p>
          <a:p>
            <a:pPr marL="0">
              <a:lnSpc>
                <a:spcPts val="1456"/>
              </a:lnSpc>
              <a:spcBef>
                <a:spcPts val="0"/>
              </a:spcBef>
              <a:spcAft>
                <a:spcPts val="0"/>
              </a:spcAft>
            </a:pPr>
            <a:r>
              <a:rPr lang="fr-FR" sz="1300" b="0" i="0" dirty="0">
                <a:solidFill>
                  <a:srgbClr val="DCE5F0"/>
                </a:solidFill>
                <a:latin typeface="Consolas" pitchFamily="49" charset="0"/>
              </a:rPr>
              <a:t>dotnet new blazorwasm -n BattleShip.App</a:t>
            </a:r>
          </a:p>
          <a:p>
            <a:pPr marL="0">
              <a:lnSpc>
                <a:spcPts val="1456"/>
              </a:lnSpc>
              <a:spcBef>
                <a:spcPts val="0"/>
              </a:spcBef>
              <a:spcAft>
                <a:spcPts val="0"/>
              </a:spcAft>
            </a:pPr>
            <a:r>
              <a:rPr lang="fr-FR" sz="1300" b="0" i="0" dirty="0">
                <a:solidFill>
                  <a:srgbClr val="DCE5F0"/>
                </a:solidFill>
                <a:latin typeface="Consolas" pitchFamily="49" charset="0"/>
              </a:rPr>
              <a:t>dotnet new classlib   -n BattleShip.Models</a:t>
            </a:r>
          </a:p>
          <a:p>
            <a:pPr>
              <a:lnSpc>
                <a:spcPts val="1456"/>
              </a:lnSpc>
              <a:spcBef>
                <a:spcPts val="0"/>
              </a:spcBef>
              <a:spcAft>
                <a:spcPts val="0"/>
              </a:spcAft>
            </a:pPr>
            <a:r>
              <a:rPr sz="1300" b="0" i="0">
                <a:solidFill>
                  <a:srgbClr val="DCE5F0"/>
                </a:solidFill>
                <a:latin typeface="Consolas"/>
              </a:rPr>
              <a:t>dotnet new xunit      -n BattleShip.Tests</a:t>
            </a:r>
          </a:p>
          <a:p>
            <a:pPr marL="0">
              <a:lnSpc>
                <a:spcPts val="1456"/>
              </a:lnSpc>
              <a:spcBef>
                <a:spcPts val="0"/>
              </a:spcBef>
              <a:spcAft>
                <a:spcPts val="0"/>
              </a:spcAft>
            </a:pPr>
            <a:r>
              <a:rPr lang="fr-FR" sz="1300" b="0" i="0" dirty="0">
                <a:solidFill>
                  <a:srgbClr val="DCE5F0"/>
                </a:solidFill>
                <a:latin typeface="Consolas" pitchFamily="49" charset="0"/>
              </a:rPr>
              <a:t>dotnet sln add BattleShip.API BattleShip.App BattleShip.Models BattleShip.Tests</a:t>
            </a:r>
          </a:p>
          <a:p>
            <a:pPr marL="0">
              <a:lnSpc>
                <a:spcPts val="1456"/>
              </a:lnSpc>
              <a:spcBef>
                <a:spcPts val="0"/>
              </a:spcBef>
              <a:spcAft>
                <a:spcPts val="0"/>
              </a:spcAft>
            </a:pPr>
            <a:r>
              <a:rPr lang="fr-FR" sz="1300" b="0" i="0" dirty="0">
                <a:solidFill>
                  <a:srgbClr val="DCE5F0"/>
                </a:solidFill>
                <a:latin typeface="Consolas" pitchFamily="49" charset="0"/>
              </a:rPr>
              <a:t>dotnet add BattleShip.API   reference BattleShip.Models</a:t>
            </a:r>
          </a:p>
          <a:p>
            <a:pPr marL="0">
              <a:lnSpc>
                <a:spcPts val="1456"/>
              </a:lnSpc>
              <a:spcBef>
                <a:spcPts val="0"/>
              </a:spcBef>
              <a:spcAft>
                <a:spcPts val="0"/>
              </a:spcAft>
            </a:pPr>
            <a:r>
              <a:rPr lang="fr-FR" sz="1300" b="0" i="0" dirty="0">
                <a:solidFill>
                  <a:srgbClr val="DCE5F0"/>
                </a:solidFill>
                <a:latin typeface="Consolas" pitchFamily="49" charset="0"/>
              </a:rPr>
              <a:t>dotnet add BattleShip.App   reference BattleShip.Models</a:t>
            </a:r>
          </a:p>
          <a:p>
            <a:pPr marL="0">
              <a:lnSpc>
                <a:spcPts val="1456"/>
              </a:lnSpc>
              <a:spcBef>
                <a:spcPts val="0"/>
              </a:spcBef>
              <a:spcAft>
                <a:spcPts val="0"/>
              </a:spcAft>
            </a:pPr>
            <a:r>
              <a:rPr lang="fr-FR" sz="1300" b="0" i="0" dirty="0">
                <a:solidFill>
                  <a:srgbClr val="DCE5F0"/>
                </a:solidFill>
                <a:latin typeface="Consolas" pitchFamily="49" charset="0"/>
              </a:rPr>
              <a:t>dotnet add BattleShip.Tests reference BattleShip.API</a:t>
            </a:r>
          </a:p>
          <a:p>
            <a:pPr>
              <a:lnSpc>
                <a:spcPts val="1456"/>
              </a:lnSpc>
              <a:spcBef>
                <a:spcPts val="0"/>
              </a:spcBef>
              <a:spcAft>
                <a:spcPts val="0"/>
              </a:spcAft>
            </a:pPr>
            <a:r>
              <a:rPr sz="1300" b="0" i="0">
                <a:solidFill>
                  <a:srgbClr val="DCE5F0"/>
                </a:solidFill>
                <a:latin typeface="Consolas"/>
              </a:rPr>
              <a:t>dotnet build</a:t>
            </a:r>
          </a:p>
          <a:p>
            <a:pPr marL="0">
              <a:lnSpc>
                <a:spcPts val="1456"/>
              </a:lnSpc>
              <a:spcBef>
                <a:spcPts val="0"/>
              </a:spcBef>
              <a:spcAft>
                <a:spcPts val="0"/>
              </a:spcAft>
            </a:pPr>
            <a:r>
              <a:rPr lang="fr-FR" sz="1300" b="0" i="0" dirty="0">
                <a:solidFill>
                  <a:srgbClr val="DCE5F0"/>
                </a:solidFill>
                <a:latin typeface="Consolas" pitchFamily="49" charset="0"/>
              </a:rPr>
              <a:t>dotnet test</a:t>
            </a:r>
          </a:p>
        </p:txBody>
      </p:sp>
      <p:sp>
        <p:nvSpPr>
          <p:cNvPr id="1083" name="ZoneTexte"/>
          <p:cNvSpPr txBox="1"/>
          <p:nvPr/>
        </p:nvSpPr>
        <p:spPr>
          <a:xfrm>
            <a:off x="147535" y="3976500"/>
            <a:ext cx="11896927" cy="2540000"/>
          </a:xfrm>
          <a:prstGeom prst="rect">
            <a:avLst/>
          </a:prstGeom>
          <a:noFill/>
        </p:spPr>
        <p:txBody>
          <a:bodyPr wrap="square" lIns="0" tIns="0" rIns="127000" bIns="0" rtlCol="0" anchor="t"/>
          <a:lstStyle/>
          <a:p>
            <a:pPr marL="285750" indent="-285750">
              <a:buClr>
                <a:srgbClr val="FFA53C"/>
              </a:buClr>
              <a:buFont typeface="Arial" panose="020B0604020202020204" pitchFamily="34" charset="0"/>
              <a:buChar char="•"/>
            </a:pPr>
            <a:r>
              <a:rPr lang="fr-FR" sz="1900" dirty="0">
                <a:solidFill>
                  <a:srgbClr val="ECEEF3"/>
                </a:solidFill>
              </a:rPr>
              <a:t>Le SDK .NET 10 crée une Minimal API et une solution .slnx. global.json évite de sélectionner une autre version majeure installée.</a:t>
            </a:r>
          </a:p>
          <a:p>
            <a:pPr marL="285750" indent="-285750">
              <a:buClr>
                <a:srgbClr val="FFA53C"/>
              </a:buClr>
              <a:buFont typeface="Arial" panose="020B0604020202020204" pitchFamily="34" charset="0"/>
              <a:buChar char="•"/>
            </a:pPr>
            <a:r>
              <a:rPr lang="fr-FR" sz="1900" dirty="0">
                <a:solidFill>
                  <a:srgbClr val="ECEEF3"/>
                </a:solidFill>
              </a:rPr>
              <a:t>HTTPS local : vérifiez le certificat avec dotnet dev-certs https --trust, selon votre système et votre navigateur.</a:t>
            </a:r>
          </a:p>
          <a:p>
            <a:pPr marL="285750" indent="-285750">
              <a:buClr>
                <a:srgbClr val="FFA53C"/>
              </a:buClr>
              <a:buFont typeface="Arial" panose="020B0604020202020204" pitchFamily="34" charset="0"/>
              <a:buChar char="•"/>
            </a:pPr>
            <a:r>
              <a:rPr lang="fr-FR" sz="1900" dirty="0">
                <a:solidFill>
                  <a:srgbClr val="ECEEF3"/>
                </a:solidFill>
              </a:rPr>
              <a:t>Lancez API et front avec le profil https ; relevez les ports pour BaseAddress et CORS. Les ports 7001 et 7043 sont des exemples.</a:t>
            </a:r>
          </a:p>
          <a:p>
            <a:r>
              <a:rPr lang="fr-FR" sz="1900" dirty="0">
                <a:solidFill>
                  <a:srgbClr val="7A808F"/>
                </a:solidFill>
              </a:rPr>
              <a:t>BattleShip.Models ne dépend d’aucun autre projet. Le moteur reste indépendant de HTTP, JSON et gRPC.</a:t>
            </a:r>
          </a:p>
        </p:txBody>
      </p:sp>
      <p:cxnSp>
        <p:nvCxnSpPr>
          <p:cNvPr id="1085" name="Accent titre"/>
          <p:cNvCxnSpPr/>
          <p:nvPr/>
        </p:nvCxnSpPr>
        <p:spPr>
          <a:xfrm>
            <a:off x="147535" y="894944"/>
            <a:ext cx="1100000" cy="0"/>
          </a:xfrm>
          <a:prstGeom prst="line">
            <a:avLst/>
          </a:prstGeom>
          <a:ln w="38100" cap="rnd">
            <a:solidFill>
              <a:srgbClr val="FFA53C"/>
            </a:solidFill>
          </a:ln>
        </p:spPr>
      </p:cxnSp>
      <p:sp>
        <p:nvSpPr>
          <p:cNvPr id="108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28</a:t>
            </a:r>
          </a:p>
        </p:txBody>
      </p:sp>
    </p:spTree>
    <p:extLst>
      <p:ext uri="{BB962C8B-B14F-4D97-AF65-F5344CB8AC3E}">
        <p14:creationId xmlns:p14="http://schemas.microsoft.com/office/powerpoint/2010/main" val="2899108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91"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01 · S’ÉQUIPER ET DÉMARRER</a:t>
            </a:r>
          </a:p>
        </p:txBody>
      </p:sp>
      <p:sp>
        <p:nvSpPr>
          <p:cNvPr id="108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LES RESPONSABILITÉS À ORGANISER</a:t>
            </a:r>
          </a:p>
        </p:txBody>
      </p:sp>
      <p:cxnSp>
        <p:nvCxnSpPr>
          <p:cNvPr id="108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092" name="Accent titre"/>
          <p:cNvCxnSpPr/>
          <p:nvPr/>
        </p:nvCxnSpPr>
        <p:spPr>
          <a:xfrm>
            <a:off x="147535" y="894944"/>
            <a:ext cx="1100000" cy="0"/>
          </a:xfrm>
          <a:prstGeom prst="line">
            <a:avLst/>
          </a:prstGeom>
          <a:ln w="38100" cap="rnd">
            <a:solidFill>
              <a:srgbClr val="FFA53C"/>
            </a:solidFill>
          </a:ln>
        </p:spPr>
      </p:cxnSp>
      <p:sp>
        <p:nvSpPr>
          <p:cNvPr id="1093"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29</a:t>
            </a:r>
          </a:p>
        </p:txBody>
      </p:sp>
      <p:sp>
        <p:nvSpPr>
          <p:cNvPr id="1094" name="Exemple générique"/>
          <p:cNvSpPr/>
          <p:nvPr/>
        </p:nvSpPr>
        <p:spPr>
          <a:xfrm>
            <a:off x="146304" y="1143000"/>
            <a:ext cx="11896344" cy="237744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240"/>
              </a:lnSpc>
              <a:spcBef>
                <a:spcPts val="0"/>
              </a:spcBef>
              <a:spcAft>
                <a:spcPts val="0"/>
              </a:spcAft>
              <a:buNone/>
            </a:pPr>
            <a:r>
              <a:rPr lang="fr-FR" sz="2000" b="0" i="0" dirty="0">
                <a:solidFill>
                  <a:srgbClr val="E5E7EB"/>
                </a:solidFill>
                <a:latin typeface="Consolas" pitchFamily="49" charset="0"/>
              </a:rPr>
              <a:t>Navigateur : interface Blazor WebAssembly</a:t>
            </a:r>
          </a:p>
          <a:p>
            <a:pPr marL="0">
              <a:lnSpc>
                <a:spcPts val="2240"/>
              </a:lnSpc>
              <a:spcBef>
                <a:spcPts val="0"/>
              </a:spcBef>
              <a:spcAft>
                <a:spcPts val="0"/>
              </a:spcAft>
              <a:buNone/>
            </a:pPr>
            <a:r>
              <a:rPr lang="fr-FR" sz="2000" b="0" i="0" dirty="0">
                <a:solidFill>
                  <a:srgbClr val="E5E7EB"/>
                </a:solidFill>
                <a:latin typeface="Consolas" pitchFamily="49" charset="0"/>
              </a:rPr>
              <a:t>                 | échanges HTTP/JSON et gRPC-Web</a:t>
            </a:r>
          </a:p>
          <a:p>
            <a:pPr marL="0">
              <a:lnSpc>
                <a:spcPts val="2240"/>
              </a:lnSpc>
              <a:spcBef>
                <a:spcPts val="0"/>
              </a:spcBef>
              <a:spcAft>
                <a:spcPts val="0"/>
              </a:spcAft>
              <a:buNone/>
            </a:pPr>
            <a:r>
              <a:rPr lang="fr-FR" sz="2000" b="0" i="0" dirty="0">
                <a:solidFill>
                  <a:srgbClr val="E5E7EB"/>
                </a:solidFill>
                <a:latin typeface="Consolas" pitchFamily="49" charset="0"/>
              </a:rPr>
              <a:t>                 v</a:t>
            </a:r>
          </a:p>
          <a:p>
            <a:pPr marL="0">
              <a:lnSpc>
                <a:spcPts val="2240"/>
              </a:lnSpc>
              <a:spcBef>
                <a:spcPts val="0"/>
              </a:spcBef>
              <a:spcAft>
                <a:spcPts val="0"/>
              </a:spcAft>
              <a:buNone/>
            </a:pPr>
            <a:r>
              <a:rPr lang="fr-FR" sz="2000" b="0" i="0" dirty="0">
                <a:solidFill>
                  <a:srgbClr val="E5E7EB"/>
                </a:solidFill>
                <a:latin typeface="Consolas" pitchFamily="49" charset="0"/>
              </a:rPr>
              <a:t>Serveur : API ASP.NET Core et règles du jeu</a:t>
            </a:r>
          </a:p>
          <a:p>
            <a:pPr marL="0">
              <a:lnSpc>
                <a:spcPct val="108000"/>
              </a:lnSpc>
              <a:spcBef>
                <a:spcPts val="0"/>
              </a:spcBef>
              <a:spcAft>
                <a:spcPts val="0"/>
              </a:spcAft>
              <a:buNone/>
            </a:pPr>
            <a:endParaRPr lang="fr-FR" sz="2000" b="0" i="0" dirty="0">
              <a:solidFill>
                <a:srgbClr val="E5E7EB"/>
              </a:solidFill>
              <a:latin typeface="Consolas" pitchFamily="49" charset="0"/>
            </a:endParaRPr>
          </a:p>
          <a:p>
            <a:pPr marL="0">
              <a:lnSpc>
                <a:spcPts val="2240"/>
              </a:lnSpc>
              <a:spcBef>
                <a:spcPts val="0"/>
              </a:spcBef>
              <a:spcAft>
                <a:spcPts val="0"/>
              </a:spcAft>
              <a:buNone/>
            </a:pPr>
            <a:r>
              <a:rPr lang="fr-FR" sz="2000" b="0" i="0" dirty="0">
                <a:solidFill>
                  <a:srgbClr val="E5E7EB"/>
                </a:solidFill>
                <a:latin typeface="Consolas" pitchFamily="49" charset="0"/>
              </a:rPr>
              <a:t>Modèles partagés : données échangées entre les projets</a:t>
            </a:r>
          </a:p>
          <a:p>
            <a:pPr marL="0">
              <a:lnSpc>
                <a:spcPct val="108000"/>
              </a:lnSpc>
              <a:spcBef>
                <a:spcPts val="0"/>
              </a:spcBef>
              <a:spcAft>
                <a:spcPts val="0"/>
              </a:spcAft>
              <a:buNone/>
            </a:pPr>
            <a:endParaRPr lang="fr-FR" sz="2000" b="0" i="0" dirty="0">
              <a:solidFill>
                <a:srgbClr val="E5E7EB"/>
              </a:solidFill>
              <a:latin typeface="Consolas" pitchFamily="49" charset="0"/>
            </a:endParaRPr>
          </a:p>
          <a:p>
            <a:pPr marL="0">
              <a:lnSpc>
                <a:spcPts val="2240"/>
              </a:lnSpc>
              <a:spcBef>
                <a:spcPts val="0"/>
              </a:spcBef>
              <a:spcAft>
                <a:spcPts val="0"/>
              </a:spcAft>
              <a:buNone/>
            </a:pPr>
            <a:r>
              <a:rPr lang="fr-FR" sz="2000" b="0" i="0" dirty="0">
                <a:solidFill>
                  <a:srgbClr val="E5E7EB"/>
                </a:solidFill>
                <a:latin typeface="Consolas" pitchFamily="49" charset="0"/>
              </a:rPr>
              <a:t>Tests : comportements métier et contrats d’intégration</a:t>
            </a:r>
          </a:p>
        </p:txBody>
      </p:sp>
      <p:sp>
        <p:nvSpPr>
          <p:cNvPr id="1095" name="Contenu"/>
          <p:cNvSpPr txBox="1"/>
          <p:nvPr/>
        </p:nvSpPr>
        <p:spPr>
          <a:xfrm>
            <a:off x="146304" y="3703320"/>
            <a:ext cx="11896344" cy="2651760"/>
          </a:xfrm>
          <a:prstGeom prst="rect">
            <a:avLst/>
          </a:prstGeom>
          <a:noFill/>
        </p:spPr>
        <p:txBody>
          <a:bodyPr wrap="square" lIns="0" tIns="54864" rIns="127000" bIns="54864" rtlCol="0" anchor="t"/>
          <a:lstStyle/>
          <a:p>
            <a:pPr marL="285750" indent="-285750">
              <a:lnSpc>
                <a:spcPts val="2464"/>
              </a:lnSpc>
              <a:spcBef>
                <a:spcPts val="0"/>
              </a:spcBef>
              <a:spcAft>
                <a:spcPts val="500"/>
              </a:spcAft>
              <a:buNone/>
            </a:pPr>
            <a:r>
              <a:rPr lang="fr-FR" sz="2200" b="1" dirty="0">
                <a:solidFill>
                  <a:srgbClr val="FFAD46"/>
                </a:solidFill>
                <a:latin typeface="Aptos"/>
              </a:rPr>
              <a:t>À vous de concevoir l’organisation interne</a:t>
            </a:r>
          </a:p>
          <a:p>
            <a:pPr marL="285750" indent="-285750">
              <a:lnSpc>
                <a:spcPts val="2464"/>
              </a:lnSpc>
              <a:spcBef>
                <a:spcPts val="0"/>
              </a:spcBef>
              <a:spcAft>
                <a:spcPts val="500"/>
              </a:spcAft>
              <a:buNone/>
            </a:pPr>
            <a:r>
              <a:rPr lang="fr-FR" sz="2200" b="0" dirty="0">
                <a:solidFill>
                  <a:srgbClr val="E5E7EB"/>
                </a:solidFill>
                <a:latin typeface="Aptos"/>
              </a:rPr>
              <a:t>Définissez les responsabilités, les dépendances et la gestion de l’état.</a:t>
            </a:r>
          </a:p>
          <a:p>
            <a:pPr marL="285750" indent="-285750">
              <a:lnSpc>
                <a:spcPts val="2464"/>
              </a:lnSpc>
              <a:spcBef>
                <a:spcPts val="0"/>
              </a:spcBef>
              <a:spcAft>
                <a:spcPts val="500"/>
              </a:spcAft>
              <a:buNone/>
            </a:pPr>
            <a:r>
              <a:rPr lang="fr-FR" sz="2200" b="0" dirty="0">
                <a:solidFill>
                  <a:srgbClr val="E5E7EB"/>
                </a:solidFill>
                <a:latin typeface="Aptos"/>
              </a:rPr>
              <a:t>Votre logique métier doit pouvoir être vérifiée indépendamment de l’interface et des transports.</a:t>
            </a:r>
          </a:p>
          <a:p>
            <a:pPr marL="285750" indent="-285750">
              <a:lnSpc>
                <a:spcPts val="2464"/>
              </a:lnSpc>
              <a:spcBef>
                <a:spcPts val="0"/>
              </a:spcBef>
              <a:spcAft>
                <a:spcPts val="500"/>
              </a:spcAft>
              <a:buNone/>
            </a:pPr>
            <a:r>
              <a:rPr lang="fr-FR" sz="2200" b="0" dirty="0">
                <a:solidFill>
                  <a:srgbClr val="E5E7EB"/>
                </a:solidFill>
                <a:latin typeface="Aptos"/>
              </a:rPr>
              <a:t>Expliquez les choix structurants et leurs conséquences dans vos ADR.</a:t>
            </a:r>
          </a:p>
        </p:txBody>
      </p:sp>
    </p:spTree>
    <p:extLst>
      <p:ext uri="{BB962C8B-B14F-4D97-AF65-F5344CB8AC3E}">
        <p14:creationId xmlns:p14="http://schemas.microsoft.com/office/powerpoint/2010/main" val="2899108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096" name="Numero section">
            <a:hlinkClick r:id="rId2" action="ppaction://hlinksldjump"/>
          </p:cNvPr>
          <p:cNvSpPr txBox="1"/>
          <p:nvPr/>
        </p:nvSpPr>
        <p:spPr>
          <a:xfrm>
            <a:off x="147535" y="1850000"/>
            <a:ext cx="4000000" cy="1868872"/>
          </a:xfrm>
          <a:prstGeom prst="rect">
            <a:avLst/>
          </a:prstGeom>
          <a:noFill/>
        </p:spPr>
        <p:txBody>
          <a:bodyPr wrap="square" lIns="0" tIns="0" rIns="127000" bIns="0" rtlCol="0" anchor="t"/>
          <a:lstStyle/>
          <a:p>
            <a:r>
              <a:rPr lang="fr-FR" sz="12000" spc="-100" dirty="0">
                <a:solidFill>
                  <a:srgbClr val="FFA53C"/>
                </a:solidFill>
                <a:latin typeface="Segoe UI Semibold"/>
              </a:rPr>
              <a:t>02</a:t>
            </a:r>
          </a:p>
        </p:txBody>
      </p:sp>
      <p:cxnSp>
        <p:nvCxnSpPr>
          <p:cNvPr id="1097" name="Filet section"/>
          <p:cNvCxnSpPr/>
          <p:nvPr/>
        </p:nvCxnSpPr>
        <p:spPr>
          <a:xfrm>
            <a:off x="147535" y="3700000"/>
            <a:ext cx="900000" cy="0"/>
          </a:xfrm>
          <a:prstGeom prst="line">
            <a:avLst/>
          </a:prstGeom>
          <a:ln w="50800" cap="rnd">
            <a:solidFill>
              <a:srgbClr val="FFA53C"/>
            </a:solidFill>
          </a:ln>
        </p:spPr>
      </p:cxnSp>
      <p:sp>
        <p:nvSpPr>
          <p:cNvPr id="1098" name="Section titre"/>
          <p:cNvSpPr txBox="1"/>
          <p:nvPr/>
        </p:nvSpPr>
        <p:spPr>
          <a:xfrm>
            <a:off x="147535" y="4040000"/>
            <a:ext cx="10900000" cy="800000"/>
          </a:xfrm>
          <a:prstGeom prst="rect">
            <a:avLst/>
          </a:prstGeom>
          <a:noFill/>
        </p:spPr>
        <p:txBody>
          <a:bodyPr wrap="square" lIns="0" tIns="0" rIns="127000" bIns="0" rtlCol="0" anchor="t"/>
          <a:lstStyle/>
          <a:p>
            <a:r>
              <a:rPr lang="fr-FR" sz="4400" spc="60" dirty="0">
                <a:solidFill>
                  <a:srgbClr val="FFFFFF"/>
                </a:solidFill>
                <a:latin typeface="Segoe UI Semibold"/>
              </a:rPr>
              <a:t>L’API</a:t>
            </a:r>
          </a:p>
        </p:txBody>
      </p:sp>
      <p:sp>
        <p:nvSpPr>
          <p:cNvPr id="1099" name="Section sous-titre"/>
          <p:cNvSpPr txBox="1"/>
          <p:nvPr/>
        </p:nvSpPr>
        <p:spPr>
          <a:xfrm>
            <a:off x="147535" y="4940000"/>
            <a:ext cx="10900000" cy="500000"/>
          </a:xfrm>
          <a:prstGeom prst="rect">
            <a:avLst/>
          </a:prstGeom>
          <a:noFill/>
        </p:spPr>
        <p:txBody>
          <a:bodyPr wrap="square" lIns="0" tIns="0" rIns="127000" bIns="0" rtlCol="0" anchor="t"/>
          <a:lstStyle/>
          <a:p>
            <a:r>
              <a:rPr lang="fr-FR" sz="1800" dirty="0">
                <a:solidFill>
                  <a:srgbClr val="7A808F"/>
                </a:solidFill>
                <a:latin typeface="Segoe UI"/>
              </a:rPr>
              <a:t>Minimal API, injection de dépendances, spécifications, tests</a:t>
            </a:r>
          </a:p>
        </p:txBody>
      </p:sp>
      <p:sp>
        <p:nvSpPr>
          <p:cNvPr id="110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30</a:t>
            </a:r>
          </a:p>
        </p:txBody>
      </p:sp>
    </p:spTree>
    <p:extLst>
      <p:ext uri="{BB962C8B-B14F-4D97-AF65-F5344CB8AC3E}">
        <p14:creationId xmlns:p14="http://schemas.microsoft.com/office/powerpoint/2010/main" val="2899108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05"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0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MINIMAL API : LES BASES</a:t>
            </a:r>
          </a:p>
        </p:txBody>
      </p:sp>
      <p:cxnSp>
        <p:nvCxnSpPr>
          <p:cNvPr id="110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106" name="Accent titre"/>
          <p:cNvCxnSpPr/>
          <p:nvPr/>
        </p:nvCxnSpPr>
        <p:spPr>
          <a:xfrm>
            <a:off x="147535" y="894944"/>
            <a:ext cx="1100000" cy="0"/>
          </a:xfrm>
          <a:prstGeom prst="line">
            <a:avLst/>
          </a:prstGeom>
          <a:ln w="38100" cap="rnd">
            <a:solidFill>
              <a:srgbClr val="FFA53C"/>
            </a:solidFill>
          </a:ln>
        </p:spPr>
      </p:cxnSp>
      <p:sp>
        <p:nvSpPr>
          <p:cNvPr id="1107"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31</a:t>
            </a:r>
          </a:p>
        </p:txBody>
      </p:sp>
      <p:sp>
        <p:nvSpPr>
          <p:cNvPr id="1108" name="Exemple générique"/>
          <p:cNvSpPr/>
          <p:nvPr/>
        </p:nvSpPr>
        <p:spPr>
          <a:xfrm>
            <a:off x="146304" y="1143000"/>
            <a:ext cx="11896344" cy="393192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128"/>
              </a:lnSpc>
              <a:spcBef>
                <a:spcPts val="0"/>
              </a:spcBef>
              <a:spcAft>
                <a:spcPts val="0"/>
              </a:spcAft>
              <a:buNone/>
            </a:pPr>
            <a:r>
              <a:rPr lang="fr-FR" sz="1900" b="0" i="0" dirty="0">
                <a:solidFill>
                  <a:srgbClr val="E5E7EB"/>
                </a:solidFill>
                <a:latin typeface="Consolas" pitchFamily="49" charset="0"/>
              </a:rPr>
              <a:t>var builder = WebApplication.CreateBuilder(args);</a:t>
            </a:r>
          </a:p>
          <a:p>
            <a:pPr marL="0">
              <a:lnSpc>
                <a:spcPts val="2128"/>
              </a:lnSpc>
              <a:spcBef>
                <a:spcPts val="0"/>
              </a:spcBef>
              <a:spcAft>
                <a:spcPts val="0"/>
              </a:spcAft>
              <a:buNone/>
            </a:pPr>
            <a:r>
              <a:rPr lang="fr-FR" sz="1900" b="0" i="0" dirty="0">
                <a:solidFill>
                  <a:srgbClr val="E5E7EB"/>
                </a:solidFill>
                <a:latin typeface="Consolas" pitchFamily="49" charset="0"/>
              </a:rPr>
              <a:t>var app = builder.Build();</a:t>
            </a:r>
          </a:p>
          <a:p>
            <a:pPr marL="0">
              <a:lnSpc>
                <a:spcPts val="2128"/>
              </a:lnSpc>
              <a:spcBef>
                <a:spcPts val="0"/>
              </a:spcBef>
              <a:spcAft>
                <a:spcPts val="0"/>
              </a:spcAft>
              <a:buNone/>
            </a:pPr>
            <a:r>
              <a:rPr lang="fr-FR" sz="1900" b="0" i="0" dirty="0">
                <a:solidFill>
                  <a:srgbClr val="E5E7EB"/>
                </a:solidFill>
                <a:latin typeface="Consolas" pitchFamily="49" charset="0"/>
              </a:rPr>
              <a:t>ProductDto[] products = [new(1, "Stylo", 2.50m)];</a:t>
            </a:r>
          </a:p>
          <a:p>
            <a:pPr marL="0">
              <a:lnSpc>
                <a:spcPct val="108000"/>
              </a:lnSpc>
              <a:spcBef>
                <a:spcPts val="0"/>
              </a:spcBef>
              <a:spcAft>
                <a:spcPts val="0"/>
              </a:spcAft>
              <a:buNone/>
            </a:pPr>
            <a:endParaRPr lang="fr-FR" sz="1900" b="0" i="0" dirty="0">
              <a:solidFill>
                <a:srgbClr val="E5E7EB"/>
              </a:solidFill>
              <a:latin typeface="Consolas" pitchFamily="49" charset="0"/>
            </a:endParaRPr>
          </a:p>
          <a:p>
            <a:pPr marL="0">
              <a:lnSpc>
                <a:spcPts val="2128"/>
              </a:lnSpc>
              <a:spcBef>
                <a:spcPts val="0"/>
              </a:spcBef>
              <a:spcAft>
                <a:spcPts val="0"/>
              </a:spcAft>
              <a:buNone/>
            </a:pPr>
            <a:r>
              <a:rPr lang="fr-FR" sz="1900" b="0" i="0" dirty="0">
                <a:solidFill>
                  <a:srgbClr val="E5E7EB"/>
                </a:solidFill>
                <a:latin typeface="Consolas" pitchFamily="49" charset="0"/>
              </a:rPr>
              <a:t>app.MapGet("/products", () =&gt; products);</a:t>
            </a:r>
          </a:p>
          <a:p>
            <a:pPr marL="0">
              <a:lnSpc>
                <a:spcPts val="2128"/>
              </a:lnSpc>
              <a:spcBef>
                <a:spcPts val="0"/>
              </a:spcBef>
              <a:spcAft>
                <a:spcPts val="0"/>
              </a:spcAft>
              <a:buNone/>
            </a:pPr>
            <a:r>
              <a:rPr lang="fr-FR" sz="1900" b="0" i="0" dirty="0">
                <a:solidFill>
                  <a:srgbClr val="E5E7EB"/>
                </a:solidFill>
                <a:latin typeface="Consolas" pitchFamily="49" charset="0"/>
              </a:rPr>
              <a:t>app.MapGet("/products/{id:int}", IResult (int id) =&gt;</a:t>
            </a:r>
          </a:p>
          <a:p>
            <a:pPr marL="0">
              <a:lnSpc>
                <a:spcPts val="2128"/>
              </a:lnSpc>
              <a:spcBef>
                <a:spcPts val="0"/>
              </a:spcBef>
              <a:spcAft>
                <a:spcPts val="0"/>
              </a:spcAft>
              <a:buNone/>
            </a:pPr>
            <a:r>
              <a:rPr lang="fr-FR" sz="1900" b="0" i="0" dirty="0">
                <a:solidFill>
                  <a:srgbClr val="E5E7EB"/>
                </a:solidFill>
                <a:latin typeface="Consolas" pitchFamily="49" charset="0"/>
              </a:rPr>
              <a:t>    products.FirstOrDefault(p =&gt; p.Id == id) is { } product</a:t>
            </a:r>
          </a:p>
          <a:p>
            <a:pPr marL="0">
              <a:lnSpc>
                <a:spcPts val="2128"/>
              </a:lnSpc>
              <a:spcBef>
                <a:spcPts val="0"/>
              </a:spcBef>
              <a:spcAft>
                <a:spcPts val="0"/>
              </a:spcAft>
              <a:buNone/>
            </a:pPr>
            <a:r>
              <a:rPr lang="fr-FR" sz="1900" b="0" i="0" dirty="0">
                <a:solidFill>
                  <a:srgbClr val="E5E7EB"/>
                </a:solidFill>
                <a:latin typeface="Consolas" pitchFamily="49" charset="0"/>
              </a:rPr>
              <a:t>        ? Results.Ok(product)</a:t>
            </a:r>
          </a:p>
          <a:p>
            <a:pPr marL="0">
              <a:lnSpc>
                <a:spcPts val="2128"/>
              </a:lnSpc>
              <a:spcBef>
                <a:spcPts val="0"/>
              </a:spcBef>
              <a:spcAft>
                <a:spcPts val="0"/>
              </a:spcAft>
              <a:buNone/>
            </a:pPr>
            <a:r>
              <a:rPr lang="fr-FR" sz="1900" b="0" i="0" dirty="0">
                <a:solidFill>
                  <a:srgbClr val="E5E7EB"/>
                </a:solidFill>
                <a:latin typeface="Consolas" pitchFamily="49" charset="0"/>
              </a:rPr>
              <a:t>        : Results.NotFound());</a:t>
            </a:r>
          </a:p>
          <a:p>
            <a:pPr marL="0">
              <a:lnSpc>
                <a:spcPct val="108000"/>
              </a:lnSpc>
              <a:spcBef>
                <a:spcPts val="0"/>
              </a:spcBef>
              <a:spcAft>
                <a:spcPts val="0"/>
              </a:spcAft>
              <a:buNone/>
            </a:pPr>
            <a:endParaRPr lang="fr-FR" sz="1900" b="0" i="0" dirty="0">
              <a:solidFill>
                <a:srgbClr val="E5E7EB"/>
              </a:solidFill>
              <a:latin typeface="Consolas" pitchFamily="49" charset="0"/>
            </a:endParaRPr>
          </a:p>
          <a:p>
            <a:pPr marL="0">
              <a:lnSpc>
                <a:spcPts val="2128"/>
              </a:lnSpc>
              <a:spcBef>
                <a:spcPts val="0"/>
              </a:spcBef>
              <a:spcAft>
                <a:spcPts val="0"/>
              </a:spcAft>
              <a:buNone/>
            </a:pPr>
            <a:r>
              <a:rPr lang="fr-FR" sz="1900" b="0" i="0" dirty="0">
                <a:solidFill>
                  <a:srgbClr val="E5E7EB"/>
                </a:solidFill>
                <a:latin typeface="Consolas" pitchFamily="49" charset="0"/>
              </a:rPr>
              <a:t>app.Run();</a:t>
            </a:r>
          </a:p>
          <a:p>
            <a:pPr marL="0">
              <a:lnSpc>
                <a:spcPct val="108000"/>
              </a:lnSpc>
              <a:spcBef>
                <a:spcPts val="0"/>
              </a:spcBef>
              <a:spcAft>
                <a:spcPts val="0"/>
              </a:spcAft>
              <a:buNone/>
            </a:pPr>
            <a:endParaRPr lang="fr-FR" sz="1900" b="0" i="0" dirty="0">
              <a:solidFill>
                <a:srgbClr val="E5E7EB"/>
              </a:solidFill>
              <a:latin typeface="Consolas" pitchFamily="49" charset="0"/>
            </a:endParaRPr>
          </a:p>
          <a:p>
            <a:pPr marL="0">
              <a:lnSpc>
                <a:spcPts val="2128"/>
              </a:lnSpc>
              <a:spcBef>
                <a:spcPts val="0"/>
              </a:spcBef>
              <a:spcAft>
                <a:spcPts val="0"/>
              </a:spcAft>
              <a:buNone/>
            </a:pPr>
            <a:r>
              <a:rPr lang="fr-FR" sz="1900" b="0" i="0" dirty="0">
                <a:solidFill>
                  <a:srgbClr val="E5E7EB"/>
                </a:solidFill>
                <a:latin typeface="Consolas" pitchFamily="49" charset="0"/>
              </a:rPr>
              <a:t>public record ProductDto(int Id, string Name, decimal Price);</a:t>
            </a:r>
          </a:p>
        </p:txBody>
      </p:sp>
      <p:sp>
        <p:nvSpPr>
          <p:cNvPr id="1109" name="Contenu"/>
          <p:cNvSpPr txBox="1"/>
          <p:nvPr/>
        </p:nvSpPr>
        <p:spPr>
          <a:xfrm>
            <a:off x="146304" y="5257800"/>
            <a:ext cx="11896344" cy="1234440"/>
          </a:xfrm>
          <a:prstGeom prst="rect">
            <a:avLst/>
          </a:prstGeom>
          <a:noFill/>
        </p:spPr>
        <p:txBody>
          <a:bodyPr wrap="square" lIns="0" tIns="54864" rIns="127000" bIns="54864" rtlCol="0" anchor="t"/>
          <a:lstStyle/>
          <a:p>
            <a:pPr marL="285750" indent="-285750">
              <a:lnSpc>
                <a:spcPts val="2240"/>
              </a:lnSpc>
              <a:spcBef>
                <a:spcPts val="0"/>
              </a:spcBef>
              <a:spcAft>
                <a:spcPts val="500"/>
              </a:spcAft>
              <a:buNone/>
            </a:pPr>
            <a:r>
              <a:rPr lang="fr-FR" sz="2000" b="0" dirty="0">
                <a:solidFill>
                  <a:srgbClr val="E5E7EB"/>
                </a:solidFill>
                <a:latin typeface="Aptos"/>
              </a:rPr>
              <a:t>Cet exemple expose un catalogue de démonstration en lecture seule.</a:t>
            </a:r>
          </a:p>
          <a:p>
            <a:pPr marL="285750" indent="-285750">
              <a:lnSpc>
                <a:spcPts val="2240"/>
              </a:lnSpc>
              <a:spcBef>
                <a:spcPts val="0"/>
              </a:spcBef>
              <a:spcAft>
                <a:spcPts val="500"/>
              </a:spcAft>
              <a:buNone/>
            </a:pPr>
            <a:r>
              <a:rPr lang="fr-FR" sz="2000" b="0" dirty="0">
                <a:solidFill>
                  <a:srgbClr val="E5E7EB"/>
                </a:solidFill>
                <a:latin typeface="Aptos"/>
              </a:rPr>
              <a:t>MapGet associe une route à un traitement. Le résultat détermine le corps et le statut HTTP.</a:t>
            </a:r>
          </a:p>
          <a:p>
            <a:pPr marL="285750" indent="-285750">
              <a:lnSpc>
                <a:spcPts val="2240"/>
              </a:lnSpc>
              <a:spcBef>
                <a:spcPts val="0"/>
              </a:spcBef>
              <a:spcAft>
                <a:spcPts val="500"/>
              </a:spcAft>
              <a:buNone/>
            </a:pPr>
            <a:r>
              <a:rPr lang="fr-FR" sz="2000" b="0" dirty="0">
                <a:solidFill>
                  <a:srgbClr val="E5E7EB"/>
                </a:solidFill>
                <a:latin typeface="Aptos"/>
              </a:rPr>
              <a:t>Vous concevez les opérations et les contrats de votre bataille navale.</a:t>
            </a:r>
          </a:p>
        </p:txBody>
      </p:sp>
    </p:spTree>
    <p:extLst>
      <p:ext uri="{BB962C8B-B14F-4D97-AF65-F5344CB8AC3E}">
        <p14:creationId xmlns:p14="http://schemas.microsoft.com/office/powerpoint/2010/main" val="2899108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13"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08"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D’OÙ VIENNENT LES PARAMÈTRES</a:t>
            </a:r>
          </a:p>
        </p:txBody>
      </p:sp>
      <p:cxnSp>
        <p:nvCxnSpPr>
          <p:cNvPr id="1109"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110" name="ZoneTexte"/>
          <p:cNvSpPr txBox="1"/>
          <p:nvPr/>
        </p:nvSpPr>
        <p:spPr>
          <a:xfrm>
            <a:off x="147535" y="1150000"/>
            <a:ext cx="11896927" cy="698500"/>
          </a:xfrm>
          <a:prstGeom prst="rect">
            <a:avLst/>
          </a:prstGeom>
          <a:noFill/>
        </p:spPr>
        <p:txBody>
          <a:bodyPr wrap="square" lIns="0" tIns="0" rIns="127000" bIns="0" rtlCol="0" anchor="t"/>
          <a:lstStyle/>
          <a:p>
            <a:r>
              <a:rPr lang="fr-FR" sz="2200" dirty="0">
                <a:solidFill>
                  <a:srgbClr val="ECEEF3"/>
                </a:solidFill>
              </a:rPr>
              <a:t>Pour les endpoints POST montrés ici, ASP.NET Core peut déduire la source des paramètres. Les attributs la rendent explicite.</a:t>
            </a:r>
          </a:p>
        </p:txBody>
      </p:sp>
      <p:sp>
        <p:nvSpPr>
          <p:cNvPr id="1111" name="Bloc de code"/>
          <p:cNvSpPr/>
          <p:nvPr/>
        </p:nvSpPr>
        <p:spPr>
          <a:xfrm>
            <a:off x="147535" y="1998500"/>
            <a:ext cx="11896927" cy="246888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app.MapPost("/products/{id:int}/preview", (</a:t>
            </a:r>
          </a:p>
          <a:p>
            <a:pPr marL="0">
              <a:lnSpc>
                <a:spcPts val="2016"/>
              </a:lnSpc>
              <a:spcBef>
                <a:spcPts val="0"/>
              </a:spcBef>
              <a:spcAft>
                <a:spcPts val="0"/>
              </a:spcAft>
              <a:buNone/>
            </a:pPr>
            <a:r>
              <a:rPr lang="fr-FR" sz="1800" b="0" i="0" dirty="0">
                <a:solidFill>
                  <a:srgbClr val="E5E7EB"/>
                </a:solidFill>
                <a:latin typeface="Consolas" pitchFamily="49" charset="0"/>
              </a:rPr>
              <a:t>    [FromRoute] int id,</a:t>
            </a:r>
          </a:p>
          <a:p>
            <a:pPr marL="0">
              <a:lnSpc>
                <a:spcPts val="2016"/>
              </a:lnSpc>
              <a:spcBef>
                <a:spcPts val="0"/>
              </a:spcBef>
              <a:spcAft>
                <a:spcPts val="0"/>
              </a:spcAft>
              <a:buNone/>
            </a:pPr>
            <a:r>
              <a:rPr lang="fr-FR" sz="1800" b="0" i="0" dirty="0">
                <a:solidFill>
                  <a:srgbClr val="E5E7EB"/>
                </a:solidFill>
                <a:latin typeface="Consolas" pitchFamily="49" charset="0"/>
              </a:rPr>
              <a:t>    [FromBody] ProductInput input,</a:t>
            </a:r>
          </a:p>
          <a:p>
            <a:pPr marL="0">
              <a:lnSpc>
                <a:spcPts val="2016"/>
              </a:lnSpc>
              <a:spcBef>
                <a:spcPts val="0"/>
              </a:spcBef>
              <a:spcAft>
                <a:spcPts val="0"/>
              </a:spcAft>
              <a:buNone/>
            </a:pPr>
            <a:r>
              <a:rPr lang="fr-FR" sz="1800" b="0" i="0" dirty="0">
                <a:solidFill>
                  <a:srgbClr val="E5E7EB"/>
                </a:solidFill>
                <a:latin typeface="Consolas" pitchFamily="49" charset="0"/>
              </a:rPr>
              <a:t>    [FromQuery] bool? verbose,</a:t>
            </a:r>
          </a:p>
          <a:p>
            <a:pPr marL="0">
              <a:lnSpc>
                <a:spcPts val="2016"/>
              </a:lnSpc>
              <a:spcBef>
                <a:spcPts val="0"/>
              </a:spcBef>
              <a:spcAft>
                <a:spcPts val="0"/>
              </a:spcAft>
              <a:buNone/>
            </a:pPr>
            <a:r>
              <a:rPr lang="fr-FR" sz="1800" b="0" i="0" dirty="0">
                <a:solidFill>
                  <a:srgbClr val="E5E7EB"/>
                </a:solidFill>
                <a:latin typeface="Consolas" pitchFamily="49" charset="0"/>
              </a:rPr>
              <a:t>    [FromServices] ILoggerFactory logs) =&gt;</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logs.CreateLogger("Preview").LogInformation("Produit {Id}", id);</a:t>
            </a:r>
          </a:p>
          <a:p>
            <a:pPr marL="0">
              <a:lnSpc>
                <a:spcPts val="2016"/>
              </a:lnSpc>
              <a:spcBef>
                <a:spcPts val="0"/>
              </a:spcBef>
              <a:spcAft>
                <a:spcPts val="0"/>
              </a:spcAft>
              <a:buNone/>
            </a:pPr>
            <a:r>
              <a:rPr lang="fr-FR" sz="1800" b="0" i="0" dirty="0">
                <a:solidFill>
                  <a:srgbClr val="E5E7EB"/>
                </a:solidFill>
                <a:latin typeface="Consolas" pitchFamily="49" charset="0"/>
              </a:rPr>
              <a:t>    return Results.Ok(new { id, input.Name, verbose });</a:t>
            </a:r>
          </a:p>
          <a:p>
            <a:pPr marL="0">
              <a:lnSpc>
                <a:spcPts val="2016"/>
              </a:lnSpc>
              <a:spcBef>
                <a:spcPts val="0"/>
              </a:spcBef>
              <a:spcAft>
                <a:spcPts val="0"/>
              </a:spcAft>
              <a:buNone/>
            </a:pPr>
            <a:r>
              <a:rPr lang="fr-FR" sz="1800" b="0" i="0" dirty="0">
                <a:solidFill>
                  <a:srgbClr val="E5E7EB"/>
                </a:solidFill>
                <a:latin typeface="Consolas" pitchFamily="49" charset="0"/>
              </a:rPr>
              <a:t>});</a:t>
            </a:r>
          </a:p>
        </p:txBody>
      </p:sp>
      <p:sp>
        <p:nvSpPr>
          <p:cNvPr id="1112" name="ZoneTexte"/>
          <p:cNvSpPr txBox="1"/>
          <p:nvPr/>
        </p:nvSpPr>
        <p:spPr>
          <a:xfrm>
            <a:off x="147535" y="4617720"/>
            <a:ext cx="11896927" cy="1920240"/>
          </a:xfrm>
          <a:prstGeom prst="rect">
            <a:avLst/>
          </a:prstGeom>
          <a:noFill/>
        </p:spPr>
        <p:txBody>
          <a:bodyPr wrap="square" lIns="0" tIns="54864" rIns="127000" bIns="54864" rtlCol="0" anchor="t"/>
          <a:lstStyle/>
          <a:p>
            <a:pPr>
              <a:lnSpc>
                <a:spcPts val="2128"/>
              </a:lnSpc>
              <a:spcBef>
                <a:spcPts val="0"/>
              </a:spcBef>
              <a:spcAft>
                <a:spcPts val="500"/>
              </a:spcAft>
              <a:buNone/>
            </a:pPr>
            <a:r>
              <a:rPr lang="fr-FR" sz="1900" b="1" spc="60" dirty="0">
                <a:solidFill>
                  <a:srgbClr val="FFAD46"/>
                </a:solidFill>
                <a:latin typeface="Aptos"/>
              </a:rPr>
              <a:t>Dans cet exemple de liaison des paramètres</a:t>
            </a:r>
          </a:p>
          <a:p>
            <a:pPr>
              <a:lnSpc>
                <a:spcPts val="2128"/>
              </a:lnSpc>
              <a:spcBef>
                <a:spcPts val="0"/>
              </a:spcBef>
              <a:spcAft>
                <a:spcPts val="500"/>
              </a:spcAft>
              <a:buNone/>
            </a:pPr>
            <a:r>
              <a:rPr lang="fr-FR" sz="1900" b="0" spc="60" dirty="0">
                <a:solidFill>
                  <a:srgbClr val="E5E7EB"/>
                </a:solidFill>
                <a:latin typeface="Aptos"/>
              </a:rPr>
              <a:t>id provient de la route ; input provient du corps JSON.</a:t>
            </a:r>
          </a:p>
          <a:p>
            <a:pPr>
              <a:lnSpc>
                <a:spcPts val="2128"/>
              </a:lnSpc>
              <a:spcBef>
                <a:spcPts val="0"/>
              </a:spcBef>
              <a:spcAft>
                <a:spcPts val="500"/>
              </a:spcAft>
              <a:buNone/>
            </a:pPr>
            <a:r>
              <a:rPr lang="fr-FR" sz="1900" b="0" spc="60" dirty="0">
                <a:solidFill>
                  <a:srgbClr val="E5E7EB"/>
                </a:solidFill>
                <a:latin typeface="Aptos"/>
              </a:rPr>
              <a:t>verbose provient de la chaîne de requête ; logs vient de l’injection.</a:t>
            </a:r>
          </a:p>
          <a:p>
            <a:pPr>
              <a:lnSpc>
                <a:spcPts val="2128"/>
              </a:lnSpc>
              <a:spcBef>
                <a:spcPts val="0"/>
              </a:spcBef>
              <a:spcAft>
                <a:spcPts val="500"/>
              </a:spcAft>
              <a:buNone/>
            </a:pPr>
            <a:r>
              <a:rPr lang="fr-FR" sz="1900" b="0" spc="60" dirty="0">
                <a:solidFill>
                  <a:srgbClr val="E5E7EB"/>
                </a:solidFill>
                <a:latin typeface="Aptos"/>
              </a:rPr>
              <a:t>ProductInput est défini dans les ressources génériques.</a:t>
            </a:r>
          </a:p>
          <a:p>
            <a:pPr>
              <a:lnSpc>
                <a:spcPts val="2128"/>
              </a:lnSpc>
              <a:spcBef>
                <a:spcPts val="0"/>
              </a:spcBef>
              <a:spcAft>
                <a:spcPts val="500"/>
              </a:spcAft>
              <a:buNone/>
            </a:pPr>
            <a:r>
              <a:rPr lang="fr-FR" sz="1900" b="0" spc="60" dirty="0">
                <a:solidFill>
                  <a:srgbClr val="E5E7EB"/>
                </a:solidFill>
                <a:latin typeface="Aptos"/>
              </a:rPr>
              <a:t>La liaison des paramètres et leur validation sont deux responsabilités distinctes.</a:t>
            </a:r>
          </a:p>
        </p:txBody>
      </p:sp>
      <p:cxnSp>
        <p:nvCxnSpPr>
          <p:cNvPr id="1114" name="Accent titre"/>
          <p:cNvCxnSpPr/>
          <p:nvPr/>
        </p:nvCxnSpPr>
        <p:spPr>
          <a:xfrm>
            <a:off x="147535" y="894944"/>
            <a:ext cx="1100000" cy="0"/>
          </a:xfrm>
          <a:prstGeom prst="line">
            <a:avLst/>
          </a:prstGeom>
          <a:ln w="38100" cap="rnd">
            <a:solidFill>
              <a:srgbClr val="FFA53C"/>
            </a:solidFill>
          </a:ln>
        </p:spPr>
      </p:cxnSp>
      <p:sp>
        <p:nvSpPr>
          <p:cNvPr id="1115"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32</a:t>
            </a:r>
          </a:p>
        </p:txBody>
      </p:sp>
    </p:spTree>
    <p:extLst>
      <p:ext uri="{BB962C8B-B14F-4D97-AF65-F5344CB8AC3E}">
        <p14:creationId xmlns:p14="http://schemas.microsoft.com/office/powerpoint/2010/main" val="2899108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20"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16"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INJECTION DE DÉPENDANCES</a:t>
            </a:r>
          </a:p>
        </p:txBody>
      </p:sp>
      <p:cxnSp>
        <p:nvCxnSpPr>
          <p:cNvPr id="1117"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121" name="Accent titre"/>
          <p:cNvCxnSpPr/>
          <p:nvPr/>
        </p:nvCxnSpPr>
        <p:spPr>
          <a:xfrm>
            <a:off x="147535" y="894944"/>
            <a:ext cx="1100000" cy="0"/>
          </a:xfrm>
          <a:prstGeom prst="line">
            <a:avLst/>
          </a:prstGeom>
          <a:ln w="38100" cap="rnd">
            <a:solidFill>
              <a:srgbClr val="FFA53C"/>
            </a:solidFill>
          </a:ln>
        </p:spPr>
      </p:cxnSp>
      <p:sp>
        <p:nvSpPr>
          <p:cNvPr id="112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33</a:t>
            </a:r>
          </a:p>
        </p:txBody>
      </p:sp>
      <p:sp>
        <p:nvSpPr>
          <p:cNvPr id="1123" name="Exemple générique"/>
          <p:cNvSpPr/>
          <p:nvPr/>
        </p:nvSpPr>
        <p:spPr>
          <a:xfrm>
            <a:off x="146304" y="1143000"/>
            <a:ext cx="11896344" cy="315468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builder.Services.AddSingleton&lt;TimeProvider&gt;(TimeProvider.System);</a:t>
            </a:r>
          </a:p>
          <a:p>
            <a:pPr marL="0">
              <a:lnSpc>
                <a:spcPts val="2016"/>
              </a:lnSpc>
              <a:spcBef>
                <a:spcPts val="0"/>
              </a:spcBef>
              <a:spcAft>
                <a:spcPts val="0"/>
              </a:spcAft>
              <a:buNone/>
            </a:pPr>
            <a:r>
              <a:rPr lang="fr-FR" sz="1800" b="0" i="0" dirty="0">
                <a:solidFill>
                  <a:srgbClr val="E5E7EB"/>
                </a:solidFill>
                <a:latin typeface="Consolas" pitchFamily="49" charset="0"/>
              </a:rPr>
              <a:t>builder.Services.AddScoped&lt;RequestContext&gt;();</a:t>
            </a:r>
          </a:p>
          <a:p>
            <a:pPr marL="0">
              <a:lnSpc>
                <a:spcPts val="2016"/>
              </a:lnSpc>
              <a:spcBef>
                <a:spcPts val="0"/>
              </a:spcBef>
              <a:spcAft>
                <a:spcPts val="0"/>
              </a:spcAft>
              <a:buNone/>
            </a:pPr>
            <a:r>
              <a:rPr lang="fr-FR" sz="1800" b="0" i="0" dirty="0">
                <a:solidFill>
                  <a:srgbClr val="E5E7EB"/>
                </a:solidFill>
                <a:latin typeface="Consolas" pitchFamily="49" charset="0"/>
              </a:rPr>
              <a:t>builder.Services.AddTransient&lt;LabelFormatter&gt;();</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public sealed class RequestContext</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public Guid Id { get; } = Guid.NewGuid();</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public sealed class LabelFormatter</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public string Format(string value) =&gt; value.Trim();</a:t>
            </a:r>
          </a:p>
          <a:p>
            <a:pPr marL="0">
              <a:lnSpc>
                <a:spcPts val="2016"/>
              </a:lnSpc>
              <a:spcBef>
                <a:spcPts val="0"/>
              </a:spcBef>
              <a:spcAft>
                <a:spcPts val="0"/>
              </a:spcAft>
              <a:buNone/>
            </a:pPr>
            <a:r>
              <a:rPr lang="fr-FR" sz="1800" b="0" i="0" dirty="0">
                <a:solidFill>
                  <a:srgbClr val="E5E7EB"/>
                </a:solidFill>
                <a:latin typeface="Consolas" pitchFamily="49" charset="0"/>
              </a:rPr>
              <a:t>}</a:t>
            </a:r>
          </a:p>
        </p:txBody>
      </p:sp>
      <p:sp>
        <p:nvSpPr>
          <p:cNvPr id="1124" name="Contenu"/>
          <p:cNvSpPr txBox="1"/>
          <p:nvPr/>
        </p:nvSpPr>
        <p:spPr>
          <a:xfrm>
            <a:off x="146304" y="4480560"/>
            <a:ext cx="11896344" cy="201168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Durées de vie côté serveur</a:t>
            </a:r>
          </a:p>
          <a:p>
            <a:pPr marL="285750" indent="-285750">
              <a:lnSpc>
                <a:spcPts val="2352"/>
              </a:lnSpc>
              <a:spcBef>
                <a:spcPts val="0"/>
              </a:spcBef>
              <a:spcAft>
                <a:spcPts val="500"/>
              </a:spcAft>
              <a:buNone/>
            </a:pPr>
            <a:r>
              <a:rPr lang="fr-FR" sz="2100" b="0" dirty="0">
                <a:solidFill>
                  <a:srgbClr val="E5E7EB"/>
                </a:solidFill>
                <a:latin typeface="Aptos"/>
              </a:rPr>
              <a:t>Singleton : une instance pour l’application.</a:t>
            </a:r>
          </a:p>
          <a:p>
            <a:pPr marL="285750" indent="-285750">
              <a:lnSpc>
                <a:spcPts val="2352"/>
              </a:lnSpc>
              <a:spcBef>
                <a:spcPts val="0"/>
              </a:spcBef>
              <a:spcAft>
                <a:spcPts val="500"/>
              </a:spcAft>
              <a:buNone/>
            </a:pPr>
            <a:r>
              <a:rPr lang="fr-FR" sz="2100" b="0" dirty="0">
                <a:solidFill>
                  <a:srgbClr val="E5E7EB"/>
                </a:solidFill>
                <a:latin typeface="Aptos"/>
              </a:rPr>
              <a:t>Scoped : une instance par portée, généralement une requête HTTP.</a:t>
            </a:r>
          </a:p>
          <a:p>
            <a:pPr marL="285750" indent="-285750">
              <a:lnSpc>
                <a:spcPts val="2352"/>
              </a:lnSpc>
              <a:spcBef>
                <a:spcPts val="0"/>
              </a:spcBef>
              <a:spcAft>
                <a:spcPts val="500"/>
              </a:spcAft>
              <a:buNone/>
            </a:pPr>
            <a:r>
              <a:rPr lang="fr-FR" sz="2100" b="0" dirty="0">
                <a:solidFill>
                  <a:srgbClr val="E5E7EB"/>
                </a:solidFill>
                <a:latin typeface="Aptos"/>
              </a:rPr>
              <a:t>Transient : une instance à chaque résolution.</a:t>
            </a:r>
          </a:p>
          <a:p>
            <a:pPr marL="285750" indent="-285750">
              <a:lnSpc>
                <a:spcPts val="2352"/>
              </a:lnSpc>
              <a:spcBef>
                <a:spcPts val="0"/>
              </a:spcBef>
              <a:spcAft>
                <a:spcPts val="500"/>
              </a:spcAft>
              <a:buNone/>
            </a:pPr>
            <a:r>
              <a:rPr lang="fr-FR" sz="2100" b="0" dirty="0">
                <a:solidFill>
                  <a:srgbClr val="E5E7EB"/>
                </a:solidFill>
                <a:latin typeface="Aptos"/>
              </a:rPr>
              <a:t>Choisissez les durées de vie selon l’état et les dépendances de vos services.</a:t>
            </a:r>
          </a:p>
        </p:txBody>
      </p:sp>
    </p:spTree>
    <p:extLst>
      <p:ext uri="{BB962C8B-B14F-4D97-AF65-F5344CB8AC3E}">
        <p14:creationId xmlns:p14="http://schemas.microsoft.com/office/powerpoint/2010/main" val="2899108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27"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23"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RÉPONSES ET CODES HTTP</a:t>
            </a:r>
          </a:p>
        </p:txBody>
      </p:sp>
      <p:cxnSp>
        <p:nvCxnSpPr>
          <p:cNvPr id="1124"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128" name="Accent titre"/>
          <p:cNvCxnSpPr/>
          <p:nvPr/>
        </p:nvCxnSpPr>
        <p:spPr>
          <a:xfrm>
            <a:off x="147535" y="894944"/>
            <a:ext cx="1100000" cy="0"/>
          </a:xfrm>
          <a:prstGeom prst="line">
            <a:avLst/>
          </a:prstGeom>
          <a:ln w="38100" cap="rnd">
            <a:solidFill>
              <a:srgbClr val="FFA53C"/>
            </a:solidFill>
          </a:ln>
        </p:spPr>
      </p:cxnSp>
      <p:sp>
        <p:nvSpPr>
          <p:cNvPr id="112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34</a:t>
            </a:r>
          </a:p>
        </p:txBody>
      </p:sp>
      <p:sp>
        <p:nvSpPr>
          <p:cNvPr id="1130" name="Exemple générique"/>
          <p:cNvSpPr/>
          <p:nvPr/>
        </p:nvSpPr>
        <p:spPr>
          <a:xfrm>
            <a:off x="146304" y="1143000"/>
            <a:ext cx="11896344" cy="297180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128"/>
              </a:lnSpc>
              <a:spcBef>
                <a:spcPts val="0"/>
              </a:spcBef>
              <a:spcAft>
                <a:spcPts val="0"/>
              </a:spcAft>
              <a:buNone/>
            </a:pPr>
            <a:r>
              <a:rPr lang="fr-FR" sz="1900" b="0" i="0" dirty="0">
                <a:solidFill>
                  <a:srgbClr val="E5E7EB"/>
                </a:solidFill>
                <a:latin typeface="Consolas" pitchFamily="49" charset="0"/>
              </a:rPr>
              <a:t>// ProductInput et son validateur : diapo 40 et ressources.</a:t>
            </a:r>
          </a:p>
          <a:p>
            <a:pPr marL="0">
              <a:lnSpc>
                <a:spcPts val="2128"/>
              </a:lnSpc>
              <a:spcBef>
                <a:spcPts val="0"/>
              </a:spcBef>
              <a:spcAft>
                <a:spcPts val="0"/>
              </a:spcAft>
              <a:buNone/>
            </a:pPr>
            <a:r>
              <a:rPr lang="fr-FR" sz="1900" b="0" i="0" dirty="0">
                <a:solidFill>
                  <a:srgbClr val="E5E7EB"/>
                </a:solidFill>
                <a:latin typeface="Consolas" pitchFamily="49" charset="0"/>
              </a:rPr>
              <a:t>app.MapPost("/products/check", async Task&lt;IResult&gt;</a:t>
            </a:r>
          </a:p>
          <a:p>
            <a:pPr marL="0">
              <a:lnSpc>
                <a:spcPts val="2128"/>
              </a:lnSpc>
              <a:spcBef>
                <a:spcPts val="0"/>
              </a:spcBef>
              <a:spcAft>
                <a:spcPts val="0"/>
              </a:spcAft>
              <a:buNone/>
            </a:pPr>
            <a:r>
              <a:rPr lang="fr-FR" sz="1900" b="0" i="0" dirty="0">
                <a:solidFill>
                  <a:srgbClr val="E5E7EB"/>
                </a:solidFill>
                <a:latin typeface="Consolas" pitchFamily="49" charset="0"/>
              </a:rPr>
              <a:t>    (ProductInput input, IValidator&lt;ProductInput&gt; validator) =&gt;</a:t>
            </a:r>
          </a:p>
          <a:p>
            <a:pPr marL="0">
              <a:lnSpc>
                <a:spcPts val="2128"/>
              </a:lnSpc>
              <a:spcBef>
                <a:spcPts val="0"/>
              </a:spcBef>
              <a:spcAft>
                <a:spcPts val="0"/>
              </a:spcAft>
              <a:buNone/>
            </a:pPr>
            <a:r>
              <a:rPr lang="fr-FR" sz="1900" b="0" i="0" dirty="0">
                <a:solidFill>
                  <a:srgbClr val="E5E7EB"/>
                </a:solidFill>
                <a:latin typeface="Consolas" pitchFamily="49" charset="0"/>
              </a:rPr>
              <a:t>{</a:t>
            </a:r>
          </a:p>
          <a:p>
            <a:pPr marL="0">
              <a:lnSpc>
                <a:spcPts val="2128"/>
              </a:lnSpc>
              <a:spcBef>
                <a:spcPts val="0"/>
              </a:spcBef>
              <a:spcAft>
                <a:spcPts val="0"/>
              </a:spcAft>
              <a:buNone/>
            </a:pPr>
            <a:r>
              <a:rPr lang="fr-FR" sz="1900" b="0" i="0" dirty="0">
                <a:solidFill>
                  <a:srgbClr val="E5E7EB"/>
                </a:solidFill>
                <a:latin typeface="Consolas" pitchFamily="49" charset="0"/>
              </a:rPr>
              <a:t>    var check = await validator.ValidateAsync(input);</a:t>
            </a:r>
          </a:p>
          <a:p>
            <a:pPr marL="0">
              <a:lnSpc>
                <a:spcPts val="2128"/>
              </a:lnSpc>
              <a:spcBef>
                <a:spcPts val="0"/>
              </a:spcBef>
              <a:spcAft>
                <a:spcPts val="0"/>
              </a:spcAft>
              <a:buNone/>
            </a:pPr>
            <a:r>
              <a:rPr lang="fr-FR" sz="1900" b="0" i="0" dirty="0">
                <a:solidFill>
                  <a:srgbClr val="E5E7EB"/>
                </a:solidFill>
                <a:latin typeface="Consolas" pitchFamily="49" charset="0"/>
              </a:rPr>
              <a:t>    if (!check.IsValid)</a:t>
            </a:r>
          </a:p>
          <a:p>
            <a:pPr marL="0">
              <a:lnSpc>
                <a:spcPts val="2128"/>
              </a:lnSpc>
              <a:spcBef>
                <a:spcPts val="0"/>
              </a:spcBef>
              <a:spcAft>
                <a:spcPts val="0"/>
              </a:spcAft>
              <a:buNone/>
            </a:pPr>
            <a:r>
              <a:rPr lang="fr-FR" sz="1900" b="0" i="0" dirty="0">
                <a:solidFill>
                  <a:srgbClr val="E5E7EB"/>
                </a:solidFill>
                <a:latin typeface="Consolas" pitchFamily="49" charset="0"/>
              </a:rPr>
              <a:t>        return TypedResults.ValidationProblem(check.ToDictionary());</a:t>
            </a:r>
          </a:p>
          <a:p>
            <a:pPr marL="0">
              <a:lnSpc>
                <a:spcPct val="108000"/>
              </a:lnSpc>
              <a:spcBef>
                <a:spcPts val="0"/>
              </a:spcBef>
              <a:spcAft>
                <a:spcPts val="0"/>
              </a:spcAft>
              <a:buNone/>
            </a:pPr>
            <a:endParaRPr lang="fr-FR" sz="1900" b="0" i="0" dirty="0">
              <a:solidFill>
                <a:srgbClr val="E5E7EB"/>
              </a:solidFill>
              <a:latin typeface="Consolas" pitchFamily="49" charset="0"/>
            </a:endParaRPr>
          </a:p>
          <a:p>
            <a:pPr marL="0">
              <a:lnSpc>
                <a:spcPts val="2128"/>
              </a:lnSpc>
              <a:spcBef>
                <a:spcPts val="0"/>
              </a:spcBef>
              <a:spcAft>
                <a:spcPts val="0"/>
              </a:spcAft>
              <a:buNone/>
            </a:pPr>
            <a:r>
              <a:rPr lang="fr-FR" sz="1900" b="0" i="0" dirty="0">
                <a:solidFill>
                  <a:srgbClr val="E5E7EB"/>
                </a:solidFill>
                <a:latin typeface="Consolas" pitchFamily="49" charset="0"/>
              </a:rPr>
              <a:t>    return TypedResults.Ok(input);</a:t>
            </a:r>
          </a:p>
          <a:p>
            <a:pPr marL="0">
              <a:lnSpc>
                <a:spcPts val="2128"/>
              </a:lnSpc>
              <a:spcBef>
                <a:spcPts val="0"/>
              </a:spcBef>
              <a:spcAft>
                <a:spcPts val="0"/>
              </a:spcAft>
              <a:buNone/>
            </a:pPr>
            <a:r>
              <a:rPr lang="fr-FR" sz="1900" b="0" i="0" dirty="0">
                <a:solidFill>
                  <a:srgbClr val="E5E7EB"/>
                </a:solidFill>
                <a:latin typeface="Consolas" pitchFamily="49" charset="0"/>
              </a:rPr>
              <a:t>});</a:t>
            </a:r>
          </a:p>
        </p:txBody>
      </p:sp>
      <p:sp>
        <p:nvSpPr>
          <p:cNvPr id="1131" name="Contenu"/>
          <p:cNvSpPr txBox="1"/>
          <p:nvPr/>
        </p:nvSpPr>
        <p:spPr>
          <a:xfrm>
            <a:off x="146304" y="4343400"/>
            <a:ext cx="11896344" cy="210312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Un statut exprime le résultat du traitement</a:t>
            </a:r>
          </a:p>
          <a:p>
            <a:pPr marL="285750" indent="-285750">
              <a:lnSpc>
                <a:spcPts val="2352"/>
              </a:lnSpc>
              <a:spcBef>
                <a:spcPts val="0"/>
              </a:spcBef>
              <a:spcAft>
                <a:spcPts val="500"/>
              </a:spcAft>
              <a:buNone/>
            </a:pPr>
            <a:r>
              <a:rPr lang="fr-FR" sz="2100" b="0" dirty="0">
                <a:solidFill>
                  <a:srgbClr val="E5E7EB"/>
                </a:solidFill>
                <a:latin typeface="Aptos"/>
              </a:rPr>
              <a:t>200 : succès ; 201 : ressource créée ; 204 : succès sans contenu.</a:t>
            </a:r>
          </a:p>
          <a:p>
            <a:pPr marL="285750" indent="-285750">
              <a:lnSpc>
                <a:spcPts val="2352"/>
              </a:lnSpc>
              <a:spcBef>
                <a:spcPts val="0"/>
              </a:spcBef>
              <a:spcAft>
                <a:spcPts val="500"/>
              </a:spcAft>
              <a:buNone/>
            </a:pPr>
            <a:r>
              <a:rPr lang="fr-FR" sz="2100" b="0" dirty="0">
                <a:solidFill>
                  <a:srgbClr val="E5E7EB"/>
                </a:solidFill>
                <a:latin typeface="Aptos"/>
              </a:rPr>
              <a:t>400 : requête invalide ; 404 : ressource introuvable ; 409 : conflit avec l’état courant.</a:t>
            </a:r>
          </a:p>
          <a:p>
            <a:pPr marL="285750" indent="-285750">
              <a:lnSpc>
                <a:spcPts val="2352"/>
              </a:lnSpc>
              <a:spcBef>
                <a:spcPts val="0"/>
              </a:spcBef>
              <a:spcAft>
                <a:spcPts val="500"/>
              </a:spcAft>
              <a:buNone/>
            </a:pPr>
            <a:r>
              <a:rPr lang="fr-FR" sz="2100" b="0" dirty="0">
                <a:solidFill>
                  <a:srgbClr val="E5E7EB"/>
                </a:solidFill>
                <a:latin typeface="Aptos"/>
              </a:rPr>
              <a:t>Définissez les réponses de votre API et vérifiez leur cohérence avec les comportements annoncés.</a:t>
            </a:r>
          </a:p>
        </p:txBody>
      </p:sp>
    </p:spTree>
    <p:extLst>
      <p:ext uri="{BB962C8B-B14F-4D97-AF65-F5344CB8AC3E}">
        <p14:creationId xmlns:p14="http://schemas.microsoft.com/office/powerpoint/2010/main" val="2899108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37"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3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VOIR ET TESTER SON API</a:t>
            </a:r>
          </a:p>
        </p:txBody>
      </p:sp>
      <p:cxnSp>
        <p:nvCxnSpPr>
          <p:cNvPr id="113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132" name="ZoneTexte"/>
          <p:cNvSpPr txBox="1"/>
          <p:nvPr/>
        </p:nvSpPr>
        <p:spPr>
          <a:xfrm>
            <a:off x="147535" y="1150000"/>
            <a:ext cx="11896927" cy="635000"/>
          </a:xfrm>
          <a:prstGeom prst="rect">
            <a:avLst/>
          </a:prstGeom>
          <a:noFill/>
        </p:spPr>
        <p:txBody>
          <a:bodyPr wrap="square" lIns="0" tIns="0" rIns="127000" bIns="0" rtlCol="0" anchor="t"/>
          <a:lstStyle/>
          <a:p>
            <a:r>
              <a:rPr lang="fr-FR" sz="2000" dirty="0">
                <a:solidFill>
                  <a:srgbClr val="ECEEF3"/>
                </a:solidFill>
              </a:rPr>
              <a:t>Le modèle .NET 10 n’embarque plus Swagger UI. Il expose un document OpenAPI, et vous choisissez comment le consommer.</a:t>
            </a:r>
          </a:p>
        </p:txBody>
      </p:sp>
      <p:sp>
        <p:nvSpPr>
          <p:cNvPr id="1133" name="Bloc de code"/>
          <p:cNvSpPr/>
          <p:nvPr/>
        </p:nvSpPr>
        <p:spPr>
          <a:xfrm>
            <a:off x="147535" y="1935000"/>
            <a:ext cx="11896927" cy="612750"/>
          </a:xfrm>
          <a:prstGeom prst="roundRect">
            <a:avLst>
              <a:gd name="adj" fmla="val 3500"/>
            </a:avLst>
          </a:prstGeom>
          <a:solidFill>
            <a:srgbClr val="11141B"/>
          </a:solidFill>
          <a:ln w="9525">
            <a:solidFill>
              <a:srgbClr val="2B3140"/>
            </a:solidFill>
          </a:ln>
        </p:spPr>
        <p:txBody>
          <a:bodyPr wrap="square" lIns="228600" tIns="73152" rIns="152400" bIns="73152" rtlCol="0" anchor="t"/>
          <a:lstStyle/>
          <a:p>
            <a:pPr marL="0">
              <a:lnSpc>
                <a:spcPts val="1456"/>
              </a:lnSpc>
              <a:spcBef>
                <a:spcPts val="0"/>
              </a:spcBef>
              <a:spcAft>
                <a:spcPts val="0"/>
              </a:spcAft>
            </a:pPr>
            <a:r>
              <a:rPr lang="fr-FR" sz="1300" b="0" i="0" dirty="0">
                <a:solidFill>
                  <a:srgbClr val="DCE5F0"/>
                </a:solidFill>
                <a:latin typeface="Consolas" pitchFamily="49" charset="0"/>
              </a:rPr>
              <a:t>builder.Services.AddOpenApi();     // avant builder.Build()</a:t>
            </a:r>
          </a:p>
          <a:p>
            <a:pPr marL="0">
              <a:lnSpc>
                <a:spcPts val="1456"/>
              </a:lnSpc>
              <a:spcBef>
                <a:spcPts val="0"/>
              </a:spcBef>
              <a:spcAft>
                <a:spcPts val="0"/>
              </a:spcAft>
            </a:pPr>
            <a:r>
              <a:rPr lang="fr-FR" sz="1300" b="0" i="0" dirty="0">
                <a:solidFill>
                  <a:srgbClr val="DCE5F0"/>
                </a:solidFill>
                <a:latin typeface="Consolas" pitchFamily="49" charset="0"/>
              </a:rPr>
              <a:t>if (app.Environment.IsDevelopment()) app.MapOpenApi();</a:t>
            </a:r>
          </a:p>
        </p:txBody>
      </p:sp>
      <p:sp>
        <p:nvSpPr>
          <p:cNvPr id="1134" name="ZoneTexte"/>
          <p:cNvSpPr txBox="1"/>
          <p:nvPr/>
        </p:nvSpPr>
        <p:spPr>
          <a:xfrm>
            <a:off x="147535" y="2697750"/>
            <a:ext cx="11896927" cy="412750"/>
          </a:xfrm>
          <a:prstGeom prst="rect">
            <a:avLst/>
          </a:prstGeom>
          <a:noFill/>
        </p:spPr>
        <p:txBody>
          <a:bodyPr wrap="square" lIns="0" tIns="0" rIns="127000" bIns="0" rtlCol="0" anchor="t"/>
          <a:lstStyle/>
          <a:p>
            <a:pPr>
              <a:spcBef>
                <a:spcPts val="600"/>
              </a:spcBef>
            </a:pPr>
            <a:r>
              <a:rPr lang="fr-FR" sz="2000" b="1" spc="60" dirty="0">
                <a:solidFill>
                  <a:srgbClr val="FFA53C"/>
                </a:solidFill>
              </a:rPr>
              <a:t>Un fichier .http versionné pour les essais manuels</a:t>
            </a:r>
          </a:p>
        </p:txBody>
      </p:sp>
      <p:sp>
        <p:nvSpPr>
          <p:cNvPr id="1135" name="Bloc de code"/>
          <p:cNvSpPr/>
          <p:nvPr/>
        </p:nvSpPr>
        <p:spPr>
          <a:xfrm>
            <a:off x="147535" y="3260500"/>
            <a:ext cx="11896927" cy="2084831"/>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904"/>
              </a:lnSpc>
              <a:spcBef>
                <a:spcPts val="0"/>
              </a:spcBef>
              <a:spcAft>
                <a:spcPts val="0"/>
              </a:spcAft>
              <a:buNone/>
            </a:pPr>
            <a:r>
              <a:rPr lang="fr-FR" sz="1700" b="0" i="0" dirty="0">
                <a:solidFill>
                  <a:srgbClr val="E5E7EB"/>
                </a:solidFill>
                <a:latin typeface="Consolas" pitchFamily="49" charset="0"/>
              </a:rPr>
              <a:t>@api = https://localhost:7001</a:t>
            </a:r>
          </a:p>
          <a:p>
            <a:pPr marL="0">
              <a:lnSpc>
                <a:spcPts val="1904"/>
              </a:lnSpc>
              <a:spcBef>
                <a:spcPts val="0"/>
              </a:spcBef>
              <a:spcAft>
                <a:spcPts val="0"/>
              </a:spcAft>
              <a:buNone/>
            </a:pPr>
            <a:r>
              <a:rPr lang="fr-FR" sz="1700" b="0" i="0" dirty="0">
                <a:solidFill>
                  <a:srgbClr val="E5E7EB"/>
                </a:solidFill>
                <a:latin typeface="Consolas" pitchFamily="49" charset="0"/>
              </a:rPr>
              <a:t>### Lire le catalogue de démonstration</a:t>
            </a:r>
          </a:p>
          <a:p>
            <a:pPr marL="0">
              <a:lnSpc>
                <a:spcPts val="1904"/>
              </a:lnSpc>
              <a:spcBef>
                <a:spcPts val="0"/>
              </a:spcBef>
              <a:spcAft>
                <a:spcPts val="0"/>
              </a:spcAft>
              <a:buNone/>
            </a:pPr>
            <a:r>
              <a:rPr lang="fr-FR" sz="1700" b="0" i="0" dirty="0">
                <a:solidFill>
                  <a:srgbClr val="E5E7EB"/>
                </a:solidFill>
                <a:latin typeface="Consolas" pitchFamily="49" charset="0"/>
              </a:rPr>
              <a:t>GET {{api}}/products</a:t>
            </a:r>
          </a:p>
          <a:p>
            <a:pPr marL="0">
              <a:lnSpc>
                <a:spcPts val="1904"/>
              </a:lnSpc>
              <a:spcBef>
                <a:spcPts val="0"/>
              </a:spcBef>
              <a:spcAft>
                <a:spcPts val="0"/>
              </a:spcAft>
              <a:buNone/>
            </a:pPr>
            <a:r>
              <a:rPr lang="fr-FR" sz="1700" b="0" i="0" dirty="0">
                <a:solidFill>
                  <a:srgbClr val="E5E7EB"/>
                </a:solidFill>
                <a:latin typeface="Consolas" pitchFamily="49" charset="0"/>
              </a:rPr>
              <a:t>### Vérifier un produit</a:t>
            </a:r>
          </a:p>
          <a:p>
            <a:pPr marL="0">
              <a:lnSpc>
                <a:spcPts val="1904"/>
              </a:lnSpc>
              <a:spcBef>
                <a:spcPts val="0"/>
              </a:spcBef>
              <a:spcAft>
                <a:spcPts val="0"/>
              </a:spcAft>
              <a:buNone/>
            </a:pPr>
            <a:r>
              <a:rPr lang="fr-FR" sz="1700" b="0" i="0" dirty="0">
                <a:solidFill>
                  <a:srgbClr val="E5E7EB"/>
                </a:solidFill>
                <a:latin typeface="Consolas" pitchFamily="49" charset="0"/>
              </a:rPr>
              <a:t>POST {{api}}/products/check</a:t>
            </a:r>
          </a:p>
          <a:p>
            <a:pPr marL="0">
              <a:lnSpc>
                <a:spcPts val="1904"/>
              </a:lnSpc>
              <a:spcBef>
                <a:spcPts val="0"/>
              </a:spcBef>
              <a:spcAft>
                <a:spcPts val="0"/>
              </a:spcAft>
              <a:buNone/>
            </a:pPr>
            <a:r>
              <a:rPr lang="fr-FR" sz="1700" b="0" i="0" dirty="0">
                <a:solidFill>
                  <a:srgbClr val="E5E7EB"/>
                </a:solidFill>
                <a:latin typeface="Consolas" pitchFamily="49" charset="0"/>
              </a:rPr>
              <a:t>Content-Type: application/json</a:t>
            </a:r>
          </a:p>
          <a:p>
            <a:pPr marL="0">
              <a:lnSpc>
                <a:spcPct val="108000"/>
              </a:lnSpc>
              <a:spcBef>
                <a:spcPts val="0"/>
              </a:spcBef>
              <a:spcAft>
                <a:spcPts val="0"/>
              </a:spcAft>
              <a:buNone/>
            </a:pPr>
            <a:endParaRPr lang="fr-FR" sz="1700" b="0" i="0" dirty="0">
              <a:solidFill>
                <a:srgbClr val="E5E7EB"/>
              </a:solidFill>
              <a:latin typeface="Consolas" pitchFamily="49" charset="0"/>
            </a:endParaRPr>
          </a:p>
          <a:p>
            <a:pPr marL="0">
              <a:lnSpc>
                <a:spcPts val="1904"/>
              </a:lnSpc>
              <a:spcBef>
                <a:spcPts val="0"/>
              </a:spcBef>
              <a:spcAft>
                <a:spcPts val="0"/>
              </a:spcAft>
              <a:buNone/>
            </a:pPr>
            <a:r>
              <a:rPr lang="fr-FR" sz="1700" b="0" i="0" dirty="0">
                <a:solidFill>
                  <a:srgbClr val="E5E7EB"/>
                </a:solidFill>
                <a:latin typeface="Consolas" pitchFamily="49" charset="0"/>
              </a:rPr>
              <a:t>{ "name": "Stylo", "price": 2.50 }</a:t>
            </a:r>
          </a:p>
        </p:txBody>
      </p:sp>
      <p:sp>
        <p:nvSpPr>
          <p:cNvPr id="1136" name="ZoneTexte"/>
          <p:cNvSpPr txBox="1"/>
          <p:nvPr/>
        </p:nvSpPr>
        <p:spPr>
          <a:xfrm>
            <a:off x="147535" y="5486400"/>
            <a:ext cx="11896927" cy="1051560"/>
          </a:xfrm>
          <a:prstGeom prst="rect">
            <a:avLst/>
          </a:prstGeom>
          <a:noFill/>
        </p:spPr>
        <p:txBody>
          <a:bodyPr wrap="square" lIns="0" tIns="54864" rIns="127000" bIns="54864" rtlCol="0" anchor="t"/>
          <a:lstStyle/>
          <a:p>
            <a:pPr marL="285750" indent="-285750">
              <a:lnSpc>
                <a:spcPts val="2240"/>
              </a:lnSpc>
              <a:spcBef>
                <a:spcPts val="0"/>
              </a:spcBef>
              <a:spcAft>
                <a:spcPts val="500"/>
              </a:spcAft>
              <a:buNone/>
            </a:pPr>
            <a:r>
              <a:rPr lang="fr-FR" sz="2000" b="0" dirty="0">
                <a:solidFill>
                  <a:srgbClr val="E5E7EB"/>
                </a:solidFill>
                <a:latin typeface="Aptos"/>
              </a:rPr>
              <a:t>Le fichier api.http accompagne ces exemples génériques. Adaptez l’adresse au serveur lancé. Construisez les requêtes de votre projet à partir de votre propre contrat. Les essais manuels complètent vos assertions automatisées.</a:t>
            </a:r>
          </a:p>
        </p:txBody>
      </p:sp>
      <p:cxnSp>
        <p:nvCxnSpPr>
          <p:cNvPr id="1138" name="Accent titre"/>
          <p:cNvCxnSpPr/>
          <p:nvPr/>
        </p:nvCxnSpPr>
        <p:spPr>
          <a:xfrm>
            <a:off x="147535" y="894944"/>
            <a:ext cx="1100000" cy="0"/>
          </a:xfrm>
          <a:prstGeom prst="line">
            <a:avLst/>
          </a:prstGeom>
          <a:ln w="38100" cap="rnd">
            <a:solidFill>
              <a:srgbClr val="FFA53C"/>
            </a:solidFill>
          </a:ln>
        </p:spPr>
      </p:cxnSp>
      <p:sp>
        <p:nvSpPr>
          <p:cNvPr id="113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35</a:t>
            </a:r>
          </a:p>
        </p:txBody>
      </p:sp>
    </p:spTree>
    <p:extLst>
      <p:ext uri="{BB962C8B-B14F-4D97-AF65-F5344CB8AC3E}">
        <p14:creationId xmlns:p14="http://schemas.microsoft.com/office/powerpoint/2010/main" val="2899108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43"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4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SPÉCIFICATION 1 — LE MOTEUR DE JEU</a:t>
            </a:r>
          </a:p>
        </p:txBody>
      </p:sp>
      <p:cxnSp>
        <p:nvCxnSpPr>
          <p:cNvPr id="114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144" name="Accent titre"/>
          <p:cNvCxnSpPr/>
          <p:nvPr/>
        </p:nvCxnSpPr>
        <p:spPr>
          <a:xfrm>
            <a:off x="147535" y="894944"/>
            <a:ext cx="1100000" cy="0"/>
          </a:xfrm>
          <a:prstGeom prst="line">
            <a:avLst/>
          </a:prstGeom>
          <a:ln w="38100" cap="rnd">
            <a:solidFill>
              <a:srgbClr val="FFA53C"/>
            </a:solidFill>
          </a:ln>
        </p:spPr>
      </p:cxnSp>
      <p:sp>
        <p:nvSpPr>
          <p:cNvPr id="1145"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36</a:t>
            </a:r>
          </a:p>
        </p:txBody>
      </p:sp>
      <p:sp>
        <p:nvSpPr>
          <p:cNvPr id="1146"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Un moteur de jeu vérifiable</a:t>
            </a:r>
          </a:p>
          <a:p>
            <a:pPr marL="285750" indent="-285750">
              <a:lnSpc>
                <a:spcPts val="2352"/>
              </a:lnSpc>
              <a:spcBef>
                <a:spcPts val="0"/>
              </a:spcBef>
              <a:spcAft>
                <a:spcPts val="500"/>
              </a:spcAft>
              <a:buNone/>
            </a:pPr>
            <a:r>
              <a:rPr lang="fr-FR" sz="2100" b="0" dirty="0">
                <a:solidFill>
                  <a:srgbClr val="E5E7EB"/>
                </a:solidFill>
                <a:latin typeface="Aptos"/>
              </a:rPr>
              <a:t>Les règles doivent pouvoir être exécutées et testées indépendamment des transports et de l’interface.</a:t>
            </a:r>
          </a:p>
          <a:p>
            <a:pPr marL="285750" indent="-285750">
              <a:lnSpc>
                <a:spcPts val="2352"/>
              </a:lnSpc>
              <a:spcBef>
                <a:spcPts val="0"/>
              </a:spcBef>
              <a:spcAft>
                <a:spcPts val="500"/>
              </a:spcAft>
              <a:buNone/>
            </a:pPr>
            <a:r>
              <a:rPr lang="fr-FR" sz="2100" b="1" dirty="0">
                <a:solidFill>
                  <a:srgbClr val="FFAD46"/>
                </a:solidFill>
                <a:latin typeface="Aptos"/>
              </a:rPr>
              <a:t>Comportements attendus</a:t>
            </a:r>
          </a:p>
          <a:p>
            <a:pPr marL="285750" indent="-285750">
              <a:lnSpc>
                <a:spcPts val="2352"/>
              </a:lnSpc>
              <a:spcBef>
                <a:spcPts val="0"/>
              </a:spcBef>
              <a:spcAft>
                <a:spcPts val="500"/>
              </a:spcAft>
              <a:buNone/>
            </a:pPr>
            <a:r>
              <a:rPr lang="fr-FR" sz="2100" b="0" dirty="0">
                <a:solidFill>
                  <a:srgbClr val="E5E7EB"/>
                </a:solidFill>
                <a:latin typeface="Aptos"/>
              </a:rPr>
              <a:t>Créer deux grilles et placer les flottes aléatoirement.</a:t>
            </a:r>
          </a:p>
          <a:p>
            <a:pPr marL="285750" indent="-285750">
              <a:lnSpc>
                <a:spcPts val="2352"/>
              </a:lnSpc>
              <a:spcBef>
                <a:spcPts val="0"/>
              </a:spcBef>
              <a:spcAft>
                <a:spcPts val="500"/>
              </a:spcAft>
              <a:buNone/>
            </a:pPr>
            <a:r>
              <a:rPr lang="fr-FR" sz="2100" b="0" dirty="0">
                <a:solidFill>
                  <a:srgbClr val="E5E7EB"/>
                </a:solidFill>
                <a:latin typeface="Aptos"/>
              </a:rPr>
              <a:t>Respecter les tailles et les formes choisies, sans chevauchement ni débordement.</a:t>
            </a:r>
          </a:p>
          <a:p>
            <a:pPr marL="285750" indent="-285750">
              <a:lnSpc>
                <a:spcPts val="2352"/>
              </a:lnSpc>
              <a:spcBef>
                <a:spcPts val="0"/>
              </a:spcBef>
              <a:spcAft>
                <a:spcPts val="500"/>
              </a:spcAft>
              <a:buNone/>
            </a:pPr>
            <a:r>
              <a:rPr lang="fr-FR" sz="2100" b="0" dirty="0">
                <a:solidFill>
                  <a:srgbClr val="E5E7EB"/>
                </a:solidFill>
                <a:latin typeface="Aptos"/>
              </a:rPr>
              <a:t>Résoudre les tirs et identifier la fin de partie ainsi que le gagnant.</a:t>
            </a:r>
          </a:p>
          <a:p>
            <a:pPr marL="285750" indent="-285750">
              <a:lnSpc>
                <a:spcPts val="2352"/>
              </a:lnSpc>
              <a:spcBef>
                <a:spcPts val="0"/>
              </a:spcBef>
              <a:spcAft>
                <a:spcPts val="500"/>
              </a:spcAft>
              <a:buNone/>
            </a:pPr>
            <a:r>
              <a:rPr lang="fr-FR" sz="2100" b="0" dirty="0">
                <a:solidFill>
                  <a:srgbClr val="E5E7EB"/>
                </a:solidFill>
                <a:latin typeface="Aptos"/>
              </a:rPr>
              <a:t>Garder secrètes les positions adverses non découvertes.</a:t>
            </a:r>
          </a:p>
          <a:p>
            <a:pPr marL="285750" indent="-285750">
              <a:lnSpc>
                <a:spcPts val="2352"/>
              </a:lnSpc>
              <a:spcBef>
                <a:spcPts val="0"/>
              </a:spcBef>
              <a:spcAft>
                <a:spcPts val="500"/>
              </a:spcAft>
              <a:buNone/>
            </a:pPr>
            <a:r>
              <a:rPr lang="fr-FR" sz="2100" b="0" dirty="0">
                <a:solidFill>
                  <a:srgbClr val="E5E7EB"/>
                </a:solidFill>
                <a:latin typeface="Aptos"/>
              </a:rPr>
              <a:t>Un coup refusé ne modifie pas la partie ; rejouer une case ne compte pas comme un nouveau coup.</a:t>
            </a:r>
          </a:p>
          <a:p>
            <a:pPr marL="285750" indent="-285750">
              <a:lnSpc>
                <a:spcPts val="2352"/>
              </a:lnSpc>
              <a:spcBef>
                <a:spcPts val="0"/>
              </a:spcBef>
              <a:spcAft>
                <a:spcPts val="500"/>
              </a:spcAft>
              <a:buNone/>
            </a:pPr>
            <a:r>
              <a:rPr lang="fr-FR" sz="2100" b="1" dirty="0">
                <a:solidFill>
                  <a:srgbClr val="FFAD46"/>
                </a:solidFill>
                <a:latin typeface="Aptos"/>
              </a:rPr>
              <a:t>Vos choix de conception</a:t>
            </a:r>
          </a:p>
          <a:p>
            <a:pPr marL="285750" indent="-285750">
              <a:lnSpc>
                <a:spcPts val="2352"/>
              </a:lnSpc>
              <a:spcBef>
                <a:spcPts val="0"/>
              </a:spcBef>
              <a:spcAft>
                <a:spcPts val="500"/>
              </a:spcAft>
              <a:buNone/>
            </a:pPr>
            <a:r>
              <a:rPr lang="fr-FR" sz="2100" b="0" dirty="0">
                <a:solidFill>
                  <a:srgbClr val="E5E7EB"/>
                </a:solidFill>
                <a:latin typeface="Aptos"/>
              </a:rPr>
              <a:t>Définissez les représentations, les algorithmes et les invariants. Les tests doivent établir le respect de vos règles.</a:t>
            </a:r>
          </a:p>
        </p:txBody>
      </p:sp>
    </p:spTree>
    <p:extLst>
      <p:ext uri="{BB962C8B-B14F-4D97-AF65-F5344CB8AC3E}">
        <p14:creationId xmlns:p14="http://schemas.microsoft.com/office/powerpoint/2010/main" val="28991082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51"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46"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SPÉCIFICATION 2 — LE CONTRAT D’API</a:t>
            </a:r>
          </a:p>
        </p:txBody>
      </p:sp>
      <p:cxnSp>
        <p:nvCxnSpPr>
          <p:cNvPr id="1147"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152" name="Accent titre"/>
          <p:cNvCxnSpPr/>
          <p:nvPr/>
        </p:nvCxnSpPr>
        <p:spPr>
          <a:xfrm>
            <a:off x="147535" y="894944"/>
            <a:ext cx="1100000" cy="0"/>
          </a:xfrm>
          <a:prstGeom prst="line">
            <a:avLst/>
          </a:prstGeom>
          <a:ln w="38100" cap="rnd">
            <a:solidFill>
              <a:srgbClr val="FFA53C"/>
            </a:solidFill>
          </a:ln>
        </p:spPr>
      </p:cxnSp>
      <p:sp>
        <p:nvSpPr>
          <p:cNvPr id="1153"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37</a:t>
            </a:r>
          </a:p>
        </p:txBody>
      </p:sp>
      <p:sp>
        <p:nvSpPr>
          <p:cNvPr id="1154"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Concevez les échanges entre le navigateur et le serveur</a:t>
            </a:r>
          </a:p>
          <a:p>
            <a:pPr marL="285750" indent="-285750">
              <a:lnSpc>
                <a:spcPts val="2352"/>
              </a:lnSpc>
              <a:spcBef>
                <a:spcPts val="0"/>
              </a:spcBef>
              <a:spcAft>
                <a:spcPts val="500"/>
              </a:spcAft>
              <a:buNone/>
            </a:pPr>
            <a:r>
              <a:rPr lang="fr-FR" sz="2100" b="0" dirty="0">
                <a:solidFill>
                  <a:srgbClr val="E5E7EB"/>
                </a:solidFill>
                <a:latin typeface="Aptos"/>
              </a:rPr>
              <a:t>Définissez les opérations nécessaires, leurs entrées, leurs réponses et leurs erreurs.</a:t>
            </a:r>
          </a:p>
          <a:p>
            <a:pPr marL="285750" indent="-285750">
              <a:lnSpc>
                <a:spcPts val="2352"/>
              </a:lnSpc>
              <a:spcBef>
                <a:spcPts val="0"/>
              </a:spcBef>
              <a:spcAft>
                <a:spcPts val="500"/>
              </a:spcAft>
              <a:buNone/>
            </a:pPr>
            <a:r>
              <a:rPr lang="fr-FR" sz="2100" b="0" dirty="0">
                <a:solidFill>
                  <a:srgbClr val="E5E7EB"/>
                </a:solidFill>
                <a:latin typeface="Aptos"/>
              </a:rPr>
              <a:t>Le client doit pouvoir créer une partie, connaître son état et faire évoluer le jeu.</a:t>
            </a:r>
          </a:p>
          <a:p>
            <a:pPr marL="285750" indent="-285750">
              <a:lnSpc>
                <a:spcPts val="2352"/>
              </a:lnSpc>
              <a:spcBef>
                <a:spcPts val="0"/>
              </a:spcBef>
              <a:spcAft>
                <a:spcPts val="500"/>
              </a:spcAft>
              <a:buNone/>
            </a:pPr>
            <a:r>
              <a:rPr lang="fr-FR" sz="2100" b="1" dirty="0">
                <a:solidFill>
                  <a:srgbClr val="FFAD46"/>
                </a:solidFill>
                <a:latin typeface="Aptos"/>
              </a:rPr>
              <a:t>Un contrat explicite</a:t>
            </a:r>
          </a:p>
          <a:p>
            <a:pPr marL="285750" indent="-285750">
              <a:lnSpc>
                <a:spcPts val="2352"/>
              </a:lnSpc>
              <a:spcBef>
                <a:spcPts val="0"/>
              </a:spcBef>
              <a:spcAft>
                <a:spcPts val="500"/>
              </a:spcAft>
              <a:buNone/>
            </a:pPr>
            <a:r>
              <a:rPr lang="fr-FR" sz="2100" b="0" dirty="0">
                <a:solidFill>
                  <a:srgbClr val="E5E7EB"/>
                </a:solidFill>
                <a:latin typeface="Aptos"/>
              </a:rPr>
              <a:t>Un DTO (Data Transfer Object) représente les données échangées à la frontière d’un service.</a:t>
            </a:r>
          </a:p>
          <a:p>
            <a:pPr marL="285750" indent="-285750">
              <a:lnSpc>
                <a:spcPts val="2352"/>
              </a:lnSpc>
              <a:spcBef>
                <a:spcPts val="0"/>
              </a:spcBef>
              <a:spcAft>
                <a:spcPts val="500"/>
              </a:spcAft>
              <a:buNone/>
            </a:pPr>
            <a:r>
              <a:rPr lang="fr-FR" sz="2100" b="0" dirty="0">
                <a:solidFill>
                  <a:srgbClr val="E5E7EB"/>
                </a:solidFill>
                <a:latin typeface="Aptos"/>
              </a:rPr>
              <a:t>Choisissez les types, les informations publiques et la représentation des états possibles.</a:t>
            </a:r>
          </a:p>
          <a:p>
            <a:pPr marL="285750" indent="-285750">
              <a:lnSpc>
                <a:spcPts val="2352"/>
              </a:lnSpc>
              <a:spcBef>
                <a:spcPts val="0"/>
              </a:spcBef>
              <a:spcAft>
                <a:spcPts val="500"/>
              </a:spcAft>
              <a:buNone/>
            </a:pPr>
            <a:r>
              <a:rPr lang="fr-FR" sz="2100" b="0" dirty="0">
                <a:solidFill>
                  <a:srgbClr val="E5E7EB"/>
                </a:solidFill>
                <a:latin typeface="Aptos"/>
              </a:rPr>
              <a:t>Les échanges doivent respecter les règles de visibilité des informations du jeu.</a:t>
            </a:r>
          </a:p>
          <a:p>
            <a:pPr marL="285750" indent="-285750">
              <a:lnSpc>
                <a:spcPts val="2352"/>
              </a:lnSpc>
              <a:spcBef>
                <a:spcPts val="0"/>
              </a:spcBef>
              <a:spcAft>
                <a:spcPts val="500"/>
              </a:spcAft>
              <a:buNone/>
            </a:pPr>
            <a:r>
              <a:rPr lang="fr-FR" sz="2100" b="1" dirty="0">
                <a:solidFill>
                  <a:srgbClr val="FFAD46"/>
                </a:solidFill>
                <a:latin typeface="Aptos"/>
              </a:rPr>
              <a:t>Une décision d’équipe</a:t>
            </a:r>
          </a:p>
          <a:p>
            <a:pPr marL="285750" indent="-285750">
              <a:lnSpc>
                <a:spcPts val="2352"/>
              </a:lnSpc>
              <a:spcBef>
                <a:spcPts val="0"/>
              </a:spcBef>
              <a:spcAft>
                <a:spcPts val="500"/>
              </a:spcAft>
              <a:buNone/>
            </a:pPr>
            <a:r>
              <a:rPr lang="fr-FR" sz="2100" b="0" dirty="0">
                <a:solidFill>
                  <a:srgbClr val="E5E7EB"/>
                </a:solidFill>
                <a:latin typeface="Aptos"/>
              </a:rPr>
              <a:t>Faites évoluer ensemble le contrat, son implémentation et ses vérifications. Documentez les décisions structurantes.</a:t>
            </a:r>
          </a:p>
        </p:txBody>
      </p:sp>
    </p:spTree>
    <p:extLst>
      <p:ext uri="{BB962C8B-B14F-4D97-AF65-F5344CB8AC3E}">
        <p14:creationId xmlns:p14="http://schemas.microsoft.com/office/powerpoint/2010/main" val="2899108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57"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54"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SPÉCIFICATION 3 — LA BOUCLE DE JEU</a:t>
            </a:r>
          </a:p>
        </p:txBody>
      </p:sp>
      <p:cxnSp>
        <p:nvCxnSpPr>
          <p:cNvPr id="1155"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158" name="Accent titre"/>
          <p:cNvCxnSpPr/>
          <p:nvPr/>
        </p:nvCxnSpPr>
        <p:spPr>
          <a:xfrm>
            <a:off x="147535" y="894944"/>
            <a:ext cx="1100000" cy="0"/>
          </a:xfrm>
          <a:prstGeom prst="line">
            <a:avLst/>
          </a:prstGeom>
          <a:ln w="38100" cap="rnd">
            <a:solidFill>
              <a:srgbClr val="FFA53C"/>
            </a:solidFill>
          </a:ln>
        </p:spPr>
      </p:cxnSp>
      <p:sp>
        <p:nvSpPr>
          <p:cNvPr id="115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38</a:t>
            </a:r>
          </a:p>
        </p:txBody>
      </p:sp>
      <p:sp>
        <p:nvSpPr>
          <p:cNvPr id="1160"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Un déroulement cohérent avec vos règles</a:t>
            </a:r>
          </a:p>
          <a:p>
            <a:pPr marL="285750" indent="-285750">
              <a:lnSpc>
                <a:spcPts val="2352"/>
              </a:lnSpc>
              <a:spcBef>
                <a:spcPts val="0"/>
              </a:spcBef>
              <a:spcAft>
                <a:spcPts val="500"/>
              </a:spcAft>
              <a:buNone/>
            </a:pPr>
            <a:r>
              <a:rPr lang="fr-FR" sz="2100" b="0" dirty="0">
                <a:solidFill>
                  <a:srgbClr val="E5E7EB"/>
                </a:solidFill>
                <a:latin typeface="Aptos"/>
              </a:rPr>
              <a:t>Une action autorisée fait évoluer la partie et produit un résultat compréhensible par le joueur.</a:t>
            </a:r>
          </a:p>
          <a:p>
            <a:pPr marL="285750" indent="-285750">
              <a:lnSpc>
                <a:spcPts val="2352"/>
              </a:lnSpc>
              <a:spcBef>
                <a:spcPts val="0"/>
              </a:spcBef>
              <a:spcAft>
                <a:spcPts val="500"/>
              </a:spcAft>
              <a:buNone/>
            </a:pPr>
            <a:r>
              <a:rPr lang="fr-FR" sz="2100" b="0" dirty="0">
                <a:solidFill>
                  <a:srgbClr val="E5E7EB"/>
                </a:solidFill>
                <a:latin typeface="Aptos"/>
              </a:rPr>
              <a:t>Le joueur et l’ordinateur jouent selon l’alternance définie. Aucun nouveau coup n’est joué après la fin de partie.</a:t>
            </a:r>
          </a:p>
          <a:p>
            <a:pPr marL="285750" indent="-285750">
              <a:lnSpc>
                <a:spcPts val="2352"/>
              </a:lnSpc>
              <a:spcBef>
                <a:spcPts val="0"/>
              </a:spcBef>
              <a:spcAft>
                <a:spcPts val="500"/>
              </a:spcAft>
              <a:buNone/>
            </a:pPr>
            <a:r>
              <a:rPr lang="fr-FR" sz="2100" b="0" dirty="0">
                <a:solidFill>
                  <a:srgbClr val="E5E7EB"/>
                </a:solidFill>
                <a:latin typeface="Aptos"/>
              </a:rPr>
              <a:t>L’interface dispose des informations nécessaires pour représenter le résultat et l’état courant.</a:t>
            </a:r>
          </a:p>
          <a:p>
            <a:pPr marL="285750" indent="-285750">
              <a:lnSpc>
                <a:spcPts val="2352"/>
              </a:lnSpc>
              <a:spcBef>
                <a:spcPts val="0"/>
              </a:spcBef>
              <a:spcAft>
                <a:spcPts val="500"/>
              </a:spcAft>
              <a:buNone/>
            </a:pPr>
            <a:r>
              <a:rPr lang="fr-FR" sz="2100" b="1" dirty="0">
                <a:solidFill>
                  <a:srgbClr val="FFAD46"/>
                </a:solidFill>
                <a:latin typeface="Aptos"/>
              </a:rPr>
              <a:t>Un adversaire que vous concevez</a:t>
            </a:r>
          </a:p>
          <a:p>
            <a:pPr marL="285750" indent="-285750">
              <a:lnSpc>
                <a:spcPts val="2352"/>
              </a:lnSpc>
              <a:spcBef>
                <a:spcPts val="0"/>
              </a:spcBef>
              <a:spcAft>
                <a:spcPts val="500"/>
              </a:spcAft>
              <a:buNone/>
            </a:pPr>
            <a:r>
              <a:rPr lang="fr-FR" sz="2100" b="0" dirty="0">
                <a:solidFill>
                  <a:srgbClr val="E5E7EB"/>
                </a:solidFill>
                <a:latin typeface="Aptos"/>
              </a:rPr>
              <a:t>Définissez sa stratégie et vérifiez qu’il respecte les mêmes règles de validité des coups.</a:t>
            </a:r>
          </a:p>
          <a:p>
            <a:pPr marL="285750" indent="-285750">
              <a:lnSpc>
                <a:spcPts val="2352"/>
              </a:lnSpc>
              <a:spcBef>
                <a:spcPts val="0"/>
              </a:spcBef>
              <a:spcAft>
                <a:spcPts val="500"/>
              </a:spcAft>
              <a:buNone/>
            </a:pPr>
            <a:r>
              <a:rPr lang="fr-FR" sz="2100" b="0" dirty="0">
                <a:solidFill>
                  <a:srgbClr val="E5E7EB"/>
                </a:solidFill>
                <a:latin typeface="Aptos"/>
              </a:rPr>
              <a:t>La difficulté et la qualité de son comportement peuvent enrichir votre backlog.</a:t>
            </a:r>
          </a:p>
          <a:p>
            <a:pPr marL="285750" indent="-285750">
              <a:lnSpc>
                <a:spcPts val="2352"/>
              </a:lnSpc>
              <a:spcBef>
                <a:spcPts val="0"/>
              </a:spcBef>
              <a:spcAft>
                <a:spcPts val="500"/>
              </a:spcAft>
              <a:buNone/>
            </a:pPr>
            <a:r>
              <a:rPr lang="fr-FR" sz="2100" b="1" dirty="0">
                <a:solidFill>
                  <a:srgbClr val="FFAD46"/>
                </a:solidFill>
                <a:latin typeface="Aptos"/>
              </a:rPr>
              <a:t>Une cohérence à démontrer</a:t>
            </a:r>
          </a:p>
          <a:p>
            <a:pPr marL="285750" indent="-285750">
              <a:lnSpc>
                <a:spcPts val="2352"/>
              </a:lnSpc>
              <a:spcBef>
                <a:spcPts val="0"/>
              </a:spcBef>
              <a:spcAft>
                <a:spcPts val="500"/>
              </a:spcAft>
              <a:buNone/>
            </a:pPr>
            <a:r>
              <a:rPr lang="fr-FR" sz="2100" b="0" dirty="0">
                <a:solidFill>
                  <a:srgbClr val="E5E7EB"/>
                </a:solidFill>
                <a:latin typeface="Aptos"/>
              </a:rPr>
              <a:t>Identifiez les situations qui peuvent compromettre le déroulement du jeu. Choisissez vos vérifications et justifiez ce qu’elles établissent.</a:t>
            </a:r>
          </a:p>
        </p:txBody>
      </p:sp>
    </p:spTree>
    <p:extLst>
      <p:ext uri="{BB962C8B-B14F-4D97-AF65-F5344CB8AC3E}">
        <p14:creationId xmlns:p14="http://schemas.microsoft.com/office/powerpoint/2010/main" val="2899108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6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6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TESTER UN COMPORTEMENT AVEC XUNIT</a:t>
            </a:r>
          </a:p>
        </p:txBody>
      </p:sp>
      <p:cxnSp>
        <p:nvCxnSpPr>
          <p:cNvPr id="116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165" name="Accent titre"/>
          <p:cNvCxnSpPr/>
          <p:nvPr/>
        </p:nvCxnSpPr>
        <p:spPr>
          <a:xfrm>
            <a:off x="147535" y="894944"/>
            <a:ext cx="1100000" cy="0"/>
          </a:xfrm>
          <a:prstGeom prst="line">
            <a:avLst/>
          </a:prstGeom>
          <a:ln w="38100" cap="rnd">
            <a:solidFill>
              <a:srgbClr val="FFA53C"/>
            </a:solidFill>
          </a:ln>
        </p:spPr>
      </p:cxnSp>
      <p:sp>
        <p:nvSpPr>
          <p:cNvPr id="116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39</a:t>
            </a:r>
          </a:p>
        </p:txBody>
      </p:sp>
      <p:sp>
        <p:nvSpPr>
          <p:cNvPr id="1167" name="Exemple générique"/>
          <p:cNvSpPr/>
          <p:nvPr/>
        </p:nvSpPr>
        <p:spPr>
          <a:xfrm>
            <a:off x="146304" y="1143000"/>
            <a:ext cx="11896344" cy="457200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904"/>
              </a:lnSpc>
              <a:spcBef>
                <a:spcPts val="0"/>
              </a:spcBef>
              <a:spcAft>
                <a:spcPts val="0"/>
              </a:spcAft>
              <a:buNone/>
            </a:pPr>
            <a:r>
              <a:rPr lang="fr-FR" sz="1700" b="0" i="0" dirty="0">
                <a:solidFill>
                  <a:srgbClr val="E5E7EB"/>
                </a:solidFill>
                <a:latin typeface="Consolas" pitchFamily="49" charset="0"/>
              </a:rPr>
              <a:t>public class PriceTests</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[Fact]</a:t>
            </a:r>
          </a:p>
          <a:p>
            <a:pPr marL="0">
              <a:lnSpc>
                <a:spcPts val="1904"/>
              </a:lnSpc>
              <a:spcBef>
                <a:spcPts val="0"/>
              </a:spcBef>
              <a:spcAft>
                <a:spcPts val="0"/>
              </a:spcAft>
              <a:buNone/>
            </a:pPr>
            <a:r>
              <a:rPr lang="fr-FR" sz="1700" b="0" i="0" dirty="0">
                <a:solidFill>
                  <a:srgbClr val="E5E7EB"/>
                </a:solidFill>
                <a:latin typeface="Consolas" pitchFamily="49" charset="0"/>
              </a:rPr>
              <a:t>    public void Une_taxe_de_20_pour_cent_est_appliquee()</a:t>
            </a:r>
          </a:p>
          <a:p>
            <a:pPr marL="0">
              <a:lnSpc>
                <a:spcPts val="1904"/>
              </a:lnSpc>
              <a:spcBef>
                <a:spcPts val="0"/>
              </a:spcBef>
              <a:spcAft>
                <a:spcPts val="0"/>
              </a:spcAft>
              <a:buNone/>
            </a:pPr>
            <a:r>
              <a:rPr lang="fr-FR" sz="1700" b="0" i="0" dirty="0">
                <a:solidFill>
                  <a:srgbClr val="E5E7EB"/>
                </a:solidFill>
                <a:latin typeface="Consolas" pitchFamily="49" charset="0"/>
              </a:rPr>
              <a:t>    {</a:t>
            </a:r>
          </a:p>
          <a:p>
            <a:pPr marL="0">
              <a:lnSpc>
                <a:spcPts val="1904"/>
              </a:lnSpc>
              <a:spcBef>
                <a:spcPts val="0"/>
              </a:spcBef>
              <a:spcAft>
                <a:spcPts val="0"/>
              </a:spcAft>
              <a:buNone/>
            </a:pPr>
            <a:r>
              <a:rPr lang="fr-FR" sz="1700" b="0" i="0" dirty="0">
                <a:solidFill>
                  <a:srgbClr val="E5E7EB"/>
                </a:solidFill>
                <a:latin typeface="Consolas" pitchFamily="49" charset="0"/>
              </a:rPr>
              <a:t>        var result = PriceMath.WithTax(20m, 0.20m);</a:t>
            </a:r>
          </a:p>
          <a:p>
            <a:pPr marL="0">
              <a:lnSpc>
                <a:spcPts val="1904"/>
              </a:lnSpc>
              <a:spcBef>
                <a:spcPts val="0"/>
              </a:spcBef>
              <a:spcAft>
                <a:spcPts val="0"/>
              </a:spcAft>
              <a:buNone/>
            </a:pPr>
            <a:r>
              <a:rPr lang="fr-FR" sz="1700" b="0" i="0" dirty="0">
                <a:solidFill>
                  <a:srgbClr val="E5E7EB"/>
                </a:solidFill>
                <a:latin typeface="Consolas" pitchFamily="49" charset="0"/>
              </a:rPr>
              <a:t>        Assert.Equal(24m, result);</a:t>
            </a:r>
          </a:p>
          <a:p>
            <a:pPr marL="0">
              <a:lnSpc>
                <a:spcPts val="1904"/>
              </a:lnSpc>
              <a:spcBef>
                <a:spcPts val="0"/>
              </a:spcBef>
              <a:spcAft>
                <a:spcPts val="0"/>
              </a:spcAft>
              <a:buNone/>
            </a:pPr>
            <a:r>
              <a:rPr lang="fr-FR" sz="1700" b="0" i="0" dirty="0">
                <a:solidFill>
                  <a:srgbClr val="E5E7EB"/>
                </a:solidFill>
                <a:latin typeface="Consolas" pitchFamily="49" charset="0"/>
              </a:rPr>
              <a:t>    }</a:t>
            </a:r>
          </a:p>
          <a:p>
            <a:pPr marL="0">
              <a:lnSpc>
                <a:spcPct val="108000"/>
              </a:lnSpc>
              <a:spcBef>
                <a:spcPts val="0"/>
              </a:spcBef>
              <a:spcAft>
                <a:spcPts val="0"/>
              </a:spcAft>
              <a:buNone/>
            </a:pPr>
            <a:endParaRPr lang="fr-FR" sz="1700" b="0" i="0" dirty="0">
              <a:solidFill>
                <a:srgbClr val="E5E7EB"/>
              </a:solidFill>
              <a:latin typeface="Consolas" pitchFamily="49" charset="0"/>
            </a:endParaRPr>
          </a:p>
          <a:p>
            <a:pPr marL="0">
              <a:lnSpc>
                <a:spcPts val="1904"/>
              </a:lnSpc>
              <a:spcBef>
                <a:spcPts val="0"/>
              </a:spcBef>
              <a:spcAft>
                <a:spcPts val="0"/>
              </a:spcAft>
              <a:buNone/>
            </a:pPr>
            <a:r>
              <a:rPr lang="fr-FR" sz="1700" b="0" i="0" dirty="0">
                <a:solidFill>
                  <a:srgbClr val="E5E7EB"/>
                </a:solidFill>
                <a:latin typeface="Consolas" pitchFamily="49" charset="0"/>
              </a:rPr>
              <a:t>    [Theory]</a:t>
            </a:r>
          </a:p>
          <a:p>
            <a:pPr marL="0">
              <a:lnSpc>
                <a:spcPts val="1904"/>
              </a:lnSpc>
              <a:spcBef>
                <a:spcPts val="0"/>
              </a:spcBef>
              <a:spcAft>
                <a:spcPts val="0"/>
              </a:spcAft>
              <a:buNone/>
            </a:pPr>
            <a:r>
              <a:rPr lang="fr-FR" sz="1700" b="0" i="0" dirty="0">
                <a:solidFill>
                  <a:srgbClr val="E5E7EB"/>
                </a:solidFill>
                <a:latin typeface="Consolas" pitchFamily="49" charset="0"/>
              </a:rPr>
              <a:t>    [InlineData(-1)]</a:t>
            </a:r>
          </a:p>
          <a:p>
            <a:pPr marL="0">
              <a:lnSpc>
                <a:spcPts val="1904"/>
              </a:lnSpc>
              <a:spcBef>
                <a:spcPts val="0"/>
              </a:spcBef>
              <a:spcAft>
                <a:spcPts val="0"/>
              </a:spcAft>
              <a:buNone/>
            </a:pPr>
            <a:r>
              <a:rPr lang="fr-FR" sz="1700" b="0" i="0" dirty="0">
                <a:solidFill>
                  <a:srgbClr val="E5E7EB"/>
                </a:solidFill>
                <a:latin typeface="Consolas" pitchFamily="49" charset="0"/>
              </a:rPr>
              <a:t>    [InlineData(-10)]</a:t>
            </a:r>
          </a:p>
          <a:p>
            <a:pPr marL="0">
              <a:lnSpc>
                <a:spcPts val="1904"/>
              </a:lnSpc>
              <a:spcBef>
                <a:spcPts val="0"/>
              </a:spcBef>
              <a:spcAft>
                <a:spcPts val="0"/>
              </a:spcAft>
              <a:buNone/>
            </a:pPr>
            <a:r>
              <a:rPr lang="fr-FR" sz="1700" b="0" i="0" dirty="0">
                <a:solidFill>
                  <a:srgbClr val="E5E7EB"/>
                </a:solidFill>
                <a:latin typeface="Consolas" pitchFamily="49" charset="0"/>
              </a:rPr>
              <a:t>    public void Un_prix_negatif_est_refuse(int net)</a:t>
            </a:r>
          </a:p>
          <a:p>
            <a:pPr marL="0">
              <a:lnSpc>
                <a:spcPts val="1904"/>
              </a:lnSpc>
              <a:spcBef>
                <a:spcPts val="0"/>
              </a:spcBef>
              <a:spcAft>
                <a:spcPts val="0"/>
              </a:spcAft>
              <a:buNone/>
            </a:pPr>
            <a:r>
              <a:rPr lang="fr-FR" sz="1700" b="0" i="0" dirty="0">
                <a:solidFill>
                  <a:srgbClr val="E5E7EB"/>
                </a:solidFill>
                <a:latin typeface="Consolas" pitchFamily="49" charset="0"/>
              </a:rPr>
              <a:t>    {</a:t>
            </a:r>
          </a:p>
          <a:p>
            <a:pPr marL="0">
              <a:lnSpc>
                <a:spcPts val="1904"/>
              </a:lnSpc>
              <a:spcBef>
                <a:spcPts val="0"/>
              </a:spcBef>
              <a:spcAft>
                <a:spcPts val="0"/>
              </a:spcAft>
              <a:buNone/>
            </a:pPr>
            <a:r>
              <a:rPr lang="fr-FR" sz="1700" b="0" i="0" dirty="0">
                <a:solidFill>
                  <a:srgbClr val="E5E7EB"/>
                </a:solidFill>
                <a:latin typeface="Consolas" pitchFamily="49" charset="0"/>
              </a:rPr>
              <a:t>        Assert.Throws&lt;ArgumentOutOfRangeException&gt;(</a:t>
            </a:r>
          </a:p>
          <a:p>
            <a:pPr marL="0">
              <a:lnSpc>
                <a:spcPts val="1904"/>
              </a:lnSpc>
              <a:spcBef>
                <a:spcPts val="0"/>
              </a:spcBef>
              <a:spcAft>
                <a:spcPts val="0"/>
              </a:spcAft>
              <a:buNone/>
            </a:pPr>
            <a:r>
              <a:rPr lang="fr-FR" sz="1700" b="0" i="0" dirty="0">
                <a:solidFill>
                  <a:srgbClr val="E5E7EB"/>
                </a:solidFill>
                <a:latin typeface="Consolas" pitchFamily="49" charset="0"/>
              </a:rPr>
              <a:t>            () =&gt; PriceMath.WithTax(net, 0.20m));</a:t>
            </a:r>
          </a:p>
          <a:p>
            <a:pPr marL="0">
              <a:lnSpc>
                <a:spcPts val="1904"/>
              </a:lnSpc>
              <a:spcBef>
                <a:spcPts val="0"/>
              </a:spcBef>
              <a:spcAft>
                <a:spcPts val="0"/>
              </a:spcAft>
              <a:buNone/>
            </a:pPr>
            <a:r>
              <a:rPr lang="fr-FR" sz="1700" b="0" i="0" dirty="0">
                <a:solidFill>
                  <a:srgbClr val="E5E7EB"/>
                </a:solidFill>
                <a:latin typeface="Consolas" pitchFamily="49" charset="0"/>
              </a:rPr>
              <a:t>    }</a:t>
            </a:r>
          </a:p>
          <a:p>
            <a:pPr marL="0">
              <a:lnSpc>
                <a:spcPts val="1904"/>
              </a:lnSpc>
              <a:spcBef>
                <a:spcPts val="0"/>
              </a:spcBef>
              <a:spcAft>
                <a:spcPts val="0"/>
              </a:spcAft>
              <a:buNone/>
            </a:pPr>
            <a:r>
              <a:rPr lang="fr-FR" sz="1700" b="0" i="0" dirty="0">
                <a:solidFill>
                  <a:srgbClr val="E5E7EB"/>
                </a:solidFill>
                <a:latin typeface="Consolas" pitchFamily="49" charset="0"/>
              </a:rPr>
              <a:t>}</a:t>
            </a:r>
          </a:p>
        </p:txBody>
      </p:sp>
      <p:sp>
        <p:nvSpPr>
          <p:cNvPr id="1168" name="Contenu"/>
          <p:cNvSpPr txBox="1"/>
          <p:nvPr/>
        </p:nvSpPr>
        <p:spPr>
          <a:xfrm>
            <a:off x="146304" y="5852160"/>
            <a:ext cx="11896344" cy="731520"/>
          </a:xfrm>
          <a:prstGeom prst="rect">
            <a:avLst/>
          </a:prstGeom>
          <a:noFill/>
        </p:spPr>
        <p:txBody>
          <a:bodyPr wrap="square" lIns="0" tIns="54864" rIns="127000" bIns="54864" rtlCol="0" anchor="t"/>
          <a:lstStyle/>
          <a:p>
            <a:pPr marL="285750" indent="-285750">
              <a:lnSpc>
                <a:spcPts val="2240"/>
              </a:lnSpc>
              <a:spcBef>
                <a:spcPts val="0"/>
              </a:spcBef>
              <a:spcAft>
                <a:spcPts val="500"/>
              </a:spcAft>
              <a:buNone/>
            </a:pPr>
            <a:r>
              <a:rPr lang="fr-FR" sz="2000" b="0" dirty="0">
                <a:solidFill>
                  <a:srgbClr val="E5E7EB"/>
                </a:solidFill>
                <a:latin typeface="Aptos"/>
              </a:rPr>
              <a:t>Fact décrit un cas ; Theory reçoit plusieurs jeux de données. Déduisez vos tests des règles, des contrats et des risques du jeu.</a:t>
            </a:r>
          </a:p>
        </p:txBody>
      </p:sp>
    </p:spTree>
    <p:extLst>
      <p:ext uri="{BB962C8B-B14F-4D97-AF65-F5344CB8AC3E}">
        <p14:creationId xmlns:p14="http://schemas.microsoft.com/office/powerpoint/2010/main" val="2899108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72"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02 · L’API</a:t>
            </a:r>
          </a:p>
        </p:txBody>
      </p:sp>
      <p:sp>
        <p:nvSpPr>
          <p:cNvPr id="116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FLUENTVALIDATION</a:t>
            </a:r>
          </a:p>
        </p:txBody>
      </p:sp>
      <p:cxnSp>
        <p:nvCxnSpPr>
          <p:cNvPr id="116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169" name="ZoneTexte"/>
          <p:cNvSpPr txBox="1"/>
          <p:nvPr/>
        </p:nvSpPr>
        <p:spPr>
          <a:xfrm>
            <a:off x="147535" y="1150000"/>
            <a:ext cx="11896927" cy="952500"/>
          </a:xfrm>
          <a:prstGeom prst="rect">
            <a:avLst/>
          </a:prstGeom>
          <a:noFill/>
        </p:spPr>
        <p:txBody>
          <a:bodyPr wrap="square" lIns="0" tIns="54864" rIns="127000" bIns="54864" rtlCol="0" anchor="t"/>
          <a:lstStyle/>
          <a:p>
            <a:pPr>
              <a:lnSpc>
                <a:spcPts val="2352"/>
              </a:lnSpc>
              <a:spcBef>
                <a:spcPts val="0"/>
              </a:spcBef>
              <a:spcAft>
                <a:spcPts val="500"/>
              </a:spcAft>
              <a:buNone/>
            </a:pPr>
            <a:r>
              <a:rPr lang="fr-FR" sz="2100" b="0" dirty="0">
                <a:solidFill>
                  <a:srgbClr val="E5E7EB"/>
                </a:solidFill>
                <a:latin typeface="Aptos"/>
              </a:rPr>
              <a:t>FluentValidation exprime des règles de validation composées et testables. Cet exemple porte sur un produit ; concevez les règles adaptées aux entrées de votre projet.</a:t>
            </a:r>
          </a:p>
        </p:txBody>
      </p:sp>
      <p:sp>
        <p:nvSpPr>
          <p:cNvPr id="1170" name="Bloc de code"/>
          <p:cNvSpPr/>
          <p:nvPr/>
        </p:nvSpPr>
        <p:spPr>
          <a:xfrm>
            <a:off x="147535" y="2252500"/>
            <a:ext cx="11896927" cy="406375"/>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dotnet add Catalogue.API package FluentValidation</a:t>
            </a:r>
          </a:p>
        </p:txBody>
      </p:sp>
      <p:sp>
        <p:nvSpPr>
          <p:cNvPr id="1171" name="Bloc de code"/>
          <p:cNvSpPr/>
          <p:nvPr/>
        </p:nvSpPr>
        <p:spPr>
          <a:xfrm>
            <a:off x="147535" y="2808875"/>
            <a:ext cx="11896927" cy="3708375"/>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public record ProductInput(string Name, decimal Price);</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public sealed class ProductInputValidator : AbstractValidator&lt;ProductInput&gt;</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public ProductInputValidator()</a:t>
            </a:r>
          </a:p>
          <a:p>
            <a:pPr marL="0">
              <a:lnSpc>
                <a:spcPts val="2016"/>
              </a:lnSpc>
              <a:spcBef>
                <a:spcPts val="0"/>
              </a:spcBef>
              <a:spcAft>
                <a:spcPts val="0"/>
              </a:spcAft>
              <a:buNone/>
            </a:pPr>
            <a:r>
              <a:rPr lang="fr-FR" sz="1800" b="0" i="0" dirty="0">
                <a:solidFill>
                  <a:srgbClr val="E5E7EB"/>
                </a:solidFill>
                <a:latin typeface="Consolas" pitchFamily="49" charset="0"/>
              </a:rPr>
              <a:t>    {</a:t>
            </a:r>
          </a:p>
          <a:p>
            <a:pPr marL="0">
              <a:lnSpc>
                <a:spcPts val="2016"/>
              </a:lnSpc>
              <a:spcBef>
                <a:spcPts val="0"/>
              </a:spcBef>
              <a:spcAft>
                <a:spcPts val="0"/>
              </a:spcAft>
              <a:buNone/>
            </a:pPr>
            <a:r>
              <a:rPr lang="fr-FR" sz="1800" b="0" i="0" dirty="0">
                <a:solidFill>
                  <a:srgbClr val="E5E7EB"/>
                </a:solidFill>
                <a:latin typeface="Consolas" pitchFamily="49" charset="0"/>
              </a:rPr>
              <a:t>        RuleFor(p =&gt; p.Name).NotEmpty().MaximumLength(100);</a:t>
            </a:r>
          </a:p>
          <a:p>
            <a:pPr marL="0">
              <a:lnSpc>
                <a:spcPts val="2016"/>
              </a:lnSpc>
              <a:spcBef>
                <a:spcPts val="0"/>
              </a:spcBef>
              <a:spcAft>
                <a:spcPts val="0"/>
              </a:spcAft>
              <a:buNone/>
            </a:pPr>
            <a:r>
              <a:rPr lang="fr-FR" sz="1800" b="0" i="0" dirty="0">
                <a:solidFill>
                  <a:srgbClr val="E5E7EB"/>
                </a:solidFill>
                <a:latin typeface="Consolas" pitchFamily="49" charset="0"/>
              </a:rPr>
              <a:t>        RuleFor(p =&gt; p.Price).GreaterThanOrEqualTo(0);</a:t>
            </a:r>
          </a:p>
          <a:p>
            <a:pPr marL="0">
              <a:lnSpc>
                <a:spcPts val="2016"/>
              </a:lnSpc>
              <a:spcBef>
                <a:spcPts val="0"/>
              </a:spcBef>
              <a:spcAft>
                <a:spcPts val="0"/>
              </a:spcAft>
              <a:buNone/>
            </a:pPr>
            <a:r>
              <a:rPr lang="fr-FR" sz="1800" b="0" i="0" dirty="0">
                <a:solidFill>
                  <a:srgbClr val="E5E7EB"/>
                </a:solidFill>
                <a:latin typeface="Consolas" pitchFamily="49" charset="0"/>
              </a:rPr>
              <a:t>    }</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 Program.cs, avant builder.Build().</a:t>
            </a:r>
          </a:p>
          <a:p>
            <a:pPr marL="0">
              <a:lnSpc>
                <a:spcPts val="2016"/>
              </a:lnSpc>
              <a:spcBef>
                <a:spcPts val="0"/>
              </a:spcBef>
              <a:spcAft>
                <a:spcPts val="0"/>
              </a:spcAft>
              <a:buNone/>
            </a:pPr>
            <a:r>
              <a:rPr lang="fr-FR" sz="1800" b="0" i="0" dirty="0">
                <a:solidFill>
                  <a:srgbClr val="E5E7EB"/>
                </a:solidFill>
                <a:latin typeface="Consolas" pitchFamily="49" charset="0"/>
              </a:rPr>
              <a:t>builder.Services.AddScoped&lt;IValidator&lt;ProductInput&gt;, ProductInputValidator&gt;();</a:t>
            </a:r>
          </a:p>
          <a:p>
            <a:pPr marL="0">
              <a:lnSpc>
                <a:spcPts val="2016"/>
              </a:lnSpc>
              <a:spcBef>
                <a:spcPts val="0"/>
              </a:spcBef>
              <a:spcAft>
                <a:spcPts val="0"/>
              </a:spcAft>
              <a:buNone/>
            </a:pPr>
            <a:r>
              <a:rPr lang="fr-FR" sz="1800" b="0" i="0" dirty="0">
                <a:solidFill>
                  <a:srgbClr val="E5E7EB"/>
                </a:solidFill>
                <a:latin typeface="Consolas" pitchFamily="49" charset="0"/>
              </a:rPr>
              <a:t>// Appel explicite de ValidateAsync dans l’endpoint : diapo 34.</a:t>
            </a:r>
          </a:p>
        </p:txBody>
      </p:sp>
      <p:cxnSp>
        <p:nvCxnSpPr>
          <p:cNvPr id="1173" name="Accent titre"/>
          <p:cNvCxnSpPr/>
          <p:nvPr/>
        </p:nvCxnSpPr>
        <p:spPr>
          <a:xfrm>
            <a:off x="147535" y="894944"/>
            <a:ext cx="1100000" cy="0"/>
          </a:xfrm>
          <a:prstGeom prst="line">
            <a:avLst/>
          </a:prstGeom>
          <a:ln w="38100" cap="rnd">
            <a:solidFill>
              <a:srgbClr val="FFA53C"/>
            </a:solidFill>
          </a:ln>
        </p:spPr>
      </p:cxnSp>
      <p:sp>
        <p:nvSpPr>
          <p:cNvPr id="1174"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40</a:t>
            </a:r>
          </a:p>
        </p:txBody>
      </p:sp>
      <p:sp>
        <p:nvSpPr>
          <p:cNvPr id="1175" name="TextBox 1174"/>
          <p:cNvSpPr txBox="1"/>
          <p:nvPr/>
        </p:nvSpPr>
        <p:spPr>
          <a:xfrm>
            <a:off x="11155680" y="393192"/>
            <a:ext cx="868680" cy="256032"/>
          </a:xfrm>
          <a:prstGeom prst="rect">
            <a:avLst/>
          </a:prstGeom>
          <a:noFill/>
        </p:spPr>
        <p:txBody>
          <a:bodyPr wrap="none">
            <a:spAutoFit/>
          </a:bodyPr>
          <a:lstStyle/>
          <a:p>
            <a:r>
              <a:rPr sz="900">
                <a:solidFill>
                  <a:srgbClr val="8CD3FF"/>
                </a:solidFill>
                <a:hlinkClick r:id="rId4"/>
              </a:rPr>
              <a:t>Documentation</a:t>
            </a:r>
          </a:p>
        </p:txBody>
      </p:sp>
    </p:spTree>
    <p:extLst>
      <p:ext uri="{BB962C8B-B14F-4D97-AF65-F5344CB8AC3E}">
        <p14:creationId xmlns:p14="http://schemas.microsoft.com/office/powerpoint/2010/main" val="28991082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77" name="Numero section">
            <a:hlinkClick r:id="rId2" action="ppaction://hlinksldjump"/>
          </p:cNvPr>
          <p:cNvSpPr txBox="1"/>
          <p:nvPr/>
        </p:nvSpPr>
        <p:spPr>
          <a:xfrm>
            <a:off x="147535" y="1850000"/>
            <a:ext cx="4000000" cy="1868872"/>
          </a:xfrm>
          <a:prstGeom prst="rect">
            <a:avLst/>
          </a:prstGeom>
          <a:noFill/>
        </p:spPr>
        <p:txBody>
          <a:bodyPr wrap="square" lIns="0" tIns="0" rIns="127000" bIns="0" rtlCol="0" anchor="t"/>
          <a:lstStyle/>
          <a:p>
            <a:r>
              <a:rPr lang="fr-FR" sz="12000" spc="-100" dirty="0">
                <a:solidFill>
                  <a:srgbClr val="FFA53C"/>
                </a:solidFill>
                <a:latin typeface="Segoe UI Semibold"/>
              </a:rPr>
              <a:t>03</a:t>
            </a:r>
          </a:p>
        </p:txBody>
      </p:sp>
      <p:cxnSp>
        <p:nvCxnSpPr>
          <p:cNvPr id="1178" name="Filet section"/>
          <p:cNvCxnSpPr/>
          <p:nvPr/>
        </p:nvCxnSpPr>
        <p:spPr>
          <a:xfrm>
            <a:off x="147535" y="3700000"/>
            <a:ext cx="900000" cy="0"/>
          </a:xfrm>
          <a:prstGeom prst="line">
            <a:avLst/>
          </a:prstGeom>
          <a:ln w="50800" cap="rnd">
            <a:solidFill>
              <a:srgbClr val="FFA53C"/>
            </a:solidFill>
          </a:ln>
        </p:spPr>
      </p:cxnSp>
      <p:sp>
        <p:nvSpPr>
          <p:cNvPr id="1179" name="Section titre"/>
          <p:cNvSpPr txBox="1"/>
          <p:nvPr/>
        </p:nvSpPr>
        <p:spPr>
          <a:xfrm>
            <a:off x="147535" y="4040000"/>
            <a:ext cx="10900000" cy="800000"/>
          </a:xfrm>
          <a:prstGeom prst="rect">
            <a:avLst/>
          </a:prstGeom>
          <a:noFill/>
        </p:spPr>
        <p:txBody>
          <a:bodyPr wrap="square" lIns="0" tIns="0" rIns="127000" bIns="0" rtlCol="0" anchor="t"/>
          <a:lstStyle/>
          <a:p>
            <a:r>
              <a:rPr lang="fr-FR" sz="4400" spc="60" dirty="0">
                <a:solidFill>
                  <a:srgbClr val="FFFFFF"/>
                </a:solidFill>
                <a:latin typeface="Segoe UI Semibold"/>
              </a:rPr>
              <a:t>LE FRONT BLAZOR</a:t>
            </a:r>
          </a:p>
        </p:txBody>
      </p:sp>
      <p:sp>
        <p:nvSpPr>
          <p:cNvPr id="1180" name="Section sous-titre"/>
          <p:cNvSpPr txBox="1"/>
          <p:nvPr/>
        </p:nvSpPr>
        <p:spPr>
          <a:xfrm>
            <a:off x="147535" y="4940000"/>
            <a:ext cx="10900000" cy="500000"/>
          </a:xfrm>
          <a:prstGeom prst="rect">
            <a:avLst/>
          </a:prstGeom>
          <a:noFill/>
        </p:spPr>
        <p:txBody>
          <a:bodyPr wrap="square" lIns="0" tIns="0" rIns="127000" bIns="0" rtlCol="0" anchor="t"/>
          <a:lstStyle/>
          <a:p>
            <a:r>
              <a:rPr lang="fr-FR" sz="1800" dirty="0">
                <a:solidFill>
                  <a:srgbClr val="7A808F"/>
                </a:solidFill>
                <a:latin typeface="Segoe UI"/>
              </a:rPr>
              <a:t>Composants, cycle de vie, appels HTTP et CORS</a:t>
            </a:r>
          </a:p>
        </p:txBody>
      </p:sp>
      <p:sp>
        <p:nvSpPr>
          <p:cNvPr id="1181"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41</a:t>
            </a:r>
          </a:p>
        </p:txBody>
      </p:sp>
    </p:spTree>
    <p:extLst>
      <p:ext uri="{BB962C8B-B14F-4D97-AF65-F5344CB8AC3E}">
        <p14:creationId xmlns:p14="http://schemas.microsoft.com/office/powerpoint/2010/main" val="28991082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87"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03 · LE FRONT BLAZOR</a:t>
            </a:r>
          </a:p>
        </p:txBody>
      </p:sp>
      <p:sp>
        <p:nvSpPr>
          <p:cNvPr id="1182"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BLAZOR : LES BASES</a:t>
            </a:r>
          </a:p>
        </p:txBody>
      </p:sp>
      <p:cxnSp>
        <p:nvCxnSpPr>
          <p:cNvPr id="1183"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184" name="ZoneTexte"/>
          <p:cNvSpPr txBox="1"/>
          <p:nvPr/>
        </p:nvSpPr>
        <p:spPr>
          <a:xfrm>
            <a:off x="147535" y="1150000"/>
            <a:ext cx="11896927" cy="571500"/>
          </a:xfrm>
          <a:prstGeom prst="rect">
            <a:avLst/>
          </a:prstGeom>
          <a:noFill/>
        </p:spPr>
        <p:txBody>
          <a:bodyPr wrap="square" lIns="0" tIns="0" rIns="127000" bIns="0" rtlCol="0" anchor="t"/>
          <a:lstStyle/>
          <a:p>
            <a:r>
              <a:rPr lang="fr-FR" sz="1800" dirty="0">
                <a:solidFill>
                  <a:srgbClr val="ECEEF3"/>
                </a:solidFill>
              </a:rPr>
              <a:t>Blazor WebAssembly exécute votre C# dans le navigateur. Un composant est un fichier .razor : du HTML, des expressions @, et un bloc @code.</a:t>
            </a:r>
          </a:p>
        </p:txBody>
      </p:sp>
      <p:sp>
        <p:nvSpPr>
          <p:cNvPr id="1185" name="Bloc de code"/>
          <p:cNvSpPr/>
          <p:nvPr/>
        </p:nvSpPr>
        <p:spPr>
          <a:xfrm>
            <a:off x="147535" y="1871500"/>
            <a:ext cx="11896927" cy="391475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@page "/selection"</a:t>
            </a:r>
          </a:p>
          <a:p>
            <a:pPr marL="0">
              <a:lnSpc>
                <a:spcPts val="2016"/>
              </a:lnSpc>
              <a:spcBef>
                <a:spcPts val="0"/>
              </a:spcBef>
              <a:spcAft>
                <a:spcPts val="0"/>
              </a:spcAft>
              <a:buNone/>
            </a:pPr>
            <a:r>
              <a:rPr lang="fr-FR" sz="1800" b="0" i="0" dirty="0">
                <a:solidFill>
                  <a:srgbClr val="E5E7EB"/>
                </a:solidFill>
                <a:latin typeface="Consolas" pitchFamily="49" charset="0"/>
              </a:rPr>
              <a:t>&lt;h3&gt;Choisir un produit&lt;/h3&gt;</a:t>
            </a:r>
          </a:p>
          <a:p>
            <a:pPr marL="0">
              <a:lnSpc>
                <a:spcPts val="2016"/>
              </a:lnSpc>
              <a:spcBef>
                <a:spcPts val="0"/>
              </a:spcBef>
              <a:spcAft>
                <a:spcPts val="0"/>
              </a:spcAft>
              <a:buNone/>
            </a:pPr>
            <a:r>
              <a:rPr lang="fr-FR" sz="1800" b="0" i="0" dirty="0">
                <a:solidFill>
                  <a:srgbClr val="E5E7EB"/>
                </a:solidFill>
                <a:latin typeface="Consolas" pitchFamily="49" charset="0"/>
              </a:rPr>
              <a:t>@foreach (var product in products)</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    &lt;button @onclick="() =&gt; Select(product.Id)"&gt;@product.Name&lt;/button&gt;</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ts val="2016"/>
              </a:lnSpc>
              <a:spcBef>
                <a:spcPts val="0"/>
              </a:spcBef>
              <a:spcAft>
                <a:spcPts val="0"/>
              </a:spcAft>
              <a:buNone/>
            </a:pPr>
            <a:r>
              <a:rPr lang="fr-FR" sz="1800" b="0" i="0" dirty="0">
                <a:solidFill>
                  <a:srgbClr val="E5E7EB"/>
                </a:solidFill>
                <a:latin typeface="Consolas" pitchFamily="49" charset="0"/>
              </a:rPr>
              <a:t>&lt;p&gt;Produit sélectionné : @selectedId&lt;/p&gt;</a:t>
            </a:r>
          </a:p>
          <a:p>
            <a:pPr marL="0">
              <a:lnSpc>
                <a:spcPts val="2016"/>
              </a:lnSpc>
              <a:spcBef>
                <a:spcPts val="0"/>
              </a:spcBef>
              <a:spcAft>
                <a:spcPts val="0"/>
              </a:spcAft>
              <a:buNone/>
            </a:pPr>
            <a:r>
              <a:rPr lang="fr-FR" sz="1800" b="0" i="0" dirty="0">
                <a:solidFill>
                  <a:srgbClr val="E5E7EB"/>
                </a:solidFill>
                <a:latin typeface="Consolas" pitchFamily="49" charset="0"/>
              </a:rPr>
              <a:t>@code {</a:t>
            </a:r>
          </a:p>
          <a:p>
            <a:pPr marL="0">
              <a:lnSpc>
                <a:spcPts val="2016"/>
              </a:lnSpc>
              <a:spcBef>
                <a:spcPts val="0"/>
              </a:spcBef>
              <a:spcAft>
                <a:spcPts val="0"/>
              </a:spcAft>
              <a:buNone/>
            </a:pPr>
            <a:r>
              <a:rPr lang="fr-FR" sz="1800" b="0" i="0" dirty="0">
                <a:solidFill>
                  <a:srgbClr val="E5E7EB"/>
                </a:solidFill>
                <a:latin typeface="Consolas" pitchFamily="49" charset="0"/>
              </a:rPr>
              <a:t>    private ProductDto[] products =</a:t>
            </a:r>
          </a:p>
          <a:p>
            <a:pPr marL="0">
              <a:lnSpc>
                <a:spcPts val="2016"/>
              </a:lnSpc>
              <a:spcBef>
                <a:spcPts val="0"/>
              </a:spcBef>
              <a:spcAft>
                <a:spcPts val="0"/>
              </a:spcAft>
              <a:buNone/>
            </a:pPr>
            <a:r>
              <a:rPr lang="fr-FR" sz="1800" b="0" i="0" dirty="0">
                <a:solidFill>
                  <a:srgbClr val="E5E7EB"/>
                </a:solidFill>
                <a:latin typeface="Consolas" pitchFamily="49" charset="0"/>
              </a:rPr>
              <a:t>        [new(1, "Stylo", 2.50m), new(2, "Cahier", 4m)];</a:t>
            </a:r>
          </a:p>
          <a:p>
            <a:pPr marL="0">
              <a:lnSpc>
                <a:spcPts val="2016"/>
              </a:lnSpc>
              <a:spcBef>
                <a:spcPts val="0"/>
              </a:spcBef>
              <a:spcAft>
                <a:spcPts val="0"/>
              </a:spcAft>
              <a:buNone/>
            </a:pPr>
            <a:r>
              <a:rPr lang="fr-FR" sz="1800" b="0" i="0" dirty="0">
                <a:solidFill>
                  <a:srgbClr val="E5E7EB"/>
                </a:solidFill>
                <a:latin typeface="Consolas" pitchFamily="49" charset="0"/>
              </a:rPr>
              <a:t>    private int selectedId;</a:t>
            </a:r>
          </a:p>
          <a:p>
            <a:pPr marL="0">
              <a:lnSpc>
                <a:spcPts val="2016"/>
              </a:lnSpc>
              <a:spcBef>
                <a:spcPts val="0"/>
              </a:spcBef>
              <a:spcAft>
                <a:spcPts val="0"/>
              </a:spcAft>
              <a:buNone/>
            </a:pPr>
            <a:r>
              <a:rPr lang="fr-FR" sz="1800" b="0" i="0" dirty="0">
                <a:solidFill>
                  <a:srgbClr val="E5E7EB"/>
                </a:solidFill>
                <a:latin typeface="Consolas" pitchFamily="49" charset="0"/>
              </a:rPr>
              <a:t>    private void Select(int id) =&gt; selectedId = id;</a:t>
            </a:r>
          </a:p>
          <a:p>
            <a:pPr marL="0">
              <a:lnSpc>
                <a:spcPts val="2016"/>
              </a:lnSpc>
              <a:spcBef>
                <a:spcPts val="0"/>
              </a:spcBef>
              <a:spcAft>
                <a:spcPts val="0"/>
              </a:spcAft>
              <a:buNone/>
            </a:pPr>
            <a:r>
              <a:rPr lang="fr-FR" sz="1800" b="0" i="0" dirty="0">
                <a:solidFill>
                  <a:srgbClr val="E5E7EB"/>
                </a:solidFill>
                <a:latin typeface="Consolas" pitchFamily="49" charset="0"/>
              </a:rPr>
              <a:t>}</a:t>
            </a:r>
          </a:p>
        </p:txBody>
      </p:sp>
      <p:sp>
        <p:nvSpPr>
          <p:cNvPr id="1186" name="ZoneTexte"/>
          <p:cNvSpPr txBox="1"/>
          <p:nvPr/>
        </p:nvSpPr>
        <p:spPr>
          <a:xfrm>
            <a:off x="147535" y="5936250"/>
            <a:ext cx="11896927" cy="731520"/>
          </a:xfrm>
          <a:prstGeom prst="rect">
            <a:avLst/>
          </a:prstGeom>
          <a:noFill/>
        </p:spPr>
        <p:txBody>
          <a:bodyPr wrap="square" lIns="0" tIns="54864" rIns="127000" bIns="54864" rtlCol="0" anchor="t"/>
          <a:lstStyle/>
          <a:p>
            <a:pPr>
              <a:lnSpc>
                <a:spcPts val="2240"/>
              </a:lnSpc>
              <a:spcBef>
                <a:spcPts val="0"/>
              </a:spcBef>
              <a:spcAft>
                <a:spcPts val="500"/>
              </a:spcAft>
              <a:buNone/>
            </a:pPr>
            <a:r>
              <a:rPr lang="fr-FR" sz="2000" b="0" dirty="0">
                <a:solidFill>
                  <a:srgbClr val="E5E7EB"/>
                </a:solidFill>
                <a:latin typeface="Aptos"/>
              </a:rPr>
              <a:t>Un composant associe des données, un rendu et des événements. Vous choisissez le découpage et les interactions de votre interface de jeu.</a:t>
            </a:r>
          </a:p>
        </p:txBody>
      </p:sp>
      <p:cxnSp>
        <p:nvCxnSpPr>
          <p:cNvPr id="1188" name="Accent titre"/>
          <p:cNvCxnSpPr/>
          <p:nvPr/>
        </p:nvCxnSpPr>
        <p:spPr>
          <a:xfrm>
            <a:off x="147535" y="894944"/>
            <a:ext cx="1100000" cy="0"/>
          </a:xfrm>
          <a:prstGeom prst="line">
            <a:avLst/>
          </a:prstGeom>
          <a:ln w="38100" cap="rnd">
            <a:solidFill>
              <a:srgbClr val="FFA53C"/>
            </a:solidFill>
          </a:ln>
        </p:spPr>
      </p:cxnSp>
      <p:sp>
        <p:nvSpPr>
          <p:cNvPr id="118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42</a:t>
            </a:r>
          </a:p>
        </p:txBody>
      </p:sp>
    </p:spTree>
    <p:extLst>
      <p:ext uri="{BB962C8B-B14F-4D97-AF65-F5344CB8AC3E}">
        <p14:creationId xmlns:p14="http://schemas.microsoft.com/office/powerpoint/2010/main" val="2899108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194"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03 · LE FRONT BLAZOR</a:t>
            </a:r>
          </a:p>
        </p:txBody>
      </p:sp>
      <p:sp>
        <p:nvSpPr>
          <p:cNvPr id="119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BLAZOR : CYCLE DE VIE ET RENDU</a:t>
            </a:r>
          </a:p>
        </p:txBody>
      </p:sp>
      <p:cxnSp>
        <p:nvCxnSpPr>
          <p:cNvPr id="119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192" name="Bloc de code"/>
          <p:cNvSpPr/>
          <p:nvPr/>
        </p:nvSpPr>
        <p:spPr>
          <a:xfrm>
            <a:off x="147535" y="1150000"/>
            <a:ext cx="11896927" cy="402336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904"/>
              </a:lnSpc>
              <a:spcBef>
                <a:spcPts val="0"/>
              </a:spcBef>
              <a:spcAft>
                <a:spcPts val="0"/>
              </a:spcAft>
              <a:buNone/>
            </a:pPr>
            <a:r>
              <a:rPr lang="fr-FR" sz="1700" b="0" i="0" dirty="0">
                <a:solidFill>
                  <a:srgbClr val="E5E7EB"/>
                </a:solidFill>
                <a:latin typeface="Consolas" pitchFamily="49" charset="0"/>
              </a:rPr>
              <a:t>@page "/catalogue"</a:t>
            </a:r>
          </a:p>
          <a:p>
            <a:pPr marL="0">
              <a:lnSpc>
                <a:spcPts val="1904"/>
              </a:lnSpc>
              <a:spcBef>
                <a:spcPts val="0"/>
              </a:spcBef>
              <a:spcAft>
                <a:spcPts val="0"/>
              </a:spcAft>
              <a:buNone/>
            </a:pPr>
            <a:r>
              <a:rPr lang="fr-FR" sz="1700" b="0" i="0" dirty="0">
                <a:solidFill>
                  <a:srgbClr val="E5E7EB"/>
                </a:solidFill>
                <a:latin typeface="Consolas" pitchFamily="49" charset="0"/>
              </a:rPr>
              <a:t>@using System.Net.Http.Json</a:t>
            </a:r>
          </a:p>
          <a:p>
            <a:pPr marL="0">
              <a:lnSpc>
                <a:spcPts val="1904"/>
              </a:lnSpc>
              <a:spcBef>
                <a:spcPts val="0"/>
              </a:spcBef>
              <a:spcAft>
                <a:spcPts val="0"/>
              </a:spcAft>
              <a:buNone/>
            </a:pPr>
            <a:r>
              <a:rPr lang="fr-FR" sz="1700" b="0" i="0" dirty="0">
                <a:solidFill>
                  <a:srgbClr val="E5E7EB"/>
                </a:solidFill>
                <a:latin typeface="Consolas" pitchFamily="49" charset="0"/>
              </a:rPr>
              <a:t>@inject HttpClient Http</a:t>
            </a:r>
          </a:p>
          <a:p>
            <a:pPr marL="0">
              <a:lnSpc>
                <a:spcPts val="1904"/>
              </a:lnSpc>
              <a:spcBef>
                <a:spcPts val="0"/>
              </a:spcBef>
              <a:spcAft>
                <a:spcPts val="0"/>
              </a:spcAft>
              <a:buNone/>
            </a:pPr>
            <a:r>
              <a:rPr lang="fr-FR" sz="1700" b="0" i="0" dirty="0">
                <a:solidFill>
                  <a:srgbClr val="E5E7EB"/>
                </a:solidFill>
                <a:latin typeface="Consolas" pitchFamily="49" charset="0"/>
              </a:rPr>
              <a:t>@if (products is null)</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&lt;p&gt;Chargement…&lt;/p&gt;</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else</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&lt;p&gt;@products.Length produits disponibles&lt;/p&gt;</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@code {</a:t>
            </a:r>
          </a:p>
          <a:p>
            <a:pPr marL="0">
              <a:lnSpc>
                <a:spcPts val="1904"/>
              </a:lnSpc>
              <a:spcBef>
                <a:spcPts val="0"/>
              </a:spcBef>
              <a:spcAft>
                <a:spcPts val="0"/>
              </a:spcAft>
              <a:buNone/>
            </a:pPr>
            <a:r>
              <a:rPr lang="fr-FR" sz="1700" b="0" i="0" dirty="0">
                <a:solidFill>
                  <a:srgbClr val="E5E7EB"/>
                </a:solidFill>
                <a:latin typeface="Consolas" pitchFamily="49" charset="0"/>
              </a:rPr>
              <a:t>    private ProductDto[]? products;</a:t>
            </a:r>
          </a:p>
          <a:p>
            <a:pPr marL="0">
              <a:lnSpc>
                <a:spcPts val="1904"/>
              </a:lnSpc>
              <a:spcBef>
                <a:spcPts val="0"/>
              </a:spcBef>
              <a:spcAft>
                <a:spcPts val="0"/>
              </a:spcAft>
              <a:buNone/>
            </a:pPr>
            <a:r>
              <a:rPr lang="fr-FR" sz="1700" b="0" i="0" dirty="0">
                <a:solidFill>
                  <a:srgbClr val="E5E7EB"/>
                </a:solidFill>
                <a:latin typeface="Consolas" pitchFamily="49" charset="0"/>
              </a:rPr>
              <a:t>    protected override async Task OnInitializedAsync()</a:t>
            </a:r>
          </a:p>
          <a:p>
            <a:pPr marL="0">
              <a:lnSpc>
                <a:spcPts val="1904"/>
              </a:lnSpc>
              <a:spcBef>
                <a:spcPts val="0"/>
              </a:spcBef>
              <a:spcAft>
                <a:spcPts val="0"/>
              </a:spcAft>
              <a:buNone/>
            </a:pPr>
            <a:r>
              <a:rPr lang="fr-FR" sz="1700" b="0" i="0" dirty="0">
                <a:solidFill>
                  <a:srgbClr val="E5E7EB"/>
                </a:solidFill>
                <a:latin typeface="Consolas" pitchFamily="49" charset="0"/>
              </a:rPr>
              <a:t>        =&gt; products = await Http.GetFromJsonAsync&lt;ProductDto[]&gt;("products");</a:t>
            </a:r>
          </a:p>
          <a:p>
            <a:pPr marL="0">
              <a:lnSpc>
                <a:spcPts val="1904"/>
              </a:lnSpc>
              <a:spcBef>
                <a:spcPts val="0"/>
              </a:spcBef>
              <a:spcAft>
                <a:spcPts val="0"/>
              </a:spcAft>
              <a:buNone/>
            </a:pPr>
            <a:r>
              <a:rPr lang="fr-FR" sz="1700" b="0" i="0" dirty="0">
                <a:solidFill>
                  <a:srgbClr val="E5E7EB"/>
                </a:solidFill>
                <a:latin typeface="Consolas" pitchFamily="49" charset="0"/>
              </a:rPr>
              <a:t>}</a:t>
            </a:r>
          </a:p>
        </p:txBody>
      </p:sp>
      <p:sp>
        <p:nvSpPr>
          <p:cNvPr id="1193" name="ZoneTexte"/>
          <p:cNvSpPr txBox="1"/>
          <p:nvPr/>
        </p:nvSpPr>
        <p:spPr>
          <a:xfrm>
            <a:off x="147535" y="5214750"/>
            <a:ext cx="11896927" cy="1270000"/>
          </a:xfrm>
          <a:prstGeom prst="rect">
            <a:avLst/>
          </a:prstGeom>
          <a:noFill/>
        </p:spPr>
        <p:txBody>
          <a:bodyPr wrap="square" lIns="0" tIns="54864" rIns="127000" bIns="54864" rtlCol="0" anchor="t"/>
          <a:lstStyle/>
          <a:p>
            <a:pPr marL="285750" indent="-285750">
              <a:lnSpc>
                <a:spcPts val="2240"/>
              </a:lnSpc>
              <a:spcBef>
                <a:spcPts val="0"/>
              </a:spcBef>
              <a:spcAft>
                <a:spcPts val="500"/>
              </a:spcAft>
              <a:buNone/>
            </a:pPr>
            <a:r>
              <a:rPr lang="fr-FR" sz="2000" b="0" dirty="0">
                <a:solidFill>
                  <a:srgbClr val="E5E7EB"/>
                </a:solidFill>
                <a:latin typeface="Aptos"/>
              </a:rPr>
              <a:t>OnInitializedAsync prépare le composant ; OnParametersSetAsync accompagne les changements de paramètres ; OnAfterRenderAsync intervient après le rendu.</a:t>
            </a:r>
          </a:p>
          <a:p>
            <a:pPr marL="285750" indent="-285750">
              <a:lnSpc>
                <a:spcPts val="2240"/>
              </a:lnSpc>
              <a:spcBef>
                <a:spcPts val="0"/>
              </a:spcBef>
              <a:spcAft>
                <a:spcPts val="500"/>
              </a:spcAft>
              <a:buNone/>
            </a:pPr>
            <a:r>
              <a:rPr lang="fr-FR" sz="2000" b="0" dirty="0">
                <a:solidFill>
                  <a:srgbClr val="E5E7EB"/>
                </a:solidFill>
                <a:latin typeface="Aptos"/>
              </a:rPr>
              <a:t>Les événements du composant participent au cycle de rendu. Définissez les états de chargement, de succès et d’échec de votre interface.</a:t>
            </a:r>
          </a:p>
        </p:txBody>
      </p:sp>
      <p:cxnSp>
        <p:nvCxnSpPr>
          <p:cNvPr id="1195" name="Accent titre"/>
          <p:cNvCxnSpPr/>
          <p:nvPr/>
        </p:nvCxnSpPr>
        <p:spPr>
          <a:xfrm>
            <a:off x="147535" y="894944"/>
            <a:ext cx="1100000" cy="0"/>
          </a:xfrm>
          <a:prstGeom prst="line">
            <a:avLst/>
          </a:prstGeom>
          <a:ln w="38100" cap="rnd">
            <a:solidFill>
              <a:srgbClr val="FFA53C"/>
            </a:solidFill>
          </a:ln>
        </p:spPr>
      </p:cxnSp>
      <p:sp>
        <p:nvSpPr>
          <p:cNvPr id="119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43</a:t>
            </a:r>
          </a:p>
        </p:txBody>
      </p:sp>
      <p:sp>
        <p:nvSpPr>
          <p:cNvPr id="1197" name="TextBox 1196"/>
          <p:cNvSpPr txBox="1"/>
          <p:nvPr/>
        </p:nvSpPr>
        <p:spPr>
          <a:xfrm>
            <a:off x="11155680" y="393192"/>
            <a:ext cx="868680" cy="256032"/>
          </a:xfrm>
          <a:prstGeom prst="rect">
            <a:avLst/>
          </a:prstGeom>
          <a:noFill/>
        </p:spPr>
        <p:txBody>
          <a:bodyPr wrap="none">
            <a:spAutoFit/>
          </a:bodyPr>
          <a:lstStyle/>
          <a:p>
            <a:r>
              <a:rPr sz="900">
                <a:solidFill>
                  <a:srgbClr val="8CD3FF"/>
                </a:solidFill>
                <a:hlinkClick r:id="rId4"/>
              </a:rPr>
              <a:t>Documentation</a:t>
            </a:r>
          </a:p>
        </p:txBody>
      </p:sp>
    </p:spTree>
    <p:extLst>
      <p:ext uri="{BB962C8B-B14F-4D97-AF65-F5344CB8AC3E}">
        <p14:creationId xmlns:p14="http://schemas.microsoft.com/office/powerpoint/2010/main" val="2899108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01"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03 · LE FRONT BLAZOR</a:t>
            </a:r>
          </a:p>
        </p:txBody>
      </p:sp>
      <p:sp>
        <p:nvSpPr>
          <p:cNvPr id="119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BLAZOR : APPELER L’API</a:t>
            </a:r>
          </a:p>
        </p:txBody>
      </p:sp>
      <p:cxnSp>
        <p:nvCxnSpPr>
          <p:cNvPr id="119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199" name="Bloc de code"/>
          <p:cNvSpPr/>
          <p:nvPr/>
        </p:nvSpPr>
        <p:spPr>
          <a:xfrm>
            <a:off x="147535" y="1150000"/>
            <a:ext cx="11896927" cy="352044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904"/>
              </a:lnSpc>
              <a:spcBef>
                <a:spcPts val="0"/>
              </a:spcBef>
              <a:spcAft>
                <a:spcPts val="0"/>
              </a:spcAft>
              <a:buNone/>
            </a:pPr>
            <a:r>
              <a:rPr lang="fr-FR" sz="1700" b="0" i="0" dirty="0">
                <a:solidFill>
                  <a:srgbClr val="E5E7EB"/>
                </a:solidFill>
                <a:latin typeface="Consolas" pitchFamily="49" charset="0"/>
              </a:rPr>
              <a:t>// Enregistrement dans le Program.cs du client de démonstration.</a:t>
            </a:r>
          </a:p>
          <a:p>
            <a:pPr marL="0">
              <a:lnSpc>
                <a:spcPts val="1904"/>
              </a:lnSpc>
              <a:spcBef>
                <a:spcPts val="0"/>
              </a:spcBef>
              <a:spcAft>
                <a:spcPts val="0"/>
              </a:spcAft>
              <a:buNone/>
            </a:pPr>
            <a:r>
              <a:rPr lang="fr-FR" sz="1700" b="0" i="0" dirty="0">
                <a:solidFill>
                  <a:srgbClr val="E5E7EB"/>
                </a:solidFill>
                <a:latin typeface="Consolas" pitchFamily="49" charset="0"/>
              </a:rPr>
              <a:t>builder.Services.AddScoped(_ =&gt; new HttpClient</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BaseAddress = new Uri("https://localhost:7001/")</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Dans un composant disposant de HttpClient Http et du champ message.</a:t>
            </a:r>
          </a:p>
          <a:p>
            <a:pPr marL="0">
              <a:lnSpc>
                <a:spcPts val="1904"/>
              </a:lnSpc>
              <a:spcBef>
                <a:spcPts val="0"/>
              </a:spcBef>
              <a:spcAft>
                <a:spcPts val="0"/>
              </a:spcAft>
              <a:buNone/>
            </a:pPr>
            <a:r>
              <a:rPr lang="fr-FR" sz="1700" b="0" i="0" dirty="0">
                <a:solidFill>
                  <a:srgbClr val="E5E7EB"/>
                </a:solidFill>
                <a:latin typeface="Consolas" pitchFamily="49" charset="0"/>
              </a:rPr>
              <a:t>private async Task CheckAsync()</a:t>
            </a:r>
          </a:p>
          <a:p>
            <a:pPr marL="0">
              <a:lnSpc>
                <a:spcPts val="1904"/>
              </a:lnSpc>
              <a:spcBef>
                <a:spcPts val="0"/>
              </a:spcBef>
              <a:spcAft>
                <a:spcPts val="0"/>
              </a:spcAft>
              <a:buNone/>
            </a:pPr>
            <a:r>
              <a:rPr lang="fr-FR" sz="1700" b="0" i="0" dirty="0">
                <a:solidFill>
                  <a:srgbClr val="E5E7EB"/>
                </a:solidFill>
                <a:latin typeface="Consolas" pitchFamily="49" charset="0"/>
              </a:rPr>
              <a:t>{</a:t>
            </a:r>
          </a:p>
          <a:p>
            <a:pPr marL="0">
              <a:lnSpc>
                <a:spcPts val="1904"/>
              </a:lnSpc>
              <a:spcBef>
                <a:spcPts val="0"/>
              </a:spcBef>
              <a:spcAft>
                <a:spcPts val="0"/>
              </a:spcAft>
              <a:buNone/>
            </a:pPr>
            <a:r>
              <a:rPr lang="fr-FR" sz="1700" b="0" i="0" dirty="0">
                <a:solidFill>
                  <a:srgbClr val="E5E7EB"/>
                </a:solidFill>
                <a:latin typeface="Consolas" pitchFamily="49" charset="0"/>
              </a:rPr>
              <a:t>    using var response = await Http.PostAsJsonAsync("products/check",</a:t>
            </a:r>
          </a:p>
          <a:p>
            <a:pPr marL="0">
              <a:lnSpc>
                <a:spcPts val="1904"/>
              </a:lnSpc>
              <a:spcBef>
                <a:spcPts val="0"/>
              </a:spcBef>
              <a:spcAft>
                <a:spcPts val="0"/>
              </a:spcAft>
              <a:buNone/>
            </a:pPr>
            <a:r>
              <a:rPr lang="fr-FR" sz="1700" b="0" i="0" dirty="0">
                <a:solidFill>
                  <a:srgbClr val="E5E7EB"/>
                </a:solidFill>
                <a:latin typeface="Consolas" pitchFamily="49" charset="0"/>
              </a:rPr>
              <a:t>        new ProductInput("Stylo", 2.50m));</a:t>
            </a:r>
          </a:p>
          <a:p>
            <a:pPr marL="0">
              <a:lnSpc>
                <a:spcPts val="1904"/>
              </a:lnSpc>
              <a:spcBef>
                <a:spcPts val="0"/>
              </a:spcBef>
              <a:spcAft>
                <a:spcPts val="0"/>
              </a:spcAft>
              <a:buNone/>
            </a:pPr>
            <a:r>
              <a:rPr lang="fr-FR" sz="1700" b="0" i="0" dirty="0">
                <a:solidFill>
                  <a:srgbClr val="E5E7EB"/>
                </a:solidFill>
                <a:latin typeface="Consolas" pitchFamily="49" charset="0"/>
              </a:rPr>
              <a:t>    message = response.IsSuccessStatusCode</a:t>
            </a:r>
          </a:p>
          <a:p>
            <a:pPr marL="0">
              <a:lnSpc>
                <a:spcPts val="1904"/>
              </a:lnSpc>
              <a:spcBef>
                <a:spcPts val="0"/>
              </a:spcBef>
              <a:spcAft>
                <a:spcPts val="0"/>
              </a:spcAft>
              <a:buNone/>
            </a:pPr>
            <a:r>
              <a:rPr lang="fr-FR" sz="1700" b="0" i="0" dirty="0">
                <a:solidFill>
                  <a:srgbClr val="E5E7EB"/>
                </a:solidFill>
                <a:latin typeface="Consolas" pitchFamily="49" charset="0"/>
              </a:rPr>
              <a:t>        ? "Produit valide"</a:t>
            </a:r>
          </a:p>
          <a:p>
            <a:pPr marL="0">
              <a:lnSpc>
                <a:spcPts val="1904"/>
              </a:lnSpc>
              <a:spcBef>
                <a:spcPts val="0"/>
              </a:spcBef>
              <a:spcAft>
                <a:spcPts val="0"/>
              </a:spcAft>
              <a:buNone/>
            </a:pPr>
            <a:r>
              <a:rPr lang="fr-FR" sz="1700" b="0" i="0" dirty="0">
                <a:solidFill>
                  <a:srgbClr val="E5E7EB"/>
                </a:solidFill>
                <a:latin typeface="Consolas" pitchFamily="49" charset="0"/>
              </a:rPr>
              <a:t>        : $"Vérification refusée : HTTP {(int)response.StatusCode}";</a:t>
            </a:r>
          </a:p>
          <a:p>
            <a:pPr marL="0">
              <a:lnSpc>
                <a:spcPts val="1904"/>
              </a:lnSpc>
              <a:spcBef>
                <a:spcPts val="0"/>
              </a:spcBef>
              <a:spcAft>
                <a:spcPts val="0"/>
              </a:spcAft>
              <a:buNone/>
            </a:pPr>
            <a:r>
              <a:rPr lang="fr-FR" sz="1700" b="0" i="0" dirty="0">
                <a:solidFill>
                  <a:srgbClr val="E5E7EB"/>
                </a:solidFill>
                <a:latin typeface="Consolas" pitchFamily="49" charset="0"/>
              </a:rPr>
              <a:t>}</a:t>
            </a:r>
          </a:p>
        </p:txBody>
      </p:sp>
      <p:sp>
        <p:nvSpPr>
          <p:cNvPr id="1200" name="ZoneTexte"/>
          <p:cNvSpPr txBox="1"/>
          <p:nvPr/>
        </p:nvSpPr>
        <p:spPr>
          <a:xfrm>
            <a:off x="147535" y="4828032"/>
            <a:ext cx="11896927" cy="1673352"/>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0" dirty="0">
                <a:solidFill>
                  <a:srgbClr val="E5E7EB"/>
                </a:solidFill>
                <a:latin typeface="Aptos"/>
              </a:rPr>
              <a:t>System.Net.Http.Json fournit les extensions de sérialisation JSON. L’adresse du serveur dépend de l’environnement.</a:t>
            </a:r>
          </a:p>
          <a:p>
            <a:pPr marL="285750" indent="-285750">
              <a:lnSpc>
                <a:spcPts val="2352"/>
              </a:lnSpc>
              <a:spcBef>
                <a:spcPts val="0"/>
              </a:spcBef>
              <a:spcAft>
                <a:spcPts val="500"/>
              </a:spcAft>
              <a:buNone/>
            </a:pPr>
            <a:r>
              <a:rPr lang="fr-FR" sz="2100" b="0" dirty="0">
                <a:solidFill>
                  <a:srgbClr val="E5E7EB"/>
                </a:solidFill>
                <a:latin typeface="Aptos"/>
              </a:rPr>
              <a:t>Choisissez où votre client effectue les appels et conserve son état. Gérez les réponses métier et les échecs de communication selon l’expérience attendue.</a:t>
            </a:r>
          </a:p>
        </p:txBody>
      </p:sp>
      <p:cxnSp>
        <p:nvCxnSpPr>
          <p:cNvPr id="1202" name="Accent titre"/>
          <p:cNvCxnSpPr/>
          <p:nvPr/>
        </p:nvCxnSpPr>
        <p:spPr>
          <a:xfrm>
            <a:off x="147535" y="894944"/>
            <a:ext cx="1100000" cy="0"/>
          </a:xfrm>
          <a:prstGeom prst="line">
            <a:avLst/>
          </a:prstGeom>
          <a:ln w="38100" cap="rnd">
            <a:solidFill>
              <a:srgbClr val="FFA53C"/>
            </a:solidFill>
          </a:ln>
        </p:spPr>
      </p:cxnSp>
      <p:sp>
        <p:nvSpPr>
          <p:cNvPr id="1203"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44</a:t>
            </a:r>
          </a:p>
        </p:txBody>
      </p:sp>
    </p:spTree>
    <p:extLst>
      <p:ext uri="{BB962C8B-B14F-4D97-AF65-F5344CB8AC3E}">
        <p14:creationId xmlns:p14="http://schemas.microsoft.com/office/powerpoint/2010/main" val="28991082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09"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03 · LE FRONT BLAZOR</a:t>
            </a:r>
          </a:p>
        </p:txBody>
      </p:sp>
      <p:sp>
        <p:nvSpPr>
          <p:cNvPr id="1204"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CORS : LES ÉCHANGES ENTRE ORIGINES</a:t>
            </a:r>
          </a:p>
        </p:txBody>
      </p:sp>
      <p:cxnSp>
        <p:nvCxnSpPr>
          <p:cNvPr id="1205"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210" name="Accent titre"/>
          <p:cNvCxnSpPr/>
          <p:nvPr/>
        </p:nvCxnSpPr>
        <p:spPr>
          <a:xfrm>
            <a:off x="147535" y="894944"/>
            <a:ext cx="1100000" cy="0"/>
          </a:xfrm>
          <a:prstGeom prst="line">
            <a:avLst/>
          </a:prstGeom>
          <a:ln w="38100" cap="rnd">
            <a:solidFill>
              <a:srgbClr val="FFA53C"/>
            </a:solidFill>
          </a:ln>
        </p:spPr>
      </p:cxnSp>
      <p:sp>
        <p:nvSpPr>
          <p:cNvPr id="1211"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45</a:t>
            </a:r>
          </a:p>
        </p:txBody>
      </p:sp>
      <p:sp>
        <p:nvSpPr>
          <p:cNvPr id="1212"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Le navigateur applique une politique d’origine</a:t>
            </a:r>
          </a:p>
          <a:p>
            <a:pPr marL="285750" indent="-285750">
              <a:lnSpc>
                <a:spcPts val="2352"/>
              </a:lnSpc>
              <a:spcBef>
                <a:spcPts val="0"/>
              </a:spcBef>
              <a:spcAft>
                <a:spcPts val="500"/>
              </a:spcAft>
              <a:buNone/>
            </a:pPr>
            <a:r>
              <a:rPr lang="fr-FR" sz="2100" b="0" dirty="0">
                <a:solidFill>
                  <a:srgbClr val="E5E7EB"/>
                </a:solidFill>
                <a:latin typeface="Aptos"/>
              </a:rPr>
              <a:t>Une origine associe un schéma, un hôte et un port. Deux applications servies sur des ports différents ont des origines distinctes.</a:t>
            </a:r>
          </a:p>
          <a:p>
            <a:pPr marL="285750" indent="-285750">
              <a:lnSpc>
                <a:spcPts val="2352"/>
              </a:lnSpc>
              <a:spcBef>
                <a:spcPts val="0"/>
              </a:spcBef>
              <a:spcAft>
                <a:spcPts val="500"/>
              </a:spcAft>
              <a:buNone/>
            </a:pPr>
            <a:r>
              <a:rPr lang="fr-FR" sz="2100" b="0" dirty="0">
                <a:solidFill>
                  <a:srgbClr val="E5E7EB"/>
                </a:solidFill>
                <a:latin typeface="Aptos"/>
              </a:rPr>
              <a:t>CORS (Cross-Origin Resource Sharing) permet au serveur d’autoriser certains échanges entre origines.</a:t>
            </a:r>
          </a:p>
          <a:p>
            <a:pPr marL="285750" indent="-285750">
              <a:lnSpc>
                <a:spcPts val="2352"/>
              </a:lnSpc>
              <a:spcBef>
                <a:spcPts val="0"/>
              </a:spcBef>
              <a:spcAft>
                <a:spcPts val="500"/>
              </a:spcAft>
              <a:buNone/>
            </a:pPr>
            <a:r>
              <a:rPr lang="fr-FR" sz="2100" b="1" dirty="0">
                <a:solidFill>
                  <a:srgbClr val="FFAD46"/>
                </a:solidFill>
                <a:latin typeface="Aptos"/>
              </a:rPr>
              <a:t>Une politique à définir</a:t>
            </a:r>
          </a:p>
          <a:p>
            <a:pPr marL="285750" indent="-285750">
              <a:lnSpc>
                <a:spcPts val="2352"/>
              </a:lnSpc>
              <a:spcBef>
                <a:spcPts val="0"/>
              </a:spcBef>
              <a:spcAft>
                <a:spcPts val="500"/>
              </a:spcAft>
              <a:buNone/>
            </a:pPr>
            <a:r>
              <a:rPr lang="fr-FR" sz="2100" b="0" dirty="0">
                <a:solidFill>
                  <a:srgbClr val="E5E7EB"/>
                </a:solidFill>
                <a:latin typeface="Aptos"/>
              </a:rPr>
              <a:t>Les origines, les méthodes et les en-têtes autorisés dépendent des échanges prévus.</a:t>
            </a:r>
          </a:p>
          <a:p>
            <a:pPr marL="285750" indent="-285750">
              <a:lnSpc>
                <a:spcPts val="2352"/>
              </a:lnSpc>
              <a:spcBef>
                <a:spcPts val="0"/>
              </a:spcBef>
              <a:spcAft>
                <a:spcPts val="500"/>
              </a:spcAft>
              <a:buNone/>
            </a:pPr>
            <a:r>
              <a:rPr lang="fr-FR" sz="2100" b="0" dirty="0">
                <a:solidFill>
                  <a:srgbClr val="E5E7EB"/>
                </a:solidFill>
                <a:latin typeface="Aptos"/>
              </a:rPr>
              <a:t>ASP.NET Core propose des services et un middleware pour appliquer cette politique.</a:t>
            </a:r>
          </a:p>
          <a:p>
            <a:pPr marL="285750" indent="-285750">
              <a:lnSpc>
                <a:spcPts val="2352"/>
              </a:lnSpc>
              <a:spcBef>
                <a:spcPts val="0"/>
              </a:spcBef>
              <a:spcAft>
                <a:spcPts val="500"/>
              </a:spcAft>
              <a:buNone/>
            </a:pPr>
            <a:r>
              <a:rPr lang="fr-FR" sz="2100" b="1" dirty="0">
                <a:solidFill>
                  <a:srgbClr val="FFAD46"/>
                </a:solidFill>
                <a:latin typeface="Aptos"/>
              </a:rPr>
              <a:t>Votre configuration</a:t>
            </a:r>
          </a:p>
          <a:p>
            <a:pPr marL="285750" indent="-285750">
              <a:lnSpc>
                <a:spcPts val="2352"/>
              </a:lnSpc>
              <a:spcBef>
                <a:spcPts val="0"/>
              </a:spcBef>
              <a:spcAft>
                <a:spcPts val="500"/>
              </a:spcAft>
              <a:buNone/>
            </a:pPr>
            <a:r>
              <a:rPr lang="fr-FR" sz="2100" b="0" dirty="0">
                <a:solidFill>
                  <a:srgbClr val="E5E7EB"/>
                </a:solidFill>
                <a:latin typeface="Aptos"/>
              </a:rPr>
              <a:t>Établissez les besoins du client et du serveur, puis configurez et vérifiez les échanges dans le navigateur.</a:t>
            </a:r>
          </a:p>
          <a:p>
            <a:pPr marL="285750" indent="-285750">
              <a:lnSpc>
                <a:spcPts val="2352"/>
              </a:lnSpc>
              <a:spcBef>
                <a:spcPts val="0"/>
              </a:spcBef>
              <a:spcAft>
                <a:spcPts val="500"/>
              </a:spcAft>
              <a:buNone/>
            </a:pPr>
            <a:r>
              <a:rPr lang="fr-FR" sz="2100" b="0" dirty="0">
                <a:solidFill>
                  <a:srgbClr val="E5E7EB"/>
                </a:solidFill>
                <a:latin typeface="Aptos"/>
              </a:rPr>
              <a:t>CORS ne remplace pas l’authentification ni les autorisations d’accès. Consultez la documentation ASP.NET Core pour les options de configuration.</a:t>
            </a:r>
          </a:p>
        </p:txBody>
      </p:sp>
      <p:sp>
        <p:nvSpPr>
          <p:cNvPr id="1213" name="TextBox 1212"/>
          <p:cNvSpPr txBox="1"/>
          <p:nvPr/>
        </p:nvSpPr>
        <p:spPr>
          <a:xfrm>
            <a:off x="11155680" y="393192"/>
            <a:ext cx="868680" cy="256032"/>
          </a:xfrm>
          <a:prstGeom prst="rect">
            <a:avLst/>
          </a:prstGeom>
          <a:noFill/>
        </p:spPr>
        <p:txBody>
          <a:bodyPr wrap="none">
            <a:spAutoFit/>
          </a:bodyPr>
          <a:lstStyle/>
          <a:p>
            <a:r>
              <a:rPr sz="900">
                <a:solidFill>
                  <a:srgbClr val="8CD3FF"/>
                </a:solidFill>
                <a:hlinkClick r:id="rId4"/>
              </a:rPr>
              <a:t>Documentation</a:t>
            </a:r>
          </a:p>
        </p:txBody>
      </p:sp>
    </p:spTree>
    <p:extLst>
      <p:ext uri="{BB962C8B-B14F-4D97-AF65-F5344CB8AC3E}">
        <p14:creationId xmlns:p14="http://schemas.microsoft.com/office/powerpoint/2010/main" val="28991082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15"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03 · LE FRONT BLAZOR</a:t>
            </a:r>
          </a:p>
        </p:txBody>
      </p:sp>
      <p:sp>
        <p:nvSpPr>
          <p:cNvPr id="1212"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SPÉCIFICATION 4 — L’INTERFACE</a:t>
            </a:r>
          </a:p>
        </p:txBody>
      </p:sp>
      <p:cxnSp>
        <p:nvCxnSpPr>
          <p:cNvPr id="1213"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216" name="Accent titre"/>
          <p:cNvCxnSpPr/>
          <p:nvPr/>
        </p:nvCxnSpPr>
        <p:spPr>
          <a:xfrm>
            <a:off x="147535" y="894944"/>
            <a:ext cx="1100000" cy="0"/>
          </a:xfrm>
          <a:prstGeom prst="line">
            <a:avLst/>
          </a:prstGeom>
          <a:ln w="38100" cap="rnd">
            <a:solidFill>
              <a:srgbClr val="FFA53C"/>
            </a:solidFill>
          </a:ln>
        </p:spPr>
      </p:cxnSp>
      <p:sp>
        <p:nvSpPr>
          <p:cNvPr id="1217"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46</a:t>
            </a:r>
          </a:p>
        </p:txBody>
      </p:sp>
      <p:sp>
        <p:nvSpPr>
          <p:cNvPr id="1218"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Une partie utilisable depuis le navigateur</a:t>
            </a:r>
          </a:p>
          <a:p>
            <a:pPr marL="285750" indent="-285750">
              <a:lnSpc>
                <a:spcPts val="2352"/>
              </a:lnSpc>
              <a:spcBef>
                <a:spcPts val="0"/>
              </a:spcBef>
              <a:spcAft>
                <a:spcPts val="500"/>
              </a:spcAft>
              <a:buNone/>
            </a:pPr>
            <a:r>
              <a:rPr lang="fr-FR" sz="2100" b="0" dirty="0">
                <a:solidFill>
                  <a:srgbClr val="E5E7EB"/>
                </a:solidFill>
                <a:latin typeface="Aptos"/>
              </a:rPr>
              <a:t>Créer une partie et afficher les informations nécessaires au joueur.</a:t>
            </a:r>
          </a:p>
          <a:p>
            <a:pPr marL="285750" indent="-285750">
              <a:lnSpc>
                <a:spcPts val="2352"/>
              </a:lnSpc>
              <a:spcBef>
                <a:spcPts val="0"/>
              </a:spcBef>
              <a:spcAft>
                <a:spcPts val="500"/>
              </a:spcAft>
              <a:buNone/>
            </a:pPr>
            <a:r>
              <a:rPr lang="fr-FR" sz="2100" b="0" dirty="0">
                <a:solidFill>
                  <a:srgbClr val="E5E7EB"/>
                </a:solidFill>
                <a:latin typeface="Aptos"/>
              </a:rPr>
              <a:t>Présenter les deux grilles avec les informations que le joueur est autorisé à connaître.</a:t>
            </a:r>
          </a:p>
          <a:p>
            <a:pPr marL="285750" indent="-285750">
              <a:lnSpc>
                <a:spcPts val="2352"/>
              </a:lnSpc>
              <a:spcBef>
                <a:spcPts val="0"/>
              </a:spcBef>
              <a:spcAft>
                <a:spcPts val="500"/>
              </a:spcAft>
              <a:buNone/>
            </a:pPr>
            <a:r>
              <a:rPr lang="fr-FR" sz="2100" b="0" dirty="0">
                <a:solidFill>
                  <a:srgbClr val="E5E7EB"/>
                </a:solidFill>
                <a:latin typeface="Aptos"/>
              </a:rPr>
              <a:t>Permettre de jouer, rendre les résultats visibles et annoncer la fin de partie.</a:t>
            </a:r>
          </a:p>
          <a:p>
            <a:pPr marL="285750" indent="-285750">
              <a:lnSpc>
                <a:spcPts val="2352"/>
              </a:lnSpc>
              <a:spcBef>
                <a:spcPts val="0"/>
              </a:spcBef>
              <a:spcAft>
                <a:spcPts val="500"/>
              </a:spcAft>
              <a:buNone/>
            </a:pPr>
            <a:r>
              <a:rPr lang="fr-FR" sz="2100" b="1" dirty="0">
                <a:solidFill>
                  <a:srgbClr val="FFAD46"/>
                </a:solidFill>
                <a:latin typeface="Aptos"/>
              </a:rPr>
              <a:t>Une expérience cohérente</a:t>
            </a:r>
          </a:p>
          <a:p>
            <a:pPr marL="285750" indent="-285750">
              <a:lnSpc>
                <a:spcPts val="2352"/>
              </a:lnSpc>
              <a:spcBef>
                <a:spcPts val="0"/>
              </a:spcBef>
              <a:spcAft>
                <a:spcPts val="500"/>
              </a:spcAft>
              <a:buNone/>
            </a:pPr>
            <a:r>
              <a:rPr lang="fr-FR" sz="2100" b="0" dirty="0">
                <a:solidFill>
                  <a:srgbClr val="E5E7EB"/>
                </a:solidFill>
                <a:latin typeface="Aptos"/>
              </a:rPr>
              <a:t>Le joueur comprend l’état courant, les actions possibles et les éventuels refus.</a:t>
            </a:r>
          </a:p>
          <a:p>
            <a:pPr marL="285750" indent="-285750">
              <a:lnSpc>
                <a:spcPts val="2352"/>
              </a:lnSpc>
              <a:spcBef>
                <a:spcPts val="0"/>
              </a:spcBef>
              <a:spcAft>
                <a:spcPts val="500"/>
              </a:spcAft>
              <a:buNone/>
            </a:pPr>
            <a:r>
              <a:rPr lang="fr-FR" sz="2100" b="0" dirty="0">
                <a:solidFill>
                  <a:srgbClr val="E5E7EB"/>
                </a:solidFill>
                <a:latin typeface="Aptos"/>
              </a:rPr>
              <a:t>Un incident de communication est pris en charge sans rendre l’interface inutilisable.</a:t>
            </a:r>
          </a:p>
          <a:p>
            <a:pPr marL="285750" indent="-285750">
              <a:lnSpc>
                <a:spcPts val="2352"/>
              </a:lnSpc>
              <a:spcBef>
                <a:spcPts val="0"/>
              </a:spcBef>
              <a:spcAft>
                <a:spcPts val="500"/>
              </a:spcAft>
              <a:buNone/>
            </a:pPr>
            <a:r>
              <a:rPr lang="fr-FR" sz="2100" b="1" dirty="0">
                <a:solidFill>
                  <a:srgbClr val="FFAD46"/>
                </a:solidFill>
                <a:latin typeface="Aptos"/>
              </a:rPr>
              <a:t>Vos décisions d’interface</a:t>
            </a:r>
          </a:p>
          <a:p>
            <a:pPr marL="285750" indent="-285750">
              <a:lnSpc>
                <a:spcPts val="2352"/>
              </a:lnSpc>
              <a:spcBef>
                <a:spcPts val="0"/>
              </a:spcBef>
              <a:spcAft>
                <a:spcPts val="500"/>
              </a:spcAft>
              <a:buNone/>
            </a:pPr>
            <a:r>
              <a:rPr lang="fr-FR" sz="2100" b="0" dirty="0">
                <a:solidFill>
                  <a:srgbClr val="E5E7EB"/>
                </a:solidFill>
                <a:latin typeface="Aptos"/>
              </a:rPr>
              <a:t>Choisissez les composants, la gestion de l’état, les interactions et la présentation visuelle. Expliquez comment ils servent l’expérience de jeu.</a:t>
            </a:r>
          </a:p>
        </p:txBody>
      </p:sp>
    </p:spTree>
    <p:extLst>
      <p:ext uri="{BB962C8B-B14F-4D97-AF65-F5344CB8AC3E}">
        <p14:creationId xmlns:p14="http://schemas.microsoft.com/office/powerpoint/2010/main" val="28991082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20" name="Numero section">
            <a:hlinkClick r:id="rId2" action="ppaction://hlinksldjump"/>
          </p:cNvPr>
          <p:cNvSpPr txBox="1"/>
          <p:nvPr/>
        </p:nvSpPr>
        <p:spPr>
          <a:xfrm>
            <a:off x="147535" y="1850000"/>
            <a:ext cx="4000000" cy="1868872"/>
          </a:xfrm>
          <a:prstGeom prst="rect">
            <a:avLst/>
          </a:prstGeom>
          <a:noFill/>
        </p:spPr>
        <p:txBody>
          <a:bodyPr wrap="square" lIns="0" tIns="0" rIns="127000" bIns="0" rtlCol="0" anchor="t"/>
          <a:lstStyle/>
          <a:p>
            <a:r>
              <a:rPr lang="fr-FR" sz="12000" spc="-100" dirty="0">
                <a:solidFill>
                  <a:srgbClr val="FFA53C"/>
                </a:solidFill>
                <a:latin typeface="Segoe UI Semibold"/>
              </a:rPr>
              <a:t>04</a:t>
            </a:r>
          </a:p>
        </p:txBody>
      </p:sp>
      <p:cxnSp>
        <p:nvCxnSpPr>
          <p:cNvPr id="1221" name="Filet section"/>
          <p:cNvCxnSpPr/>
          <p:nvPr/>
        </p:nvCxnSpPr>
        <p:spPr>
          <a:xfrm>
            <a:off x="147535" y="3700000"/>
            <a:ext cx="900000" cy="0"/>
          </a:xfrm>
          <a:prstGeom prst="line">
            <a:avLst/>
          </a:prstGeom>
          <a:ln w="50800" cap="rnd">
            <a:solidFill>
              <a:srgbClr val="FFA53C"/>
            </a:solidFill>
          </a:ln>
        </p:spPr>
      </p:cxnSp>
      <p:sp>
        <p:nvSpPr>
          <p:cNvPr id="1222" name="Section titre"/>
          <p:cNvSpPr txBox="1"/>
          <p:nvPr/>
        </p:nvSpPr>
        <p:spPr>
          <a:xfrm>
            <a:off x="147535" y="4040000"/>
            <a:ext cx="10900000" cy="800000"/>
          </a:xfrm>
          <a:prstGeom prst="rect">
            <a:avLst/>
          </a:prstGeom>
          <a:noFill/>
        </p:spPr>
        <p:txBody>
          <a:bodyPr wrap="square" lIns="0" tIns="0" rIns="127000" bIns="0" rtlCol="0" anchor="t"/>
          <a:lstStyle/>
          <a:p>
            <a:r>
              <a:rPr lang="fr-FR" sz="4400" spc="60" dirty="0">
                <a:solidFill>
                  <a:srgbClr val="FFFFFF"/>
                </a:solidFill>
                <a:latin typeface="Segoe UI Semibold"/>
              </a:rPr>
              <a:t>GRPC</a:t>
            </a:r>
          </a:p>
        </p:txBody>
      </p:sp>
      <p:sp>
        <p:nvSpPr>
          <p:cNvPr id="1223" name="Section sous-titre"/>
          <p:cNvSpPr txBox="1"/>
          <p:nvPr/>
        </p:nvSpPr>
        <p:spPr>
          <a:xfrm>
            <a:off x="147535" y="4940000"/>
            <a:ext cx="10900000" cy="500000"/>
          </a:xfrm>
          <a:prstGeom prst="rect">
            <a:avLst/>
          </a:prstGeom>
          <a:noFill/>
        </p:spPr>
        <p:txBody>
          <a:bodyPr wrap="square" lIns="0" tIns="0" rIns="127000" bIns="0" rtlCol="0" anchor="t"/>
          <a:lstStyle/>
          <a:p>
            <a:r>
              <a:rPr lang="fr-FR" sz="1800" dirty="0">
                <a:solidFill>
                  <a:srgbClr val="7A808F"/>
                </a:solidFill>
                <a:latin typeface="Segoe UI"/>
              </a:rPr>
              <a:t>Contrat binaire entre l’API et le front</a:t>
            </a:r>
          </a:p>
        </p:txBody>
      </p:sp>
      <p:sp>
        <p:nvSpPr>
          <p:cNvPr id="1224"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47</a:t>
            </a:r>
          </a:p>
        </p:txBody>
      </p:sp>
    </p:spTree>
    <p:extLst>
      <p:ext uri="{BB962C8B-B14F-4D97-AF65-F5344CB8AC3E}">
        <p14:creationId xmlns:p14="http://schemas.microsoft.com/office/powerpoint/2010/main" val="2899108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28"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04 · GRPC</a:t>
            </a:r>
          </a:p>
        </p:txBody>
      </p:sp>
      <p:sp>
        <p:nvSpPr>
          <p:cNvPr id="1225"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GRPC : POURQUOI ET COMMENT</a:t>
            </a:r>
          </a:p>
        </p:txBody>
      </p:sp>
      <p:cxnSp>
        <p:nvCxnSpPr>
          <p:cNvPr id="1226"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229" name="Accent titre"/>
          <p:cNvCxnSpPr/>
          <p:nvPr/>
        </p:nvCxnSpPr>
        <p:spPr>
          <a:xfrm>
            <a:off x="147535" y="894944"/>
            <a:ext cx="1100000" cy="0"/>
          </a:xfrm>
          <a:prstGeom prst="line">
            <a:avLst/>
          </a:prstGeom>
          <a:ln w="38100" cap="rnd">
            <a:solidFill>
              <a:srgbClr val="FFA53C"/>
            </a:solidFill>
          </a:ln>
        </p:spPr>
      </p:cxnSp>
      <p:sp>
        <p:nvSpPr>
          <p:cNvPr id="123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48</a:t>
            </a:r>
          </a:p>
        </p:txBody>
      </p:sp>
      <p:sp>
        <p:nvSpPr>
          <p:cNvPr id="1231"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Un contrat partagé entre client et serveur</a:t>
            </a:r>
          </a:p>
          <a:p>
            <a:pPr marL="285750" indent="-285750">
              <a:lnSpc>
                <a:spcPts val="2352"/>
              </a:lnSpc>
              <a:spcBef>
                <a:spcPts val="0"/>
              </a:spcBef>
              <a:spcAft>
                <a:spcPts val="500"/>
              </a:spcAft>
              <a:buNone/>
            </a:pPr>
            <a:r>
              <a:rPr lang="fr-FR" sz="2100" b="0" dirty="0">
                <a:solidFill>
                  <a:srgbClr val="E5E7EB"/>
                </a:solidFill>
                <a:latin typeface="Aptos"/>
              </a:rPr>
              <a:t>gRPC échange des messages définis dans un fichier .proto. Des outils génèrent les types et les services.</a:t>
            </a:r>
          </a:p>
          <a:p>
            <a:pPr marL="285750" indent="-285750">
              <a:lnSpc>
                <a:spcPts val="2352"/>
              </a:lnSpc>
              <a:spcBef>
                <a:spcPts val="0"/>
              </a:spcBef>
              <a:spcAft>
                <a:spcPts val="500"/>
              </a:spcAft>
              <a:buNone/>
            </a:pPr>
            <a:r>
              <a:rPr lang="fr-FR" sz="2100" b="0" dirty="0">
                <a:solidFill>
                  <a:srgbClr val="E5E7EB"/>
                </a:solidFill>
                <a:latin typeface="Aptos"/>
              </a:rPr>
              <a:t>Les caractéristiques du format et du transport s’apprécient selon les besoins et les mesures du projet.</a:t>
            </a:r>
          </a:p>
          <a:p>
            <a:pPr marL="285750" indent="-285750">
              <a:lnSpc>
                <a:spcPts val="2352"/>
              </a:lnSpc>
              <a:spcBef>
                <a:spcPts val="0"/>
              </a:spcBef>
              <a:spcAft>
                <a:spcPts val="500"/>
              </a:spcAft>
              <a:buNone/>
            </a:pPr>
            <a:r>
              <a:rPr lang="fr-FR" sz="2100" b="0" dirty="0">
                <a:solidFill>
                  <a:srgbClr val="E5E7EB"/>
                </a:solidFill>
                <a:latin typeface="Aptos"/>
              </a:rPr>
              <a:t>Depuis le navigateur, utilisez gRPC-Web pour accéder au service.</a:t>
            </a:r>
          </a:p>
          <a:p>
            <a:pPr marL="285750" indent="-285750">
              <a:lnSpc>
                <a:spcPts val="2352"/>
              </a:lnSpc>
              <a:spcBef>
                <a:spcPts val="0"/>
              </a:spcBef>
              <a:spcAft>
                <a:spcPts val="500"/>
              </a:spcAft>
              <a:buNone/>
            </a:pPr>
            <a:r>
              <a:rPr lang="fr-FR" sz="2100" b="1" dirty="0">
                <a:solidFill>
                  <a:srgbClr val="FFAD46"/>
                </a:solidFill>
                <a:latin typeface="Aptos"/>
              </a:rPr>
              <a:t>Ce qui est exigé</a:t>
            </a:r>
          </a:p>
          <a:p>
            <a:pPr marL="285750" indent="-285750">
              <a:lnSpc>
                <a:spcPts val="2352"/>
              </a:lnSpc>
              <a:spcBef>
                <a:spcPts val="0"/>
              </a:spcBef>
              <a:spcAft>
                <a:spcPts val="500"/>
              </a:spcAft>
              <a:buNone/>
            </a:pPr>
            <a:r>
              <a:rPr lang="fr-FR" sz="2100" b="0" dirty="0">
                <a:solidFill>
                  <a:srgbClr val="E5E7EB"/>
                </a:solidFill>
                <a:latin typeface="Aptos"/>
              </a:rPr>
              <a:t>Au moins un échange fonctionnel entre le front et l’API, avec une réponse et une erreur attendue démontrables.</a:t>
            </a:r>
          </a:p>
          <a:p>
            <a:pPr marL="285750" indent="-285750">
              <a:lnSpc>
                <a:spcPts val="2352"/>
              </a:lnSpc>
              <a:spcBef>
                <a:spcPts val="0"/>
              </a:spcBef>
              <a:spcAft>
                <a:spcPts val="500"/>
              </a:spcAft>
              <a:buNone/>
            </a:pPr>
            <a:r>
              <a:rPr lang="fr-FR" sz="2100" b="1" dirty="0">
                <a:solidFill>
                  <a:srgbClr val="FFAD46"/>
                </a:solidFill>
                <a:latin typeface="Aptos"/>
              </a:rPr>
              <a:t>Votre choix d’architecture</a:t>
            </a:r>
          </a:p>
          <a:p>
            <a:pPr marL="285750" indent="-285750">
              <a:lnSpc>
                <a:spcPts val="2352"/>
              </a:lnSpc>
              <a:spcBef>
                <a:spcPts val="0"/>
              </a:spcBef>
              <a:spcAft>
                <a:spcPts val="500"/>
              </a:spcAft>
              <a:buNone/>
            </a:pPr>
            <a:r>
              <a:rPr lang="fr-FR" sz="2100" b="0" dirty="0">
                <a:solidFill>
                  <a:srgbClr val="E5E7EB"/>
                </a:solidFill>
                <a:latin typeface="Aptos"/>
              </a:rPr>
              <a:t>Choisissez l’opération concernée et concevez son contrat. Expliquez l’articulation avec les autres échanges du projet.</a:t>
            </a:r>
          </a:p>
          <a:p>
            <a:pPr marL="285750" indent="-285750">
              <a:lnSpc>
                <a:spcPts val="2352"/>
              </a:lnSpc>
              <a:spcBef>
                <a:spcPts val="0"/>
              </a:spcBef>
              <a:spcAft>
                <a:spcPts val="500"/>
              </a:spcAft>
              <a:buNone/>
            </a:pPr>
            <a:r>
              <a:rPr lang="fr-FR" sz="2100" b="0" dirty="0">
                <a:solidFill>
                  <a:srgbClr val="E5E7EB"/>
                </a:solidFill>
                <a:latin typeface="Aptos"/>
              </a:rPr>
              <a:t>Votre ADR présente les options examinées, votre décision et ses conséquences.</a:t>
            </a:r>
          </a:p>
        </p:txBody>
      </p:sp>
    </p:spTree>
    <p:extLst>
      <p:ext uri="{BB962C8B-B14F-4D97-AF65-F5344CB8AC3E}">
        <p14:creationId xmlns:p14="http://schemas.microsoft.com/office/powerpoint/2010/main" val="28991082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35"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04 · GRPC</a:t>
            </a:r>
          </a:p>
        </p:txBody>
      </p:sp>
      <p:sp>
        <p:nvSpPr>
          <p:cNvPr id="123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LE CONTRAT .PROTO</a:t>
            </a:r>
          </a:p>
        </p:txBody>
      </p:sp>
      <p:cxnSp>
        <p:nvCxnSpPr>
          <p:cNvPr id="123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233" name="Bloc de code"/>
          <p:cNvSpPr/>
          <p:nvPr/>
        </p:nvSpPr>
        <p:spPr>
          <a:xfrm>
            <a:off x="147535" y="1150000"/>
            <a:ext cx="11896927" cy="458150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016"/>
              </a:lnSpc>
              <a:spcBef>
                <a:spcPts val="0"/>
              </a:spcBef>
              <a:spcAft>
                <a:spcPts val="0"/>
              </a:spcAft>
              <a:buNone/>
            </a:pPr>
            <a:r>
              <a:rPr lang="fr-FR" sz="1800" b="0" i="0" dirty="0">
                <a:solidFill>
                  <a:srgbClr val="E5E7EB"/>
                </a:solidFill>
                <a:latin typeface="Consolas" pitchFamily="49" charset="0"/>
              </a:rPr>
              <a:t>syntax = "proto3";</a:t>
            </a:r>
          </a:p>
          <a:p>
            <a:pPr marL="0">
              <a:lnSpc>
                <a:spcPts val="2016"/>
              </a:lnSpc>
              <a:spcBef>
                <a:spcPts val="0"/>
              </a:spcBef>
              <a:spcAft>
                <a:spcPts val="0"/>
              </a:spcAft>
              <a:buNone/>
            </a:pPr>
            <a:r>
              <a:rPr lang="fr-FR" sz="1800" b="0" i="0" dirty="0">
                <a:solidFill>
                  <a:srgbClr val="E5E7EB"/>
                </a:solidFill>
                <a:latin typeface="Consolas" pitchFamily="49" charset="0"/>
              </a:rPr>
              <a:t>option csharp_namespace = "Catalogue.Grpc";</a:t>
            </a:r>
          </a:p>
          <a:p>
            <a:pPr marL="0">
              <a:lnSpc>
                <a:spcPts val="2016"/>
              </a:lnSpc>
              <a:spcBef>
                <a:spcPts val="0"/>
              </a:spcBef>
              <a:spcAft>
                <a:spcPts val="0"/>
              </a:spcAft>
              <a:buNone/>
            </a:pPr>
            <a:r>
              <a:rPr lang="fr-FR" sz="1800" b="0" i="0" dirty="0">
                <a:solidFill>
                  <a:srgbClr val="E5E7EB"/>
                </a:solidFill>
                <a:latin typeface="Consolas" pitchFamily="49" charset="0"/>
              </a:rPr>
              <a:t>package catalogue;</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service Catalogue {</a:t>
            </a:r>
          </a:p>
          <a:p>
            <a:pPr marL="0">
              <a:lnSpc>
                <a:spcPts val="2016"/>
              </a:lnSpc>
              <a:spcBef>
                <a:spcPts val="0"/>
              </a:spcBef>
              <a:spcAft>
                <a:spcPts val="0"/>
              </a:spcAft>
              <a:buNone/>
            </a:pPr>
            <a:r>
              <a:rPr lang="fr-FR" sz="1800" b="0" i="0" dirty="0">
                <a:solidFill>
                  <a:srgbClr val="E5E7EB"/>
                </a:solidFill>
                <a:latin typeface="Consolas" pitchFamily="49" charset="0"/>
              </a:rPr>
              <a:t>  rpc FindProduct (ProductQuery) returns (ProductReply);</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message ProductQuery {</a:t>
            </a:r>
          </a:p>
          <a:p>
            <a:pPr marL="0">
              <a:lnSpc>
                <a:spcPts val="2016"/>
              </a:lnSpc>
              <a:spcBef>
                <a:spcPts val="0"/>
              </a:spcBef>
              <a:spcAft>
                <a:spcPts val="0"/>
              </a:spcAft>
              <a:buNone/>
            </a:pPr>
            <a:r>
              <a:rPr lang="fr-FR" sz="1800" b="0" i="0" dirty="0">
                <a:solidFill>
                  <a:srgbClr val="E5E7EB"/>
                </a:solidFill>
                <a:latin typeface="Consolas" pitchFamily="49" charset="0"/>
              </a:rPr>
              <a:t>  int32 id = 1;</a:t>
            </a:r>
          </a:p>
          <a:p>
            <a:pPr marL="0">
              <a:lnSpc>
                <a:spcPts val="2016"/>
              </a:lnSpc>
              <a:spcBef>
                <a:spcPts val="0"/>
              </a:spcBef>
              <a:spcAft>
                <a:spcPts val="0"/>
              </a:spcAft>
              <a:buNone/>
            </a:pPr>
            <a:r>
              <a:rPr lang="fr-FR" sz="1800" b="0" i="0" dirty="0">
                <a:solidFill>
                  <a:srgbClr val="E5E7EB"/>
                </a:solidFill>
                <a:latin typeface="Consolas" pitchFamily="49" charset="0"/>
              </a:rPr>
              <a:t>}</a:t>
            </a:r>
          </a:p>
          <a:p>
            <a:pPr marL="0">
              <a:lnSpc>
                <a:spcPct val="108000"/>
              </a:lnSpc>
              <a:spcBef>
                <a:spcPts val="0"/>
              </a:spcBef>
              <a:spcAft>
                <a:spcPts val="0"/>
              </a:spcAft>
              <a:buNone/>
            </a:pPr>
            <a:endParaRPr lang="fr-FR" sz="1800" b="0" i="0" dirty="0">
              <a:solidFill>
                <a:srgbClr val="E5E7EB"/>
              </a:solidFill>
              <a:latin typeface="Consolas" pitchFamily="49" charset="0"/>
            </a:endParaRPr>
          </a:p>
          <a:p>
            <a:pPr marL="0">
              <a:lnSpc>
                <a:spcPts val="2016"/>
              </a:lnSpc>
              <a:spcBef>
                <a:spcPts val="0"/>
              </a:spcBef>
              <a:spcAft>
                <a:spcPts val="0"/>
              </a:spcAft>
              <a:buNone/>
            </a:pPr>
            <a:r>
              <a:rPr lang="fr-FR" sz="1800" b="0" i="0" dirty="0">
                <a:solidFill>
                  <a:srgbClr val="E5E7EB"/>
                </a:solidFill>
                <a:latin typeface="Consolas" pitchFamily="49" charset="0"/>
              </a:rPr>
              <a:t>message ProductReply {</a:t>
            </a:r>
          </a:p>
          <a:p>
            <a:pPr marL="0">
              <a:lnSpc>
                <a:spcPts val="2016"/>
              </a:lnSpc>
              <a:spcBef>
                <a:spcPts val="0"/>
              </a:spcBef>
              <a:spcAft>
                <a:spcPts val="0"/>
              </a:spcAft>
              <a:buNone/>
            </a:pPr>
            <a:r>
              <a:rPr lang="fr-FR" sz="1800" b="0" i="0" dirty="0">
                <a:solidFill>
                  <a:srgbClr val="E5E7EB"/>
                </a:solidFill>
                <a:latin typeface="Consolas" pitchFamily="49" charset="0"/>
              </a:rPr>
              <a:t>  int32 id = 1;</a:t>
            </a:r>
          </a:p>
          <a:p>
            <a:pPr marL="0">
              <a:lnSpc>
                <a:spcPts val="2016"/>
              </a:lnSpc>
              <a:spcBef>
                <a:spcPts val="0"/>
              </a:spcBef>
              <a:spcAft>
                <a:spcPts val="0"/>
              </a:spcAft>
              <a:buNone/>
            </a:pPr>
            <a:r>
              <a:rPr lang="fr-FR" sz="1800" b="0" i="0" dirty="0">
                <a:solidFill>
                  <a:srgbClr val="E5E7EB"/>
                </a:solidFill>
                <a:latin typeface="Consolas" pitchFamily="49" charset="0"/>
              </a:rPr>
              <a:t>  string name = 2;</a:t>
            </a:r>
          </a:p>
          <a:p>
            <a:pPr marL="0">
              <a:lnSpc>
                <a:spcPts val="2016"/>
              </a:lnSpc>
              <a:spcBef>
                <a:spcPts val="0"/>
              </a:spcBef>
              <a:spcAft>
                <a:spcPts val="0"/>
              </a:spcAft>
              <a:buNone/>
            </a:pPr>
            <a:r>
              <a:rPr lang="fr-FR" sz="1800" b="0" i="0" dirty="0">
                <a:solidFill>
                  <a:srgbClr val="E5E7EB"/>
                </a:solidFill>
                <a:latin typeface="Consolas" pitchFamily="49" charset="0"/>
              </a:rPr>
              <a:t>}</a:t>
            </a:r>
          </a:p>
        </p:txBody>
      </p:sp>
      <p:sp>
        <p:nvSpPr>
          <p:cNvPr id="1234" name="ZoneTexte"/>
          <p:cNvSpPr txBox="1"/>
          <p:nvPr/>
        </p:nvSpPr>
        <p:spPr>
          <a:xfrm>
            <a:off x="147535" y="5881500"/>
            <a:ext cx="11896927" cy="698500"/>
          </a:xfrm>
          <a:prstGeom prst="rect">
            <a:avLst/>
          </a:prstGeom>
          <a:noFill/>
        </p:spPr>
        <p:txBody>
          <a:bodyPr wrap="square" lIns="0" tIns="54864" rIns="127000" bIns="54864" rtlCol="0" anchor="t"/>
          <a:lstStyle/>
          <a:p>
            <a:pPr>
              <a:lnSpc>
                <a:spcPts val="2240"/>
              </a:lnSpc>
              <a:spcBef>
                <a:spcPts val="0"/>
              </a:spcBef>
              <a:spcAft>
                <a:spcPts val="500"/>
              </a:spcAft>
              <a:buNone/>
            </a:pPr>
            <a:r>
              <a:rPr lang="fr-FR" sz="2000" b="0" dirty="0">
                <a:solidFill>
                  <a:srgbClr val="E5E7EB"/>
                </a:solidFill>
                <a:latin typeface="Aptos"/>
              </a:rPr>
              <a:t>Exemple générique fourni dans Exemples/catalogue.proto. Les numéros identifient les champs du contrat ; conservez leur compatibilité lors des évolutions.</a:t>
            </a:r>
          </a:p>
        </p:txBody>
      </p:sp>
      <p:cxnSp>
        <p:nvCxnSpPr>
          <p:cNvPr id="1236" name="Accent titre"/>
          <p:cNvCxnSpPr/>
          <p:nvPr/>
        </p:nvCxnSpPr>
        <p:spPr>
          <a:xfrm>
            <a:off x="147535" y="894944"/>
            <a:ext cx="1100000" cy="0"/>
          </a:xfrm>
          <a:prstGeom prst="line">
            <a:avLst/>
          </a:prstGeom>
          <a:ln w="38100" cap="rnd">
            <a:solidFill>
              <a:srgbClr val="FFA53C"/>
            </a:solidFill>
          </a:ln>
        </p:spPr>
      </p:cxnSp>
      <p:sp>
        <p:nvSpPr>
          <p:cNvPr id="1237"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49</a:t>
            </a:r>
          </a:p>
        </p:txBody>
      </p:sp>
    </p:spTree>
    <p:extLst>
      <p:ext uri="{BB962C8B-B14F-4D97-AF65-F5344CB8AC3E}">
        <p14:creationId xmlns:p14="http://schemas.microsoft.com/office/powerpoint/2010/main" val="28991082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43"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04 · GRPC</a:t>
            </a:r>
          </a:p>
        </p:txBody>
      </p:sp>
      <p:sp>
        <p:nvSpPr>
          <p:cNvPr id="1238"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wrap="square" lIns="0" tIns="0" rIns="0" bIns="0" anchor="b">
            <a:normAutofit/>
          </a:bodyPr>
          <a:lstStyle/>
          <a:p>
            <a:pPr algn="l"/>
            <a:r>
              <a:rPr lang="fr-FR" sz="2800" spc="40" dirty="0">
                <a:solidFill>
                  <a:srgbClr val="FFFFFF"/>
                </a:solidFill>
                <a:latin typeface="Segoe UI Semibold"/>
              </a:rPr>
              <a:t>GRPC : VALIDER ET RÉPONDRE</a:t>
            </a:r>
          </a:p>
        </p:txBody>
      </p:sp>
      <p:cxnSp>
        <p:nvCxnSpPr>
          <p:cNvPr id="1239"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244" name="Accent titre"/>
          <p:cNvCxnSpPr/>
          <p:nvPr/>
        </p:nvCxnSpPr>
        <p:spPr>
          <a:xfrm>
            <a:off x="147535" y="894944"/>
            <a:ext cx="1100000" cy="0"/>
          </a:xfrm>
          <a:prstGeom prst="line">
            <a:avLst/>
          </a:prstGeom>
          <a:ln w="38100" cap="rnd">
            <a:solidFill>
              <a:srgbClr val="FFA53C"/>
            </a:solidFill>
          </a:ln>
        </p:spPr>
      </p:cxnSp>
      <p:sp>
        <p:nvSpPr>
          <p:cNvPr id="1245"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50</a:t>
            </a:r>
          </a:p>
        </p:txBody>
      </p:sp>
      <p:sp>
        <p:nvSpPr>
          <p:cNvPr id="1246" name="Exemple générique"/>
          <p:cNvSpPr/>
          <p:nvPr/>
        </p:nvSpPr>
        <p:spPr>
          <a:xfrm>
            <a:off x="146304" y="1143000"/>
            <a:ext cx="11896344" cy="461772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792"/>
              </a:lnSpc>
              <a:spcBef>
                <a:spcPts val="0"/>
              </a:spcBef>
              <a:spcAft>
                <a:spcPts val="0"/>
              </a:spcAft>
              <a:buNone/>
            </a:pPr>
            <a:r>
              <a:rPr lang="fr-FR" sz="1600" b="0" i="0" dirty="0">
                <a:solidFill>
                  <a:srgbClr val="E5E7EB"/>
                </a:solidFill>
                <a:latin typeface="Consolas" pitchFamily="49" charset="0"/>
              </a:rPr>
              <a:t>public sealed class CatalogueGrpcService(IValidator&lt;ProductQuery&gt; validator)</a:t>
            </a:r>
          </a:p>
          <a:p>
            <a:pPr marL="0">
              <a:lnSpc>
                <a:spcPts val="1792"/>
              </a:lnSpc>
              <a:spcBef>
                <a:spcPts val="0"/>
              </a:spcBef>
              <a:spcAft>
                <a:spcPts val="0"/>
              </a:spcAft>
              <a:buNone/>
            </a:pPr>
            <a:r>
              <a:rPr lang="fr-FR" sz="1600" b="0" i="0" dirty="0">
                <a:solidFill>
                  <a:srgbClr val="E5E7EB"/>
                </a:solidFill>
                <a:latin typeface="Consolas" pitchFamily="49" charset="0"/>
              </a:rPr>
              <a:t>    : global::Catalogue.Grpc.Catalogue.CatalogueBase</a:t>
            </a:r>
          </a:p>
          <a:p>
            <a:pPr marL="0">
              <a:lnSpc>
                <a:spcPts val="1792"/>
              </a:lnSpc>
              <a:spcBef>
                <a:spcPts val="0"/>
              </a:spcBef>
              <a:spcAft>
                <a:spcPts val="0"/>
              </a:spcAft>
              <a:buNone/>
            </a:pPr>
            <a:r>
              <a:rPr lang="fr-FR" sz="1600" b="0" i="0" dirty="0">
                <a:solidFill>
                  <a:srgbClr val="E5E7EB"/>
                </a:solidFill>
                <a:latin typeface="Consolas" pitchFamily="49" charset="0"/>
              </a:rPr>
              <a:t>{</a:t>
            </a:r>
          </a:p>
          <a:p>
            <a:pPr marL="0">
              <a:lnSpc>
                <a:spcPts val="1792"/>
              </a:lnSpc>
              <a:spcBef>
                <a:spcPts val="0"/>
              </a:spcBef>
              <a:spcAft>
                <a:spcPts val="0"/>
              </a:spcAft>
              <a:buNone/>
            </a:pPr>
            <a:r>
              <a:rPr lang="fr-FR" sz="1600" b="0" i="0" dirty="0">
                <a:solidFill>
                  <a:srgbClr val="E5E7EB"/>
                </a:solidFill>
                <a:latin typeface="Consolas" pitchFamily="49" charset="0"/>
              </a:rPr>
              <a:t>    public override async Task&lt;ProductReply&gt; FindProduct(</a:t>
            </a:r>
          </a:p>
          <a:p>
            <a:pPr marL="0">
              <a:lnSpc>
                <a:spcPts val="1792"/>
              </a:lnSpc>
              <a:spcBef>
                <a:spcPts val="0"/>
              </a:spcBef>
              <a:spcAft>
                <a:spcPts val="0"/>
              </a:spcAft>
              <a:buNone/>
            </a:pPr>
            <a:r>
              <a:rPr lang="fr-FR" sz="1600" b="0" i="0" dirty="0">
                <a:solidFill>
                  <a:srgbClr val="E5E7EB"/>
                </a:solidFill>
                <a:latin typeface="Consolas" pitchFamily="49" charset="0"/>
              </a:rPr>
              <a:t>        ProductQuery request, ServerCallContext context)</a:t>
            </a:r>
          </a:p>
          <a:p>
            <a:pPr marL="0">
              <a:lnSpc>
                <a:spcPts val="1792"/>
              </a:lnSpc>
              <a:spcBef>
                <a:spcPts val="0"/>
              </a:spcBef>
              <a:spcAft>
                <a:spcPts val="0"/>
              </a:spcAft>
              <a:buNone/>
            </a:pPr>
            <a:r>
              <a:rPr lang="fr-FR" sz="1600" b="0" i="0" dirty="0">
                <a:solidFill>
                  <a:srgbClr val="E5E7EB"/>
                </a:solidFill>
                <a:latin typeface="Consolas" pitchFamily="49" charset="0"/>
              </a:rPr>
              <a:t>    {</a:t>
            </a:r>
          </a:p>
          <a:p>
            <a:pPr marL="0">
              <a:lnSpc>
                <a:spcPts val="1792"/>
              </a:lnSpc>
              <a:spcBef>
                <a:spcPts val="0"/>
              </a:spcBef>
              <a:spcAft>
                <a:spcPts val="0"/>
              </a:spcAft>
              <a:buNone/>
            </a:pPr>
            <a:r>
              <a:rPr lang="fr-FR" sz="1600" b="0" i="0" dirty="0">
                <a:solidFill>
                  <a:srgbClr val="E5E7EB"/>
                </a:solidFill>
                <a:latin typeface="Consolas" pitchFamily="49" charset="0"/>
              </a:rPr>
              <a:t>        var check = await validator.ValidateAsync(request, context.CancellationToken);</a:t>
            </a:r>
          </a:p>
          <a:p>
            <a:pPr marL="0">
              <a:lnSpc>
                <a:spcPts val="1792"/>
              </a:lnSpc>
              <a:spcBef>
                <a:spcPts val="0"/>
              </a:spcBef>
              <a:spcAft>
                <a:spcPts val="0"/>
              </a:spcAft>
              <a:buNone/>
            </a:pPr>
            <a:r>
              <a:rPr lang="fr-FR" sz="1600" b="0" i="0" dirty="0">
                <a:solidFill>
                  <a:srgbClr val="E5E7EB"/>
                </a:solidFill>
                <a:latin typeface="Consolas" pitchFamily="49" charset="0"/>
              </a:rPr>
              <a:t>        if (!check.IsValid)</a:t>
            </a:r>
          </a:p>
          <a:p>
            <a:pPr marL="0">
              <a:lnSpc>
                <a:spcPts val="1792"/>
              </a:lnSpc>
              <a:spcBef>
                <a:spcPts val="0"/>
              </a:spcBef>
              <a:spcAft>
                <a:spcPts val="0"/>
              </a:spcAft>
              <a:buNone/>
            </a:pPr>
            <a:r>
              <a:rPr lang="fr-FR" sz="1600" b="0" i="0" dirty="0">
                <a:solidFill>
                  <a:srgbClr val="E5E7EB"/>
                </a:solidFill>
                <a:latin typeface="Consolas" pitchFamily="49" charset="0"/>
              </a:rPr>
              <a:t>            throw new RpcException(new Status(StatusCode.InvalidArgument, check.ToString()));</a:t>
            </a:r>
          </a:p>
          <a:p>
            <a:pPr marL="0">
              <a:lnSpc>
                <a:spcPts val="1792"/>
              </a:lnSpc>
              <a:spcBef>
                <a:spcPts val="0"/>
              </a:spcBef>
              <a:spcAft>
                <a:spcPts val="0"/>
              </a:spcAft>
              <a:buNone/>
            </a:pPr>
            <a:r>
              <a:rPr lang="fr-FR" sz="1600" b="0" i="0" dirty="0">
                <a:solidFill>
                  <a:srgbClr val="E5E7EB"/>
                </a:solidFill>
                <a:latin typeface="Consolas" pitchFamily="49" charset="0"/>
              </a:rPr>
              <a:t>        if (request.Id != 1)</a:t>
            </a:r>
          </a:p>
          <a:p>
            <a:pPr marL="0">
              <a:lnSpc>
                <a:spcPts val="1792"/>
              </a:lnSpc>
              <a:spcBef>
                <a:spcPts val="0"/>
              </a:spcBef>
              <a:spcAft>
                <a:spcPts val="0"/>
              </a:spcAft>
              <a:buNone/>
            </a:pPr>
            <a:r>
              <a:rPr lang="fr-FR" sz="1600" b="0" i="0" dirty="0">
                <a:solidFill>
                  <a:srgbClr val="E5E7EB"/>
                </a:solidFill>
                <a:latin typeface="Consolas" pitchFamily="49" charset="0"/>
              </a:rPr>
              <a:t>            throw new RpcException(new Status(StatusCode.NotFound, "Produit inconnu"));</a:t>
            </a:r>
          </a:p>
          <a:p>
            <a:pPr marL="0">
              <a:lnSpc>
                <a:spcPts val="1792"/>
              </a:lnSpc>
              <a:spcBef>
                <a:spcPts val="0"/>
              </a:spcBef>
              <a:spcAft>
                <a:spcPts val="0"/>
              </a:spcAft>
              <a:buNone/>
            </a:pPr>
            <a:r>
              <a:rPr lang="fr-FR" sz="1600" b="0" i="0" dirty="0">
                <a:solidFill>
                  <a:srgbClr val="E5E7EB"/>
                </a:solidFill>
                <a:latin typeface="Consolas" pitchFamily="49" charset="0"/>
              </a:rPr>
              <a:t>        return new ProductReply { Id = 1, Name = "Stylo" };</a:t>
            </a:r>
          </a:p>
          <a:p>
            <a:pPr marL="0">
              <a:lnSpc>
                <a:spcPts val="1792"/>
              </a:lnSpc>
              <a:spcBef>
                <a:spcPts val="0"/>
              </a:spcBef>
              <a:spcAft>
                <a:spcPts val="0"/>
              </a:spcAft>
              <a:buNone/>
            </a:pPr>
            <a:r>
              <a:rPr lang="fr-FR" sz="1600" b="0" i="0" dirty="0">
                <a:solidFill>
                  <a:srgbClr val="E5E7EB"/>
                </a:solidFill>
                <a:latin typeface="Consolas" pitchFamily="49" charset="0"/>
              </a:rPr>
              <a:t>    }</a:t>
            </a:r>
          </a:p>
          <a:p>
            <a:pPr marL="0">
              <a:lnSpc>
                <a:spcPts val="1792"/>
              </a:lnSpc>
              <a:spcBef>
                <a:spcPts val="0"/>
              </a:spcBef>
              <a:spcAft>
                <a:spcPts val="0"/>
              </a:spcAft>
              <a:buNone/>
            </a:pPr>
            <a:r>
              <a:rPr lang="fr-FR" sz="1600" b="0" i="0" dirty="0">
                <a:solidFill>
                  <a:srgbClr val="E5E7EB"/>
                </a:solidFill>
                <a:latin typeface="Consolas" pitchFamily="49" charset="0"/>
              </a:rPr>
              <a:t>}</a:t>
            </a:r>
          </a:p>
          <a:p>
            <a:pPr marL="0">
              <a:lnSpc>
                <a:spcPts val="1792"/>
              </a:lnSpc>
              <a:spcBef>
                <a:spcPts val="0"/>
              </a:spcBef>
              <a:spcAft>
                <a:spcPts val="0"/>
              </a:spcAft>
              <a:buNone/>
            </a:pPr>
            <a:r>
              <a:rPr lang="fr-FR" sz="1600" b="0" i="0" dirty="0">
                <a:solidFill>
                  <a:srgbClr val="E5E7EB"/>
                </a:solidFill>
                <a:latin typeface="Consolas" pitchFamily="49" charset="0"/>
              </a:rPr>
              <a:t>public sealed class ProductQueryValidator : AbstractValidator&lt;ProductQuery&gt;</a:t>
            </a:r>
          </a:p>
          <a:p>
            <a:pPr marL="0">
              <a:lnSpc>
                <a:spcPts val="1792"/>
              </a:lnSpc>
              <a:spcBef>
                <a:spcPts val="0"/>
              </a:spcBef>
              <a:spcAft>
                <a:spcPts val="0"/>
              </a:spcAft>
              <a:buNone/>
            </a:pPr>
            <a:r>
              <a:rPr lang="fr-FR" sz="1600" b="0" i="0" dirty="0">
                <a:solidFill>
                  <a:srgbClr val="E5E7EB"/>
                </a:solidFill>
                <a:latin typeface="Consolas" pitchFamily="49" charset="0"/>
              </a:rPr>
              <a:t>{</a:t>
            </a:r>
          </a:p>
          <a:p>
            <a:pPr marL="0">
              <a:lnSpc>
                <a:spcPts val="1792"/>
              </a:lnSpc>
              <a:spcBef>
                <a:spcPts val="0"/>
              </a:spcBef>
              <a:spcAft>
                <a:spcPts val="0"/>
              </a:spcAft>
              <a:buNone/>
            </a:pPr>
            <a:r>
              <a:rPr lang="fr-FR" sz="1600" b="0" i="0" dirty="0">
                <a:solidFill>
                  <a:srgbClr val="E5E7EB"/>
                </a:solidFill>
                <a:latin typeface="Consolas" pitchFamily="49" charset="0"/>
              </a:rPr>
              <a:t>    public ProductQueryValidator() =&gt; RuleFor(p =&gt; p.Id).GreaterThan(0);</a:t>
            </a:r>
          </a:p>
          <a:p>
            <a:pPr marL="0">
              <a:lnSpc>
                <a:spcPts val="1792"/>
              </a:lnSpc>
              <a:spcBef>
                <a:spcPts val="0"/>
              </a:spcBef>
              <a:spcAft>
                <a:spcPts val="0"/>
              </a:spcAft>
              <a:buNone/>
            </a:pPr>
            <a:r>
              <a:rPr lang="fr-FR" sz="1600" b="0" i="0" dirty="0">
                <a:solidFill>
                  <a:srgbClr val="E5E7EB"/>
                </a:solidFill>
                <a:latin typeface="Consolas" pitchFamily="49" charset="0"/>
              </a:rPr>
              <a:t>}</a:t>
            </a:r>
          </a:p>
        </p:txBody>
      </p:sp>
      <p:sp>
        <p:nvSpPr>
          <p:cNvPr id="1247" name="Contenu"/>
          <p:cNvSpPr txBox="1"/>
          <p:nvPr/>
        </p:nvSpPr>
        <p:spPr>
          <a:xfrm>
            <a:off x="146304" y="5897880"/>
            <a:ext cx="11896344" cy="640080"/>
          </a:xfrm>
          <a:prstGeom prst="rect">
            <a:avLst/>
          </a:prstGeom>
          <a:noFill/>
        </p:spPr>
        <p:txBody>
          <a:bodyPr wrap="square" lIns="0" tIns="54864" rIns="127000" bIns="54864" rtlCol="0" anchor="t"/>
          <a:lstStyle/>
          <a:p>
            <a:pPr marL="285750" indent="-285750">
              <a:lnSpc>
                <a:spcPts val="2016"/>
              </a:lnSpc>
              <a:spcBef>
                <a:spcPts val="0"/>
              </a:spcBef>
              <a:spcAft>
                <a:spcPts val="500"/>
              </a:spcAft>
              <a:buNone/>
            </a:pPr>
            <a:r>
              <a:rPr lang="fr-FR" sz="1800" b="0" dirty="0">
                <a:solidFill>
                  <a:srgbClr val="E5E7EB"/>
                </a:solidFill>
                <a:latin typeface="Aptos"/>
              </a:rPr>
              <a:t>Exemple de catalogue fixe : un produit disponible. Usings et enregistrement du validateur dans les ressources.</a:t>
            </a:r>
          </a:p>
          <a:p>
            <a:pPr marL="285750" indent="-285750">
              <a:lnSpc>
                <a:spcPts val="2016"/>
              </a:lnSpc>
              <a:spcBef>
                <a:spcPts val="0"/>
              </a:spcBef>
              <a:spcAft>
                <a:spcPts val="500"/>
              </a:spcAft>
              <a:buNone/>
            </a:pPr>
            <a:r>
              <a:rPr lang="fr-FR" sz="1800" b="0" dirty="0">
                <a:solidFill>
                  <a:srgbClr val="E5E7EB"/>
                </a:solidFill>
                <a:latin typeface="Aptos"/>
              </a:rPr>
              <a:t>Définissez les validations et les réponses adaptées à votre propre contrat.</a:t>
            </a:r>
          </a:p>
        </p:txBody>
      </p:sp>
    </p:spTree>
    <p:extLst>
      <p:ext uri="{BB962C8B-B14F-4D97-AF65-F5344CB8AC3E}">
        <p14:creationId xmlns:p14="http://schemas.microsoft.com/office/powerpoint/2010/main" val="2899108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52"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04 · GRPC</a:t>
            </a:r>
          </a:p>
        </p:txBody>
      </p:sp>
      <p:sp>
        <p:nvSpPr>
          <p:cNvPr id="1246"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wrap="square" lIns="0" tIns="0" rIns="0" bIns="0" anchor="b">
            <a:normAutofit/>
          </a:bodyPr>
          <a:lstStyle/>
          <a:p>
            <a:pPr algn="l"/>
            <a:r>
              <a:rPr lang="fr-FR" sz="2800" spc="40" dirty="0">
                <a:solidFill>
                  <a:srgbClr val="FFFFFF"/>
                </a:solidFill>
                <a:latin typeface="Segoe UI Semibold"/>
              </a:rPr>
              <a:t>GRPC : CONFIGURER LES DEUX PROJETS</a:t>
            </a:r>
          </a:p>
        </p:txBody>
      </p:sp>
      <p:cxnSp>
        <p:nvCxnSpPr>
          <p:cNvPr id="1247"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253" name="Accent titre"/>
          <p:cNvCxnSpPr/>
          <p:nvPr/>
        </p:nvCxnSpPr>
        <p:spPr>
          <a:xfrm>
            <a:off x="147535" y="894944"/>
            <a:ext cx="1100000" cy="0"/>
          </a:xfrm>
          <a:prstGeom prst="line">
            <a:avLst/>
          </a:prstGeom>
          <a:ln w="38100" cap="rnd">
            <a:solidFill>
              <a:srgbClr val="FFA53C"/>
            </a:solidFill>
          </a:ln>
        </p:spPr>
      </p:cxnSp>
      <p:sp>
        <p:nvSpPr>
          <p:cNvPr id="1254"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51</a:t>
            </a:r>
          </a:p>
        </p:txBody>
      </p:sp>
      <p:sp>
        <p:nvSpPr>
          <p:cNvPr id="1255" name="Consigne"/>
          <p:cNvSpPr txBox="1"/>
          <p:nvPr/>
        </p:nvSpPr>
        <p:spPr>
          <a:xfrm>
            <a:off x="146304" y="1078992"/>
            <a:ext cx="11896344" cy="457200"/>
          </a:xfrm>
          <a:prstGeom prst="rect">
            <a:avLst/>
          </a:prstGeom>
          <a:noFill/>
        </p:spPr>
        <p:txBody>
          <a:bodyPr wrap="square" lIns="0" tIns="54864" rIns="127000" bIns="54864" rtlCol="0" anchor="t"/>
          <a:lstStyle/>
          <a:p>
            <a:pPr>
              <a:lnSpc>
                <a:spcPts val="2240"/>
              </a:lnSpc>
              <a:spcBef>
                <a:spcPts val="0"/>
              </a:spcBef>
              <a:spcAft>
                <a:spcPts val="500"/>
              </a:spcAft>
              <a:buNone/>
            </a:pPr>
            <a:r>
              <a:rPr lang="fr-FR" sz="2000" b="0" dirty="0">
                <a:solidFill>
                  <a:srgbClr val="E5E7EB"/>
                </a:solidFill>
                <a:latin typeface="Aptos"/>
              </a:rPr>
              <a:t>Extraits pour Catalogue.API et Catalogue.App ; contrat commun dans Protos/catalogue.proto.</a:t>
            </a:r>
          </a:p>
        </p:txBody>
      </p:sp>
      <p:sp>
        <p:nvSpPr>
          <p:cNvPr id="1256" name="Extrait"/>
          <p:cNvSpPr/>
          <p:nvPr/>
        </p:nvSpPr>
        <p:spPr>
          <a:xfrm>
            <a:off x="146304" y="1691640"/>
            <a:ext cx="11896344" cy="1517904"/>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792"/>
              </a:lnSpc>
              <a:spcBef>
                <a:spcPts val="0"/>
              </a:spcBef>
              <a:spcAft>
                <a:spcPts val="0"/>
              </a:spcAft>
              <a:buNone/>
            </a:pPr>
            <a:r>
              <a:rPr lang="fr-FR" sz="1600" b="0" i="0" dirty="0">
                <a:solidFill>
                  <a:srgbClr val="E5E7EB"/>
                </a:solidFill>
                <a:latin typeface="Consolas" pitchFamily="49" charset="0"/>
              </a:rPr>
              <a:t>dotnet add Catalogue.API package Grpc.AspNetCore</a:t>
            </a:r>
          </a:p>
          <a:p>
            <a:pPr marL="0">
              <a:lnSpc>
                <a:spcPts val="1792"/>
              </a:lnSpc>
              <a:spcBef>
                <a:spcPts val="0"/>
              </a:spcBef>
              <a:spcAft>
                <a:spcPts val="0"/>
              </a:spcAft>
              <a:buNone/>
            </a:pPr>
            <a:r>
              <a:rPr lang="fr-FR" sz="1600" b="0" i="0" dirty="0">
                <a:solidFill>
                  <a:srgbClr val="E5E7EB"/>
                </a:solidFill>
                <a:latin typeface="Consolas" pitchFamily="49" charset="0"/>
              </a:rPr>
              <a:t>dotnet add Catalogue.API package Grpc.AspNetCore.Web</a:t>
            </a:r>
          </a:p>
          <a:p>
            <a:pPr marL="0">
              <a:lnSpc>
                <a:spcPts val="1792"/>
              </a:lnSpc>
              <a:spcBef>
                <a:spcPts val="0"/>
              </a:spcBef>
              <a:spcAft>
                <a:spcPts val="0"/>
              </a:spcAft>
              <a:buNone/>
            </a:pPr>
            <a:r>
              <a:rPr lang="fr-FR" sz="1600" b="0" i="0" dirty="0">
                <a:solidFill>
                  <a:srgbClr val="E5E7EB"/>
                </a:solidFill>
                <a:latin typeface="Consolas" pitchFamily="49" charset="0"/>
              </a:rPr>
              <a:t>dotnet add Catalogue.App package Grpc.Net.Client</a:t>
            </a:r>
          </a:p>
          <a:p>
            <a:pPr marL="0">
              <a:lnSpc>
                <a:spcPts val="1792"/>
              </a:lnSpc>
              <a:spcBef>
                <a:spcPts val="0"/>
              </a:spcBef>
              <a:spcAft>
                <a:spcPts val="0"/>
              </a:spcAft>
              <a:buNone/>
            </a:pPr>
            <a:r>
              <a:rPr lang="fr-FR" sz="1600" b="0" i="0" dirty="0">
                <a:solidFill>
                  <a:srgbClr val="E5E7EB"/>
                </a:solidFill>
                <a:latin typeface="Consolas" pitchFamily="49" charset="0"/>
              </a:rPr>
              <a:t>dotnet add Catalogue.App package Grpc.Net.Client.Web</a:t>
            </a:r>
          </a:p>
          <a:p>
            <a:pPr marL="0">
              <a:lnSpc>
                <a:spcPts val="1792"/>
              </a:lnSpc>
              <a:spcBef>
                <a:spcPts val="0"/>
              </a:spcBef>
              <a:spcAft>
                <a:spcPts val="0"/>
              </a:spcAft>
              <a:buNone/>
            </a:pPr>
            <a:r>
              <a:rPr lang="fr-FR" sz="1600" b="0" i="0" dirty="0">
                <a:solidFill>
                  <a:srgbClr val="E5E7EB"/>
                </a:solidFill>
                <a:latin typeface="Consolas" pitchFamily="49" charset="0"/>
              </a:rPr>
              <a:t>dotnet add Catalogue.App package Google.Protobuf</a:t>
            </a:r>
          </a:p>
          <a:p>
            <a:pPr marL="0">
              <a:lnSpc>
                <a:spcPts val="1792"/>
              </a:lnSpc>
              <a:spcBef>
                <a:spcPts val="0"/>
              </a:spcBef>
              <a:spcAft>
                <a:spcPts val="0"/>
              </a:spcAft>
              <a:buNone/>
            </a:pPr>
            <a:r>
              <a:rPr lang="fr-FR" sz="1600" b="0" i="0" dirty="0">
                <a:solidFill>
                  <a:srgbClr val="E5E7EB"/>
                </a:solidFill>
                <a:latin typeface="Consolas" pitchFamily="49" charset="0"/>
              </a:rPr>
              <a:t>dotnet add Catalogue.App package Grpc.Tools</a:t>
            </a:r>
          </a:p>
        </p:txBody>
      </p:sp>
      <p:sp>
        <p:nvSpPr>
          <p:cNvPr id="1257" name="Extrait"/>
          <p:cNvSpPr/>
          <p:nvPr/>
        </p:nvSpPr>
        <p:spPr>
          <a:xfrm>
            <a:off x="146304" y="3209544"/>
            <a:ext cx="11896344" cy="1271016"/>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792"/>
              </a:lnSpc>
              <a:spcBef>
                <a:spcPts val="0"/>
              </a:spcBef>
              <a:spcAft>
                <a:spcPts val="0"/>
              </a:spcAft>
              <a:buNone/>
            </a:pPr>
            <a:r>
              <a:rPr lang="fr-FR" sz="1600" b="0" i="0" dirty="0">
                <a:solidFill>
                  <a:srgbClr val="E5E7EB"/>
                </a:solidFill>
                <a:latin typeface="Consolas" pitchFamily="49" charset="0"/>
              </a:rPr>
              <a:t>&lt;!-- Dans API.csproj : Server ; dans App.csproj : Client --&gt;</a:t>
            </a:r>
          </a:p>
          <a:p>
            <a:pPr marL="0">
              <a:lnSpc>
                <a:spcPts val="1792"/>
              </a:lnSpc>
              <a:spcBef>
                <a:spcPts val="0"/>
              </a:spcBef>
              <a:spcAft>
                <a:spcPts val="0"/>
              </a:spcAft>
              <a:buNone/>
            </a:pPr>
            <a:r>
              <a:rPr lang="fr-FR" sz="1600" b="0" i="0" dirty="0">
                <a:solidFill>
                  <a:srgbClr val="E5E7EB"/>
                </a:solidFill>
                <a:latin typeface="Consolas" pitchFamily="49" charset="0"/>
              </a:rPr>
              <a:t>&lt;ItemGroup&gt;</a:t>
            </a:r>
          </a:p>
          <a:p>
            <a:pPr marL="0">
              <a:lnSpc>
                <a:spcPts val="1792"/>
              </a:lnSpc>
              <a:spcBef>
                <a:spcPts val="0"/>
              </a:spcBef>
              <a:spcAft>
                <a:spcPts val="0"/>
              </a:spcAft>
              <a:buNone/>
            </a:pPr>
            <a:r>
              <a:rPr lang="fr-FR" sz="1600" b="0" i="0" dirty="0">
                <a:solidFill>
                  <a:srgbClr val="E5E7EB"/>
                </a:solidFill>
                <a:latin typeface="Consolas" pitchFamily="49" charset="0"/>
              </a:rPr>
              <a:t>  &lt;Protobuf Include="../Protos/catalogue.proto" GrpcServices="Server" /&gt;</a:t>
            </a:r>
          </a:p>
          <a:p>
            <a:pPr marL="0">
              <a:lnSpc>
                <a:spcPts val="1792"/>
              </a:lnSpc>
              <a:spcBef>
                <a:spcPts val="0"/>
              </a:spcBef>
              <a:spcAft>
                <a:spcPts val="0"/>
              </a:spcAft>
              <a:buNone/>
            </a:pPr>
            <a:r>
              <a:rPr lang="fr-FR" sz="1600" b="0" i="0" dirty="0">
                <a:solidFill>
                  <a:srgbClr val="E5E7EB"/>
                </a:solidFill>
                <a:latin typeface="Consolas" pitchFamily="49" charset="0"/>
              </a:rPr>
              <a:t>&lt;/ItemGroup&gt;</a:t>
            </a:r>
          </a:p>
          <a:p>
            <a:pPr marL="0">
              <a:lnSpc>
                <a:spcPts val="1792"/>
              </a:lnSpc>
              <a:spcBef>
                <a:spcPts val="0"/>
              </a:spcBef>
              <a:spcAft>
                <a:spcPts val="0"/>
              </a:spcAft>
              <a:buNone/>
            </a:pPr>
            <a:r>
              <a:rPr lang="fr-FR" sz="1600" b="0" i="0" dirty="0">
                <a:solidFill>
                  <a:srgbClr val="E5E7EB"/>
                </a:solidFill>
                <a:latin typeface="Consolas" pitchFamily="49" charset="0"/>
              </a:rPr>
              <a:t>&lt;!-- Grpc.Tools est un outil de build : PrivateAssets="all". --&gt;</a:t>
            </a:r>
          </a:p>
        </p:txBody>
      </p:sp>
      <p:sp>
        <p:nvSpPr>
          <p:cNvPr id="1258" name="Extrait"/>
          <p:cNvSpPr/>
          <p:nvPr/>
        </p:nvSpPr>
        <p:spPr>
          <a:xfrm>
            <a:off x="146304" y="4480560"/>
            <a:ext cx="11896344" cy="1472184"/>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1792"/>
              </a:lnSpc>
              <a:spcBef>
                <a:spcPts val="0"/>
              </a:spcBef>
              <a:spcAft>
                <a:spcPts val="0"/>
              </a:spcAft>
              <a:buNone/>
            </a:pPr>
            <a:r>
              <a:rPr lang="fr-FR" sz="1600" b="0" i="0" dirty="0">
                <a:solidFill>
                  <a:srgbClr val="E5E7EB"/>
                </a:solidFill>
                <a:latin typeface="Consolas" pitchFamily="49" charset="0"/>
              </a:rPr>
              <a:t>// Enregistrements avant builder.Build().</a:t>
            </a:r>
          </a:p>
          <a:p>
            <a:pPr marL="0">
              <a:lnSpc>
                <a:spcPts val="1792"/>
              </a:lnSpc>
              <a:spcBef>
                <a:spcPts val="0"/>
              </a:spcBef>
              <a:spcAft>
                <a:spcPts val="0"/>
              </a:spcAft>
              <a:buNone/>
            </a:pPr>
            <a:r>
              <a:rPr lang="fr-FR" sz="1600" b="0" i="0" dirty="0">
                <a:solidFill>
                  <a:srgbClr val="E5E7EB"/>
                </a:solidFill>
                <a:latin typeface="Consolas" pitchFamily="49" charset="0"/>
              </a:rPr>
              <a:t>builder.Services.AddGrpc();</a:t>
            </a:r>
          </a:p>
          <a:p>
            <a:pPr marL="0">
              <a:lnSpc>
                <a:spcPts val="1792"/>
              </a:lnSpc>
              <a:spcBef>
                <a:spcPts val="0"/>
              </a:spcBef>
              <a:spcAft>
                <a:spcPts val="0"/>
              </a:spcAft>
              <a:buNone/>
            </a:pPr>
            <a:r>
              <a:rPr lang="fr-FR" sz="1600" b="0" i="0" dirty="0">
                <a:solidFill>
                  <a:srgbClr val="E5E7EB"/>
                </a:solidFill>
                <a:latin typeface="Consolas" pitchFamily="49" charset="0"/>
              </a:rPr>
              <a:t>builder.Services.AddScoped&lt;IValidator&lt;ProductQuery&gt;, ProductQueryValidator&gt;();</a:t>
            </a:r>
          </a:p>
          <a:p>
            <a:pPr marL="0">
              <a:lnSpc>
                <a:spcPts val="1792"/>
              </a:lnSpc>
              <a:spcBef>
                <a:spcPts val="0"/>
              </a:spcBef>
              <a:spcAft>
                <a:spcPts val="0"/>
              </a:spcAft>
              <a:buNone/>
            </a:pPr>
            <a:r>
              <a:rPr lang="fr-FR" sz="1600" b="0" i="0" dirty="0">
                <a:solidFill>
                  <a:srgbClr val="E5E7EB"/>
                </a:solidFill>
                <a:latin typeface="Consolas" pitchFamily="49" charset="0"/>
              </a:rPr>
              <a:t>// Après builder.Build().</a:t>
            </a:r>
          </a:p>
          <a:p>
            <a:pPr marL="0">
              <a:lnSpc>
                <a:spcPts val="1792"/>
              </a:lnSpc>
              <a:spcBef>
                <a:spcPts val="0"/>
              </a:spcBef>
              <a:spcAft>
                <a:spcPts val="0"/>
              </a:spcAft>
              <a:buNone/>
            </a:pPr>
            <a:r>
              <a:rPr lang="fr-FR" sz="1600" b="0" i="0" dirty="0">
                <a:solidFill>
                  <a:srgbClr val="E5E7EB"/>
                </a:solidFill>
                <a:latin typeface="Consolas" pitchFamily="49" charset="0"/>
              </a:rPr>
              <a:t>app.UseGrpcWeb();</a:t>
            </a:r>
          </a:p>
          <a:p>
            <a:pPr marL="0">
              <a:lnSpc>
                <a:spcPts val="1792"/>
              </a:lnSpc>
              <a:spcBef>
                <a:spcPts val="0"/>
              </a:spcBef>
              <a:spcAft>
                <a:spcPts val="0"/>
              </a:spcAft>
              <a:buNone/>
            </a:pPr>
            <a:r>
              <a:rPr lang="fr-FR" sz="1600" b="0" i="0" dirty="0">
                <a:solidFill>
                  <a:srgbClr val="E5E7EB"/>
                </a:solidFill>
                <a:latin typeface="Consolas" pitchFamily="49" charset="0"/>
              </a:rPr>
              <a:t>app.MapGrpcService&lt;CatalogueGrpcService&gt;().EnableGrpcWeb();</a:t>
            </a:r>
          </a:p>
        </p:txBody>
      </p:sp>
      <p:sp>
        <p:nvSpPr>
          <p:cNvPr id="1259" name="Consigne"/>
          <p:cNvSpPr txBox="1"/>
          <p:nvPr/>
        </p:nvSpPr>
        <p:spPr>
          <a:xfrm>
            <a:off x="146304" y="5998464"/>
            <a:ext cx="11896344" cy="640080"/>
          </a:xfrm>
          <a:prstGeom prst="rect">
            <a:avLst/>
          </a:prstGeom>
          <a:noFill/>
        </p:spPr>
        <p:txBody>
          <a:bodyPr wrap="square" lIns="0" tIns="54864" rIns="127000" bIns="54864" rtlCol="0" anchor="t"/>
          <a:lstStyle/>
          <a:p>
            <a:pPr>
              <a:lnSpc>
                <a:spcPts val="2128"/>
              </a:lnSpc>
              <a:spcBef>
                <a:spcPts val="0"/>
              </a:spcBef>
              <a:spcAft>
                <a:spcPts val="500"/>
              </a:spcAft>
              <a:buNone/>
            </a:pPr>
            <a:r>
              <a:rPr lang="fr-FR" sz="1900" b="0" dirty="0">
                <a:solidFill>
                  <a:srgbClr val="E5E7EB"/>
                </a:solidFill>
                <a:latin typeface="Aptos"/>
              </a:rPr>
              <a:t>Complétez la configuration selon votre hébergement et vos origines. La documentation gRPC-Web est liée à cette diapo.</a:t>
            </a:r>
          </a:p>
        </p:txBody>
      </p:sp>
      <p:sp>
        <p:nvSpPr>
          <p:cNvPr id="1260" name="TextBox 1259"/>
          <p:cNvSpPr txBox="1"/>
          <p:nvPr/>
        </p:nvSpPr>
        <p:spPr>
          <a:xfrm>
            <a:off x="11155680" y="393192"/>
            <a:ext cx="868680" cy="256032"/>
          </a:xfrm>
          <a:prstGeom prst="rect">
            <a:avLst/>
          </a:prstGeom>
          <a:noFill/>
        </p:spPr>
        <p:txBody>
          <a:bodyPr wrap="none">
            <a:spAutoFit/>
          </a:bodyPr>
          <a:lstStyle/>
          <a:p>
            <a:r>
              <a:rPr sz="900">
                <a:solidFill>
                  <a:srgbClr val="8CD3FF"/>
                </a:solidFill>
                <a:hlinkClick r:id="rId4"/>
              </a:rPr>
              <a:t>Documentation</a:t>
            </a:r>
          </a:p>
        </p:txBody>
      </p:sp>
    </p:spTree>
    <p:extLst>
      <p:ext uri="{BB962C8B-B14F-4D97-AF65-F5344CB8AC3E}">
        <p14:creationId xmlns:p14="http://schemas.microsoft.com/office/powerpoint/2010/main" val="2899108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60" name="Chapo">
            <a:hlinkClick r:id="rId3"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04 · GRPC</a:t>
            </a:r>
          </a:p>
        </p:txBody>
      </p:sp>
      <p:sp>
        <p:nvSpPr>
          <p:cNvPr id="1255"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GRPC : CRÉER LE CLIENT</a:t>
            </a:r>
          </a:p>
        </p:txBody>
      </p:sp>
      <p:cxnSp>
        <p:nvCxnSpPr>
          <p:cNvPr id="1256"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261" name="Accent titre"/>
          <p:cNvCxnSpPr/>
          <p:nvPr/>
        </p:nvCxnSpPr>
        <p:spPr>
          <a:xfrm>
            <a:off x="147535" y="894944"/>
            <a:ext cx="1100000" cy="0"/>
          </a:xfrm>
          <a:prstGeom prst="line">
            <a:avLst/>
          </a:prstGeom>
          <a:ln w="38100" cap="rnd">
            <a:solidFill>
              <a:srgbClr val="FFA53C"/>
            </a:solidFill>
          </a:ln>
        </p:spPr>
      </p:cxnSp>
      <p:sp>
        <p:nvSpPr>
          <p:cNvPr id="126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52</a:t>
            </a:r>
          </a:p>
        </p:txBody>
      </p:sp>
      <p:sp>
        <p:nvSpPr>
          <p:cNvPr id="1263" name="Exemple générique"/>
          <p:cNvSpPr/>
          <p:nvPr/>
        </p:nvSpPr>
        <p:spPr>
          <a:xfrm>
            <a:off x="146304" y="1143000"/>
            <a:ext cx="11896344" cy="2834640"/>
          </a:xfrm>
          <a:prstGeom prst="roundRect">
            <a:avLst>
              <a:gd name="adj" fmla="val 3500"/>
            </a:avLst>
          </a:prstGeom>
          <a:solidFill>
            <a:srgbClr val="11141B"/>
          </a:solidFill>
          <a:ln w="9525">
            <a:solidFill>
              <a:srgbClr val="2B3140"/>
            </a:solidFill>
          </a:ln>
        </p:spPr>
        <p:txBody>
          <a:bodyPr wrap="square" lIns="228600" tIns="54864" rIns="152400" bIns="54864" rtlCol="0" anchor="t"/>
          <a:lstStyle/>
          <a:p>
            <a:pPr marL="0">
              <a:lnSpc>
                <a:spcPts val="2128"/>
              </a:lnSpc>
              <a:spcBef>
                <a:spcPts val="0"/>
              </a:spcBef>
              <a:spcAft>
                <a:spcPts val="0"/>
              </a:spcAft>
              <a:buNone/>
            </a:pPr>
            <a:r>
              <a:rPr lang="fr-FR" sz="1900" b="0" i="0" dirty="0">
                <a:solidFill>
                  <a:srgbClr val="E5E7EB"/>
                </a:solidFill>
                <a:latin typeface="Consolas" pitchFamily="49" charset="0"/>
              </a:rPr>
              <a:t>// Exemple d’appel autonome ; packages de la diapo 51.</a:t>
            </a:r>
          </a:p>
          <a:p>
            <a:pPr marL="0">
              <a:lnSpc>
                <a:spcPts val="2128"/>
              </a:lnSpc>
              <a:spcBef>
                <a:spcPts val="0"/>
              </a:spcBef>
              <a:spcAft>
                <a:spcPts val="0"/>
              </a:spcAft>
              <a:buNone/>
            </a:pPr>
            <a:r>
              <a:rPr lang="fr-FR" sz="1900" b="0" i="0" dirty="0">
                <a:solidFill>
                  <a:srgbClr val="E5E7EB"/>
                </a:solidFill>
                <a:latin typeface="Consolas" pitchFamily="49" charset="0"/>
              </a:rPr>
              <a:t>using var channel = GrpcChannel.ForAddress("https://localhost:7001",</a:t>
            </a:r>
          </a:p>
          <a:p>
            <a:pPr marL="0">
              <a:lnSpc>
                <a:spcPts val="2128"/>
              </a:lnSpc>
              <a:spcBef>
                <a:spcPts val="0"/>
              </a:spcBef>
              <a:spcAft>
                <a:spcPts val="0"/>
              </a:spcAft>
              <a:buNone/>
            </a:pPr>
            <a:r>
              <a:rPr lang="fr-FR" sz="1900" b="0" i="0" dirty="0">
                <a:solidFill>
                  <a:srgbClr val="E5E7EB"/>
                </a:solidFill>
                <a:latin typeface="Consolas" pitchFamily="49" charset="0"/>
              </a:rPr>
              <a:t>    new GrpcChannelOptions</a:t>
            </a:r>
          </a:p>
          <a:p>
            <a:pPr marL="0">
              <a:lnSpc>
                <a:spcPts val="2128"/>
              </a:lnSpc>
              <a:spcBef>
                <a:spcPts val="0"/>
              </a:spcBef>
              <a:spcAft>
                <a:spcPts val="0"/>
              </a:spcAft>
              <a:buNone/>
            </a:pPr>
            <a:r>
              <a:rPr lang="fr-FR" sz="1900" b="0" i="0" dirty="0">
                <a:solidFill>
                  <a:srgbClr val="E5E7EB"/>
                </a:solidFill>
                <a:latin typeface="Consolas" pitchFamily="49" charset="0"/>
              </a:rPr>
              <a:t>    {</a:t>
            </a:r>
          </a:p>
          <a:p>
            <a:pPr marL="0">
              <a:lnSpc>
                <a:spcPts val="2128"/>
              </a:lnSpc>
              <a:spcBef>
                <a:spcPts val="0"/>
              </a:spcBef>
              <a:spcAft>
                <a:spcPts val="0"/>
              </a:spcAft>
              <a:buNone/>
            </a:pPr>
            <a:r>
              <a:rPr lang="fr-FR" sz="1900" b="0" i="0" dirty="0">
                <a:solidFill>
                  <a:srgbClr val="E5E7EB"/>
                </a:solidFill>
                <a:latin typeface="Consolas" pitchFamily="49" charset="0"/>
              </a:rPr>
              <a:t>        HttpHandler = new GrpcWebHandler(new HttpClientHandler())</a:t>
            </a:r>
          </a:p>
          <a:p>
            <a:pPr marL="0">
              <a:lnSpc>
                <a:spcPts val="2128"/>
              </a:lnSpc>
              <a:spcBef>
                <a:spcPts val="0"/>
              </a:spcBef>
              <a:spcAft>
                <a:spcPts val="0"/>
              </a:spcAft>
              <a:buNone/>
            </a:pPr>
            <a:r>
              <a:rPr lang="fr-FR" sz="1900" b="0" i="0" dirty="0">
                <a:solidFill>
                  <a:srgbClr val="E5E7EB"/>
                </a:solidFill>
                <a:latin typeface="Consolas" pitchFamily="49" charset="0"/>
              </a:rPr>
              <a:t>    });</a:t>
            </a:r>
          </a:p>
          <a:p>
            <a:pPr marL="0">
              <a:lnSpc>
                <a:spcPts val="2128"/>
              </a:lnSpc>
              <a:spcBef>
                <a:spcPts val="0"/>
              </a:spcBef>
              <a:spcAft>
                <a:spcPts val="0"/>
              </a:spcAft>
              <a:buNone/>
            </a:pPr>
            <a:r>
              <a:rPr lang="fr-FR" sz="1900" b="0" i="0" dirty="0">
                <a:solidFill>
                  <a:srgbClr val="E5E7EB"/>
                </a:solidFill>
                <a:latin typeface="Consolas" pitchFamily="49" charset="0"/>
              </a:rPr>
              <a:t>var client = new global::Catalogue.Grpc.Catalogue.CatalogueClient(channel);</a:t>
            </a:r>
          </a:p>
          <a:p>
            <a:pPr marL="0">
              <a:lnSpc>
                <a:spcPts val="2128"/>
              </a:lnSpc>
              <a:spcBef>
                <a:spcPts val="0"/>
              </a:spcBef>
              <a:spcAft>
                <a:spcPts val="0"/>
              </a:spcAft>
              <a:buNone/>
            </a:pPr>
            <a:r>
              <a:rPr lang="fr-FR" sz="1900" b="0" i="0" dirty="0">
                <a:solidFill>
                  <a:srgbClr val="E5E7EB"/>
                </a:solidFill>
                <a:latin typeface="Consolas" pitchFamily="49" charset="0"/>
              </a:rPr>
              <a:t>var reply = await client.FindProductAsync(new ProductQuery { Id = 1 });</a:t>
            </a:r>
          </a:p>
          <a:p>
            <a:pPr marL="0">
              <a:lnSpc>
                <a:spcPts val="2128"/>
              </a:lnSpc>
              <a:spcBef>
                <a:spcPts val="0"/>
              </a:spcBef>
              <a:spcAft>
                <a:spcPts val="0"/>
              </a:spcAft>
              <a:buNone/>
            </a:pPr>
            <a:r>
              <a:rPr lang="fr-FR" sz="1900" b="0" i="0" dirty="0">
                <a:solidFill>
                  <a:srgbClr val="E5E7EB"/>
                </a:solidFill>
                <a:latin typeface="Consolas" pitchFamily="49" charset="0"/>
              </a:rPr>
              <a:t>Console.WriteLine(reply.Name);</a:t>
            </a:r>
          </a:p>
        </p:txBody>
      </p:sp>
      <p:sp>
        <p:nvSpPr>
          <p:cNvPr id="1264" name="Contenu"/>
          <p:cNvSpPr txBox="1"/>
          <p:nvPr/>
        </p:nvSpPr>
        <p:spPr>
          <a:xfrm>
            <a:off x="146304" y="4251960"/>
            <a:ext cx="11896344" cy="224028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Intégrer le client dans votre application</a:t>
            </a:r>
          </a:p>
          <a:p>
            <a:pPr marL="285750" indent="-285750">
              <a:lnSpc>
                <a:spcPts val="2352"/>
              </a:lnSpc>
              <a:spcBef>
                <a:spcPts val="0"/>
              </a:spcBef>
              <a:spcAft>
                <a:spcPts val="500"/>
              </a:spcAft>
              <a:buNone/>
            </a:pPr>
            <a:r>
              <a:rPr lang="fr-FR" sz="2100" b="0" dirty="0">
                <a:solidFill>
                  <a:srgbClr val="E5E7EB"/>
                </a:solidFill>
                <a:latin typeface="Aptos"/>
              </a:rPr>
              <a:t>Le client généré expose les opérations du contrat. Organisez son utilisation et la durée de vie de ses dépendances.</a:t>
            </a:r>
          </a:p>
          <a:p>
            <a:pPr marL="285750" indent="-285750">
              <a:lnSpc>
                <a:spcPts val="2352"/>
              </a:lnSpc>
              <a:spcBef>
                <a:spcPts val="0"/>
              </a:spcBef>
              <a:spcAft>
                <a:spcPts val="500"/>
              </a:spcAft>
              <a:buNone/>
            </a:pPr>
            <a:r>
              <a:rPr lang="fr-FR" sz="2100" b="0" dirty="0">
                <a:solidFill>
                  <a:srgbClr val="E5E7EB"/>
                </a:solidFill>
                <a:latin typeface="Aptos"/>
              </a:rPr>
              <a:t>Définissez le comportement de l’interface quand l’appel réussit ou échoue.</a:t>
            </a:r>
          </a:p>
          <a:p>
            <a:pPr marL="285750" indent="-285750">
              <a:lnSpc>
                <a:spcPts val="2352"/>
              </a:lnSpc>
              <a:spcBef>
                <a:spcPts val="0"/>
              </a:spcBef>
              <a:spcAft>
                <a:spcPts val="500"/>
              </a:spcAft>
              <a:buNone/>
            </a:pPr>
            <a:r>
              <a:rPr lang="fr-FR" sz="2100" b="0" dirty="0">
                <a:solidFill>
                  <a:srgbClr val="E5E7EB"/>
                </a:solidFill>
                <a:latin typeface="Aptos"/>
              </a:rPr>
              <a:t>Le fonctionnement dans le navigateur fait partie de vos vérifications. Consultez la documentation gRPC-Web pour la configuration complète.</a:t>
            </a:r>
          </a:p>
        </p:txBody>
      </p:sp>
      <p:sp>
        <p:nvSpPr>
          <p:cNvPr id="1265" name="TextBox 1264"/>
          <p:cNvSpPr txBox="1"/>
          <p:nvPr/>
        </p:nvSpPr>
        <p:spPr>
          <a:xfrm>
            <a:off x="11155680" y="393192"/>
            <a:ext cx="868680" cy="256032"/>
          </a:xfrm>
          <a:prstGeom prst="rect">
            <a:avLst/>
          </a:prstGeom>
          <a:noFill/>
        </p:spPr>
        <p:txBody>
          <a:bodyPr wrap="none">
            <a:spAutoFit/>
          </a:bodyPr>
          <a:lstStyle/>
          <a:p>
            <a:r>
              <a:rPr sz="900">
                <a:solidFill>
                  <a:srgbClr val="8CD3FF"/>
                </a:solidFill>
                <a:hlinkClick r:id="rId4"/>
              </a:rPr>
              <a:t>Documentation</a:t>
            </a:r>
          </a:p>
        </p:txBody>
      </p:sp>
    </p:spTree>
    <p:extLst>
      <p:ext uri="{BB962C8B-B14F-4D97-AF65-F5344CB8AC3E}">
        <p14:creationId xmlns:p14="http://schemas.microsoft.com/office/powerpoint/2010/main" val="28991082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65" name="Numero section">
            <a:hlinkClick r:id="rId2" action="ppaction://hlinksldjump"/>
          </p:cNvPr>
          <p:cNvSpPr txBox="1"/>
          <p:nvPr/>
        </p:nvSpPr>
        <p:spPr>
          <a:xfrm>
            <a:off x="147535" y="1850000"/>
            <a:ext cx="4000000" cy="1868872"/>
          </a:xfrm>
          <a:prstGeom prst="rect">
            <a:avLst/>
          </a:prstGeom>
          <a:noFill/>
        </p:spPr>
        <p:txBody>
          <a:bodyPr wrap="square" lIns="0" tIns="0" rIns="127000" bIns="0" rtlCol="0" anchor="t"/>
          <a:lstStyle/>
          <a:p>
            <a:r>
              <a:rPr lang="fr-FR" sz="12000" spc="-100" dirty="0">
                <a:solidFill>
                  <a:srgbClr val="FFA53C"/>
                </a:solidFill>
                <a:latin typeface="Segoe UI Semibold"/>
              </a:rPr>
              <a:t>05</a:t>
            </a:r>
          </a:p>
        </p:txBody>
      </p:sp>
      <p:cxnSp>
        <p:nvCxnSpPr>
          <p:cNvPr id="1266" name="Filet section"/>
          <p:cNvCxnSpPr/>
          <p:nvPr/>
        </p:nvCxnSpPr>
        <p:spPr>
          <a:xfrm>
            <a:off x="147535" y="3700000"/>
            <a:ext cx="900000" cy="0"/>
          </a:xfrm>
          <a:prstGeom prst="line">
            <a:avLst/>
          </a:prstGeom>
          <a:ln w="50800" cap="rnd">
            <a:solidFill>
              <a:srgbClr val="FFA53C"/>
            </a:solidFill>
          </a:ln>
        </p:spPr>
      </p:cxnSp>
      <p:sp>
        <p:nvSpPr>
          <p:cNvPr id="1267" name="Section titre"/>
          <p:cNvSpPr txBox="1"/>
          <p:nvPr/>
        </p:nvSpPr>
        <p:spPr>
          <a:xfrm>
            <a:off x="147535" y="4040000"/>
            <a:ext cx="10900000" cy="800000"/>
          </a:xfrm>
          <a:prstGeom prst="rect">
            <a:avLst/>
          </a:prstGeom>
          <a:noFill/>
        </p:spPr>
        <p:txBody>
          <a:bodyPr wrap="square" lIns="0" tIns="0" rIns="127000" bIns="0" rtlCol="0" anchor="t"/>
          <a:lstStyle/>
          <a:p>
            <a:r>
              <a:rPr lang="fr-FR" sz="4400" spc="60" dirty="0">
                <a:solidFill>
                  <a:srgbClr val="FFFFFF"/>
                </a:solidFill>
                <a:latin typeface="Segoe UI Semibold"/>
              </a:rPr>
              <a:t>L’IA EN PRATIQUE</a:t>
            </a:r>
          </a:p>
        </p:txBody>
      </p:sp>
      <p:sp>
        <p:nvSpPr>
          <p:cNvPr id="1268" name="Section sous-titre"/>
          <p:cNvSpPr txBox="1"/>
          <p:nvPr/>
        </p:nvSpPr>
        <p:spPr>
          <a:xfrm>
            <a:off x="147535" y="4940000"/>
            <a:ext cx="10900000" cy="500000"/>
          </a:xfrm>
          <a:prstGeom prst="rect">
            <a:avLst/>
          </a:prstGeom>
          <a:noFill/>
        </p:spPr>
        <p:txBody>
          <a:bodyPr wrap="square" lIns="0" tIns="54864" rIns="127000" bIns="54864" rtlCol="0" anchor="t"/>
          <a:lstStyle/>
          <a:p>
            <a:pPr>
              <a:lnSpc>
                <a:spcPts val="2464"/>
              </a:lnSpc>
              <a:spcBef>
                <a:spcPts val="0"/>
              </a:spcBef>
              <a:spcAft>
                <a:spcPts val="500"/>
              </a:spcAft>
              <a:buNone/>
            </a:pPr>
            <a:r>
              <a:rPr lang="fr-FR" sz="2200" b="0" dirty="0">
                <a:solidFill>
                  <a:srgbClr val="E5E7EB"/>
                </a:solidFill>
                <a:latin typeface="Aptos"/>
              </a:rPr>
              <a:t>Démarche de vérification et structures des livrables</a:t>
            </a:r>
          </a:p>
        </p:txBody>
      </p:sp>
      <p:sp>
        <p:nvSpPr>
          <p:cNvPr id="126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53</a:t>
            </a:r>
          </a:p>
        </p:txBody>
      </p:sp>
    </p:spTree>
    <p:extLst>
      <p:ext uri="{BB962C8B-B14F-4D97-AF65-F5344CB8AC3E}">
        <p14:creationId xmlns:p14="http://schemas.microsoft.com/office/powerpoint/2010/main" val="2899108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73"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05 · L’IA EN PRATIQUE</a:t>
            </a:r>
          </a:p>
        </p:txBody>
      </p:sp>
      <p:sp>
        <p:nvSpPr>
          <p:cNvPr id="127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VÉRIFIER UNE PROPOSITION TECHNIQUE</a:t>
            </a:r>
          </a:p>
        </p:txBody>
      </p:sp>
      <p:cxnSp>
        <p:nvCxnSpPr>
          <p:cNvPr id="127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272" name="ZoneTexte"/>
          <p:cNvSpPr txBox="1"/>
          <p:nvPr/>
        </p:nvSpPr>
        <p:spPr>
          <a:xfrm>
            <a:off x="147535" y="1150000"/>
            <a:ext cx="11896927" cy="4730750"/>
          </a:xfrm>
          <a:prstGeom prst="rect">
            <a:avLst/>
          </a:prstGeom>
          <a:noFill/>
        </p:spPr>
        <p:txBody>
          <a:bodyPr wrap="square" lIns="0" tIns="0" rIns="127000" bIns="0" rtlCol="0" anchor="t"/>
          <a:lstStyle/>
          <a:p>
            <a:pPr>
              <a:spcBef>
                <a:spcPts val="600"/>
              </a:spcBef>
            </a:pPr>
            <a:r>
              <a:rPr lang="fr-FR" sz="2100" b="1" spc="60" dirty="0">
                <a:solidFill>
                  <a:srgbClr val="FFAD46"/>
                </a:solidFill>
              </a:rPr>
              <a:t>Votre contexte de travail</a:t>
            </a:r>
          </a:p>
          <a:p>
            <a:pPr marL="285750" indent="-285750">
              <a:buClr>
                <a:srgbClr val="FFA53C"/>
              </a:buClr>
              <a:buFont typeface="Arial" panose="020B0604020202020204" pitchFamily="34" charset="0"/>
              <a:buChar char="•"/>
            </a:pPr>
            <a:r>
              <a:rPr lang="fr-FR" sz="2100" b="0" dirty="0">
                <a:solidFill>
                  <a:srgbClr val="E5E7EB"/>
                </a:solidFill>
              </a:rPr>
              <a:t>Identifiez la version réellement utilisée, le style d’API imposé et les conventions du dépôt.</a:t>
            </a:r>
          </a:p>
          <a:p>
            <a:pPr marL="285750" indent="-285750">
              <a:buClr>
                <a:srgbClr val="FFA53C"/>
              </a:buClr>
              <a:buFont typeface="Arial" panose="020B0604020202020204" pitchFamily="34" charset="0"/>
              <a:buChar char="•"/>
            </a:pPr>
            <a:r>
              <a:rPr lang="fr-FR" sz="2100" b="0" dirty="0">
                <a:solidFill>
                  <a:srgbClr val="E5E7EB"/>
                </a:solidFill>
              </a:rPr>
              <a:t>Confrontez la proposition à ces contraintes avant de l’intégrer.</a:t>
            </a:r>
          </a:p>
          <a:p>
            <a:pPr marL="285750" indent="-285750">
              <a:buClr>
                <a:srgbClr val="FFA53C"/>
              </a:buClr>
              <a:buFont typeface="Arial" panose="020B0604020202020204" pitchFamily="34" charset="0"/>
              <a:buChar char="•"/>
            </a:pPr>
            <a:r>
              <a:rPr lang="fr-FR" sz="2100" b="1" dirty="0">
                <a:solidFill>
                  <a:srgbClr val="FFAD46"/>
                </a:solidFill>
              </a:rPr>
              <a:t>Une référence vérifiable</a:t>
            </a:r>
          </a:p>
          <a:p>
            <a:pPr>
              <a:spcBef>
                <a:spcPts val="600"/>
              </a:spcBef>
            </a:pPr>
            <a:r>
              <a:rPr lang="fr-FR" sz="2100" b="0" spc="60" dirty="0">
                <a:solidFill>
                  <a:srgbClr val="E5E7EB"/>
                </a:solidFill>
              </a:rPr>
              <a:t>Pour une API ou une dépendance proposée, retrouvez sa documentation et reproduisez le comportement sur lequel vous vous appuyez.</a:t>
            </a:r>
          </a:p>
          <a:p>
            <a:pPr marL="285750" indent="-285750">
              <a:buClr>
                <a:srgbClr val="FFA53C"/>
              </a:buClr>
              <a:buFont typeface="Arial" panose="020B0604020202020204" pitchFamily="34" charset="0"/>
              <a:buChar char="•"/>
            </a:pPr>
            <a:r>
              <a:rPr lang="fr-FR" sz="2100" b="0" dirty="0">
                <a:solidFill>
                  <a:srgbClr val="E5E7EB"/>
                </a:solidFill>
              </a:rPr>
              <a:t>Une référence ne prouve pas à elle seule que l’API est bien employée dans votre contexte.</a:t>
            </a:r>
          </a:p>
          <a:p>
            <a:pPr marL="285750" indent="-285750">
              <a:buClr>
                <a:srgbClr val="FFA53C"/>
              </a:buClr>
              <a:buFont typeface="Arial" panose="020B0604020202020204" pitchFamily="34" charset="0"/>
              <a:buChar char="•"/>
            </a:pPr>
            <a:r>
              <a:rPr lang="fr-FR" sz="2100" b="1" dirty="0">
                <a:solidFill>
                  <a:srgbClr val="FFAD46"/>
                </a:solidFill>
              </a:rPr>
              <a:t>Votre décision</a:t>
            </a:r>
          </a:p>
          <a:p>
            <a:pPr>
              <a:spcBef>
                <a:spcPts val="600"/>
              </a:spcBef>
            </a:pPr>
            <a:r>
              <a:rPr lang="fr-FR" sz="2100" b="0" spc="60" dirty="0">
                <a:solidFill>
                  <a:srgbClr val="E5E7EB"/>
                </a:solidFill>
              </a:rPr>
              <a:t>Comparez les options utiles. Expliquez votre choix au regard du besoin, de la lisibilité et des contraintes du projet.</a:t>
            </a:r>
          </a:p>
          <a:p>
            <a:pPr marL="285750" indent="-285750">
              <a:buClr>
                <a:srgbClr val="FFA53C"/>
              </a:buClr>
              <a:buFont typeface="Arial" panose="020B0604020202020204" pitchFamily="34" charset="0"/>
              <a:buChar char="•"/>
            </a:pPr>
            <a:r>
              <a:rPr lang="fr-FR" sz="2100" b="0" dirty="0">
                <a:solidFill>
                  <a:srgbClr val="E5E7EB"/>
                </a:solidFill>
              </a:rPr>
              <a:t>La nouveauté d’une syntaxe et le ton assuré du modèle ne démontrent ni la pertinence ni la correction de la solution.</a:t>
            </a:r>
          </a:p>
        </p:txBody>
      </p:sp>
      <p:cxnSp>
        <p:nvCxnSpPr>
          <p:cNvPr id="1274" name="Accent titre"/>
          <p:cNvCxnSpPr/>
          <p:nvPr/>
        </p:nvCxnSpPr>
        <p:spPr>
          <a:xfrm>
            <a:off x="147535" y="894944"/>
            <a:ext cx="1100000" cy="0"/>
          </a:xfrm>
          <a:prstGeom prst="line">
            <a:avLst/>
          </a:prstGeom>
          <a:ln w="38100" cap="rnd">
            <a:solidFill>
              <a:srgbClr val="FFA53C"/>
            </a:solidFill>
          </a:ln>
        </p:spPr>
      </p:cxnSp>
      <p:sp>
        <p:nvSpPr>
          <p:cNvPr id="1275"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54</a:t>
            </a:r>
          </a:p>
        </p:txBody>
      </p:sp>
    </p:spTree>
    <p:extLst>
      <p:ext uri="{BB962C8B-B14F-4D97-AF65-F5344CB8AC3E}">
        <p14:creationId xmlns:p14="http://schemas.microsoft.com/office/powerpoint/2010/main" val="28991082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79"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05 · L’IA EN PRATIQUE</a:t>
            </a:r>
          </a:p>
        </p:txBody>
      </p:sp>
      <p:sp>
        <p:nvSpPr>
          <p:cNvPr id="1276"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CONSTRUIRE VOS PROPRES VÉRIFICATIONS</a:t>
            </a:r>
          </a:p>
        </p:txBody>
      </p:sp>
      <p:cxnSp>
        <p:nvCxnSpPr>
          <p:cNvPr id="1277"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278" name="ZoneTexte"/>
          <p:cNvSpPr txBox="1"/>
          <p:nvPr/>
        </p:nvSpPr>
        <p:spPr>
          <a:xfrm>
            <a:off x="147535" y="1150000"/>
            <a:ext cx="11896927" cy="5448300"/>
          </a:xfrm>
          <a:prstGeom prst="rect">
            <a:avLst/>
          </a:prstGeom>
          <a:noFill/>
        </p:spPr>
        <p:txBody>
          <a:bodyPr wrap="square" lIns="0" tIns="0" rIns="127000" bIns="0" rtlCol="0" anchor="t"/>
          <a:lstStyle/>
          <a:p>
            <a:pPr>
              <a:spcBef>
                <a:spcPts val="600"/>
              </a:spcBef>
            </a:pPr>
            <a:r>
              <a:rPr lang="fr-FR" sz="2100" b="1" spc="60" dirty="0">
                <a:solidFill>
                  <a:srgbClr val="FFAD46"/>
                </a:solidFill>
              </a:rPr>
              <a:t>Choisir un risque réel de votre projet</a:t>
            </a:r>
          </a:p>
          <a:p>
            <a:pPr marL="285750" indent="-285750">
              <a:buClr>
                <a:srgbClr val="FFA53C"/>
              </a:buClr>
              <a:buFont typeface="Arial" panose="020B0604020202020204" pitchFamily="34" charset="0"/>
              <a:buChar char="•"/>
            </a:pPr>
            <a:r>
              <a:rPr lang="fr-FR" sz="2100" b="0" dirty="0">
                <a:solidFill>
                  <a:srgbClr val="E5E7EB"/>
                </a:solidFill>
              </a:rPr>
              <a:t>À partir de vos règles et de votre architecture, cherchez ce qui pourrait être faux malgré une démonstration réussie.</a:t>
            </a:r>
          </a:p>
          <a:p>
            <a:pPr marL="285750" indent="-285750">
              <a:buClr>
                <a:srgbClr val="FFA53C"/>
              </a:buClr>
              <a:buFont typeface="Arial" panose="020B0604020202020204" pitchFamily="34" charset="0"/>
              <a:buChar char="•"/>
            </a:pPr>
            <a:r>
              <a:rPr lang="fr-FR" sz="2100" b="0" dirty="0">
                <a:solidFill>
                  <a:srgbClr val="E5E7EB"/>
                </a:solidFill>
              </a:rPr>
              <a:t>Décrivez le résultat attendu avant d’exécuter le scénario choisi.</a:t>
            </a:r>
          </a:p>
          <a:p>
            <a:pPr marL="285750" indent="-285750">
              <a:buClr>
                <a:srgbClr val="FFA53C"/>
              </a:buClr>
              <a:buFont typeface="Arial" panose="020B0604020202020204" pitchFamily="34" charset="0"/>
              <a:buChar char="•"/>
            </a:pPr>
            <a:r>
              <a:rPr lang="fr-FR" sz="2100" b="1" dirty="0">
                <a:solidFill>
                  <a:srgbClr val="FFAD46"/>
                </a:solidFill>
              </a:rPr>
              <a:t>Concevoir une expérience qui peut échouer</a:t>
            </a:r>
          </a:p>
          <a:p>
            <a:pPr marL="285750" indent="-285750">
              <a:buClr>
                <a:srgbClr val="FFA53C"/>
              </a:buClr>
              <a:buFont typeface="Arial" panose="020B0604020202020204" pitchFamily="34" charset="0"/>
              <a:buChar char="•"/>
            </a:pPr>
            <a:r>
              <a:rPr lang="fr-FR" sz="2100" b="0" dirty="0">
                <a:solidFill>
                  <a:srgbClr val="E5E7EB"/>
                </a:solidFill>
              </a:rPr>
              <a:t>Votre vérification doit pouvoir distinguer une implémentation correcte d’une implémentation fautive. Expliquez comment.</a:t>
            </a:r>
          </a:p>
          <a:p>
            <a:pPr marL="285750" indent="-285750">
              <a:buClr>
                <a:srgbClr val="FFA53C"/>
              </a:buClr>
              <a:buFont typeface="Arial" panose="020B0604020202020204" pitchFamily="34" charset="0"/>
              <a:buChar char="•"/>
            </a:pPr>
            <a:r>
              <a:rPr lang="fr-FR" sz="2100" b="0" dirty="0">
                <a:solidFill>
                  <a:srgbClr val="E5E7EB"/>
                </a:solidFill>
              </a:rPr>
              <a:t>Réduisez le scénario pour isoler le comportement et permettre sa reproduction.</a:t>
            </a:r>
          </a:p>
          <a:p>
            <a:pPr>
              <a:spcBef>
                <a:spcPts val="600"/>
              </a:spcBef>
            </a:pPr>
            <a:r>
              <a:rPr lang="fr-FR" sz="2100" b="1" spc="60" dirty="0">
                <a:solidFill>
                  <a:srgbClr val="FFAD46"/>
                </a:solidFill>
              </a:rPr>
              <a:t>Conclure à partir des observations</a:t>
            </a:r>
          </a:p>
          <a:p>
            <a:pPr marL="285750" indent="-285750">
              <a:buClr>
                <a:srgbClr val="FFA53C"/>
              </a:buClr>
              <a:buFont typeface="Arial" panose="020B0604020202020204" pitchFamily="34" charset="0"/>
              <a:buChar char="•"/>
            </a:pPr>
            <a:r>
              <a:rPr lang="fr-FR" sz="2100" b="0" dirty="0">
                <a:solidFill>
                  <a:srgbClr val="E5E7EB"/>
                </a:solidFill>
              </a:rPr>
              <a:t>Distinguez ce que vous avez constaté, ce que vous supposez et ce qui reste à vérifier.</a:t>
            </a:r>
          </a:p>
          <a:p>
            <a:pPr marL="285750" indent="-285750">
              <a:buClr>
                <a:srgbClr val="FFA53C"/>
              </a:buClr>
              <a:buFont typeface="Arial" panose="020B0604020202020204" pitchFamily="34" charset="0"/>
              <a:buChar char="•"/>
            </a:pPr>
            <a:r>
              <a:rPr lang="fr-FR" sz="2100" b="0" dirty="0">
                <a:solidFill>
                  <a:srgbClr val="E5E7EB"/>
                </a:solidFill>
              </a:rPr>
              <a:t>Si vous corrigez le code, vérifiez que votre contrôle détectait le défaut avant correction et réussit après.</a:t>
            </a:r>
          </a:p>
          <a:p>
            <a:pPr marL="285750" indent="-285750">
              <a:buClr>
                <a:srgbClr val="FFA53C"/>
              </a:buClr>
              <a:buFont typeface="Arial" panose="020B0604020202020204" pitchFamily="34" charset="0"/>
              <a:buChar char="•"/>
            </a:pPr>
            <a:r>
              <a:rPr lang="fr-FR" sz="2100" b="0" dirty="0">
                <a:solidFill>
                  <a:srgbClr val="E5E7EB"/>
                </a:solidFill>
              </a:rPr>
              <a:t>Une revue se défend avec les faits du projet. Le nombre de tests ou la longueur du journal ne suffisent pas.</a:t>
            </a:r>
          </a:p>
        </p:txBody>
      </p:sp>
      <p:cxnSp>
        <p:nvCxnSpPr>
          <p:cNvPr id="1280" name="Accent titre"/>
          <p:cNvCxnSpPr/>
          <p:nvPr/>
        </p:nvCxnSpPr>
        <p:spPr>
          <a:xfrm>
            <a:off x="147535" y="894944"/>
            <a:ext cx="1100000" cy="0"/>
          </a:xfrm>
          <a:prstGeom prst="line">
            <a:avLst/>
          </a:prstGeom>
          <a:ln w="38100" cap="rnd">
            <a:solidFill>
              <a:srgbClr val="FFA53C"/>
            </a:solidFill>
          </a:ln>
        </p:spPr>
      </p:cxnSp>
      <p:sp>
        <p:nvSpPr>
          <p:cNvPr id="1281"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55</a:t>
            </a:r>
          </a:p>
        </p:txBody>
      </p:sp>
    </p:spTree>
    <p:extLst>
      <p:ext uri="{BB962C8B-B14F-4D97-AF65-F5344CB8AC3E}">
        <p14:creationId xmlns:p14="http://schemas.microsoft.com/office/powerpoint/2010/main" val="28991082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87"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05 · L’IA EN PRATIQUE</a:t>
            </a:r>
          </a:p>
        </p:txBody>
      </p:sp>
      <p:sp>
        <p:nvSpPr>
          <p:cNvPr id="1282"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GABARIT — PROMPTS.md</a:t>
            </a:r>
          </a:p>
        </p:txBody>
      </p:sp>
      <p:cxnSp>
        <p:nvCxnSpPr>
          <p:cNvPr id="1283"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284" name="ZoneTexte"/>
          <p:cNvSpPr txBox="1"/>
          <p:nvPr/>
        </p:nvSpPr>
        <p:spPr>
          <a:xfrm>
            <a:off x="147535" y="1150000"/>
            <a:ext cx="11896927" cy="349250"/>
          </a:xfrm>
          <a:prstGeom prst="rect">
            <a:avLst/>
          </a:prstGeom>
          <a:noFill/>
        </p:spPr>
        <p:txBody>
          <a:bodyPr wrap="square" lIns="0" tIns="0" rIns="127000" bIns="0" rtlCol="0" anchor="t"/>
          <a:lstStyle/>
          <a:p>
            <a:r>
              <a:rPr lang="fr-FR" sz="2200" dirty="0">
                <a:solidFill>
                  <a:srgbClr val="ECEEF3"/>
                </a:solidFill>
              </a:rPr>
              <a:t>À la racine du dépôt. Une entrée par prompt qui a compté — pas tous, les décisifs.</a:t>
            </a:r>
          </a:p>
        </p:txBody>
      </p:sp>
      <p:sp>
        <p:nvSpPr>
          <p:cNvPr id="1285" name="Bloc de code"/>
          <p:cNvSpPr/>
          <p:nvPr/>
        </p:nvSpPr>
        <p:spPr>
          <a:xfrm>
            <a:off x="147535" y="1649250"/>
            <a:ext cx="11896927" cy="4264000"/>
          </a:xfrm>
          <a:prstGeom prst="roundRect">
            <a:avLst>
              <a:gd name="adj" fmla="val 3500"/>
            </a:avLst>
          </a:prstGeom>
          <a:solidFill>
            <a:srgbClr val="11141B"/>
          </a:solidFill>
          <a:ln w="9525">
            <a:solidFill>
              <a:srgbClr val="2B3140"/>
            </a:solidFill>
          </a:ln>
        </p:spPr>
        <p:txBody>
          <a:bodyPr wrap="square" lIns="228600" tIns="73152" rIns="152400" bIns="73152" rtlCol="0" anchor="t"/>
          <a:lstStyle/>
          <a:p>
            <a:pPr marL="0">
              <a:lnSpc>
                <a:spcPts val="1792"/>
              </a:lnSpc>
              <a:spcBef>
                <a:spcPts val="0"/>
              </a:spcBef>
              <a:spcAft>
                <a:spcPts val="0"/>
              </a:spcAft>
            </a:pPr>
            <a:r>
              <a:rPr lang="fr-FR" sz="1600" b="0" i="0" dirty="0">
                <a:solidFill>
                  <a:srgbClr val="E5E7EB"/>
                </a:solidFill>
                <a:latin typeface="Consolas" pitchFamily="49" charset="0"/>
              </a:rPr>
              <a:t>## Date et sujet de l’échange</a:t>
            </a:r>
          </a:p>
          <a:p>
            <a:pPr>
              <a:lnSpc>
                <a:spcPts val="1792"/>
              </a:lnSpc>
              <a:spcBef>
                <a:spcPts val="0"/>
              </a:spcBef>
              <a:spcAft>
                <a:spcPts val="0"/>
              </a:spcAft>
            </a:pPr>
            <a:r>
              <a:rPr sz="1600" b="0" i="0">
                <a:solidFill>
                  <a:srgbClr val="E5E7EB"/>
                </a:solidFill>
                <a:latin typeface="Consolas"/>
              </a:rPr>
              <a:t>**Outil / modèle** : celui réellement utilisé, si connu.</a:t>
            </a:r>
          </a:p>
          <a:p>
            <a:pPr marL="0">
              <a:lnSpc>
                <a:spcPts val="1792"/>
              </a:lnSpc>
              <a:spcBef>
                <a:spcPts val="0"/>
              </a:spcBef>
              <a:spcAft>
                <a:spcPts val="0"/>
              </a:spcAft>
            </a:pPr>
            <a:r>
              <a:rPr lang="fr-FR" sz="1600" b="0" i="0" dirty="0">
                <a:solidFill>
                  <a:srgbClr val="E5E7EB"/>
                </a:solidFill>
                <a:latin typeface="Consolas" pitchFamily="49" charset="0"/>
              </a:rPr>
              <a:t>**Contexte** : besoin, contraintes et code concerné.</a:t>
            </a:r>
          </a:p>
          <a:p>
            <a:pPr marL="0">
              <a:lnSpc>
                <a:spcPts val="1792"/>
              </a:lnSpc>
              <a:spcBef>
                <a:spcPts val="0"/>
              </a:spcBef>
              <a:spcAft>
                <a:spcPts val="0"/>
              </a:spcAft>
            </a:pPr>
            <a:r>
              <a:rPr lang="fr-FR" sz="1600" b="0" i="0" dirty="0">
                <a:solidFill>
                  <a:srgbClr val="E5E7EB"/>
                </a:solidFill>
                <a:latin typeface="Consolas" pitchFamily="49" charset="0"/>
              </a:rPr>
              <a:t>**Prompt** : votre demande effective.</a:t>
            </a:r>
          </a:p>
          <a:p>
            <a:pPr>
              <a:lnSpc>
                <a:spcPts val="1792"/>
              </a:lnSpc>
              <a:spcBef>
                <a:spcPts val="0"/>
              </a:spcBef>
              <a:spcAft>
                <a:spcPts val="0"/>
              </a:spcAft>
            </a:pPr>
            <a:endParaRPr lang="fr-FR" sz="1600" b="0" i="0" dirty="0">
              <a:solidFill>
                <a:srgbClr val="E5E7EB"/>
              </a:solidFill>
              <a:latin typeface="Consolas" pitchFamily="49" charset="0"/>
            </a:endParaRPr>
          </a:p>
          <a:p>
            <a:pPr marL="0">
              <a:lnSpc>
                <a:spcPts val="1792"/>
              </a:lnSpc>
              <a:spcBef>
                <a:spcPts val="0"/>
              </a:spcBef>
              <a:spcAft>
                <a:spcPts val="0"/>
              </a:spcAft>
            </a:pPr>
            <a:r>
              <a:rPr lang="fr-FR" sz="1600" b="0" i="0" dirty="0">
                <a:solidFill>
                  <a:srgbClr val="E5E7EB"/>
                </a:solidFill>
                <a:latin typeface="Consolas" pitchFamily="49" charset="0"/>
              </a:rPr>
              <a:t>**Réponse résumée** : proposition et hypothèses de l’IA.</a:t>
            </a:r>
          </a:p>
          <a:p>
            <a:pPr marL="0">
              <a:lnSpc>
                <a:spcPts val="1792"/>
              </a:lnSpc>
              <a:spcBef>
                <a:spcPts val="0"/>
              </a:spcBef>
              <a:spcAft>
                <a:spcPts val="0"/>
              </a:spcAft>
            </a:pPr>
            <a:endParaRPr lang="fr-FR" sz="1600" b="0" i="0" dirty="0">
              <a:solidFill>
                <a:srgbClr val="E5E7EB"/>
              </a:solidFill>
              <a:latin typeface="Consolas" pitchFamily="49" charset="0"/>
            </a:endParaRPr>
          </a:p>
          <a:p>
            <a:pPr marL="0">
              <a:lnSpc>
                <a:spcPts val="1792"/>
              </a:lnSpc>
              <a:spcBef>
                <a:spcPts val="0"/>
              </a:spcBef>
              <a:spcAft>
                <a:spcPts val="0"/>
              </a:spcAft>
            </a:pPr>
            <a:r>
              <a:rPr sz="1600" b="0">
                <a:solidFill>
                  <a:srgbClr val="E5E7EB"/>
                </a:solidFill>
              </a:rPr>
              <a:t>**Décision** : acceptée, adaptée ou rejetée.</a:t>
            </a:r>
            <a:endParaRPr lang="fr-FR" sz="1600" b="0" i="0" dirty="0">
              <a:solidFill>
                <a:srgbClr val="DCE5F0"/>
              </a:solidFill>
              <a:latin typeface="Consolas" pitchFamily="49" charset="0"/>
            </a:endParaRPr>
          </a:p>
          <a:p>
            <a:pPr marL="0">
              <a:lnSpc>
                <a:spcPts val="1792"/>
              </a:lnSpc>
              <a:spcBef>
                <a:spcPts val="0"/>
              </a:spcBef>
              <a:spcAft>
                <a:spcPts val="0"/>
              </a:spcAft>
            </a:pPr>
            <a:r>
              <a:rPr lang="fr-FR" sz="1600" b="0" i="0" dirty="0">
                <a:solidFill>
                  <a:srgbClr val="E5E7EB"/>
                </a:solidFill>
                <a:latin typeface="Consolas" pitchFamily="49" charset="0"/>
              </a:rPr>
              <a:t>Expliquez pourquoi cette décision répond à votre besoin.</a:t>
            </a:r>
          </a:p>
          <a:p>
            <a:pPr marL="0">
              <a:lnSpc>
                <a:spcPts val="1792"/>
              </a:lnSpc>
              <a:spcBef>
                <a:spcPts val="0"/>
              </a:spcBef>
              <a:spcAft>
                <a:spcPts val="0"/>
              </a:spcAft>
            </a:pPr>
            <a:endParaRPr lang="fr-FR" sz="1600" b="0" i="0" dirty="0">
              <a:solidFill>
                <a:srgbClr val="E5E7EB"/>
              </a:solidFill>
              <a:latin typeface="Consolas" pitchFamily="49" charset="0"/>
            </a:endParaRPr>
          </a:p>
          <a:p>
            <a:pPr>
              <a:lnSpc>
                <a:spcPts val="1792"/>
              </a:lnSpc>
              <a:spcBef>
                <a:spcPts val="0"/>
              </a:spcBef>
              <a:spcAft>
                <a:spcPts val="0"/>
              </a:spcAft>
            </a:pPr>
            <a:r>
              <a:rPr sz="1600" b="0" i="0">
                <a:solidFill>
                  <a:srgbClr val="E5E7EB"/>
                </a:solidFill>
                <a:latin typeface="Consolas"/>
              </a:rPr>
              <a:t>**Vérification** : scénario ou commande, résultat attendu,</a:t>
            </a:r>
          </a:p>
          <a:p>
            <a:pPr marL="0">
              <a:lnSpc>
                <a:spcPts val="1792"/>
              </a:lnSpc>
              <a:spcBef>
                <a:spcPts val="0"/>
              </a:spcBef>
              <a:spcAft>
                <a:spcPts val="0"/>
              </a:spcAft>
            </a:pPr>
            <a:r>
              <a:rPr lang="fr-FR" sz="1600" b="0" i="0" dirty="0">
                <a:solidFill>
                  <a:srgbClr val="E5E7EB"/>
                </a:solidFill>
                <a:latin typeface="Consolas" pitchFamily="49" charset="0"/>
              </a:rPr>
              <a:t>résultat observé et portée du contrôle.</a:t>
            </a:r>
          </a:p>
          <a:p>
            <a:pPr>
              <a:lnSpc>
                <a:spcPts val="1792"/>
              </a:lnSpc>
              <a:spcBef>
                <a:spcPts val="0"/>
              </a:spcBef>
              <a:spcAft>
                <a:spcPts val="0"/>
              </a:spcAft>
            </a:pPr>
            <a:endParaRPr lang="fr-FR" sz="1600" b="0" i="0" dirty="0">
              <a:solidFill>
                <a:srgbClr val="E5E7EB"/>
              </a:solidFill>
              <a:latin typeface="Consolas" pitchFamily="49" charset="0"/>
            </a:endParaRPr>
          </a:p>
          <a:p>
            <a:pPr marL="0">
              <a:lnSpc>
                <a:spcPts val="1792"/>
              </a:lnSpc>
              <a:spcBef>
                <a:spcPts val="0"/>
              </a:spcBef>
              <a:spcAft>
                <a:spcPts val="0"/>
              </a:spcAft>
            </a:pPr>
            <a:r>
              <a:rPr lang="fr-FR" sz="1600" b="0" i="0" dirty="0">
                <a:solidFill>
                  <a:srgbClr val="E5E7EB"/>
                </a:solidFill>
                <a:latin typeface="Consolas" pitchFamily="49" charset="0"/>
              </a:rPr>
              <a:t>**Preuve** : lien vers le commit et les éléments reproductibles.</a:t>
            </a:r>
          </a:p>
          <a:p>
            <a:pPr marL="0">
              <a:lnSpc>
                <a:spcPts val="1792"/>
              </a:lnSpc>
              <a:spcBef>
                <a:spcPts val="0"/>
              </a:spcBef>
              <a:spcAft>
                <a:spcPts val="0"/>
              </a:spcAft>
            </a:pPr>
            <a:r>
              <a:rPr lang="fr-FR" sz="1600" b="0" i="0" dirty="0">
                <a:solidFill>
                  <a:srgbClr val="E5E7EB"/>
                </a:solidFill>
                <a:latin typeface="Consolas" pitchFamily="49" charset="0"/>
              </a:rPr>
              <a:t>Consignez vos échanges réels ; le gabarit ne fournit pas l’analyse.</a:t>
            </a:r>
          </a:p>
        </p:txBody>
      </p:sp>
      <p:sp>
        <p:nvSpPr>
          <p:cNvPr id="1286" name="ZoneTexte"/>
          <p:cNvSpPr txBox="1"/>
          <p:nvPr/>
        </p:nvSpPr>
        <p:spPr>
          <a:xfrm>
            <a:off x="147535" y="6063250"/>
            <a:ext cx="11896927" cy="349250"/>
          </a:xfrm>
          <a:prstGeom prst="rect">
            <a:avLst/>
          </a:prstGeom>
          <a:noFill/>
        </p:spPr>
        <p:txBody>
          <a:bodyPr wrap="square" lIns="0" tIns="0" rIns="127000" bIns="0" rtlCol="0" anchor="t"/>
          <a:lstStyle/>
          <a:p>
            <a:r>
              <a:rPr lang="fr-FR" sz="1900" dirty="0">
                <a:solidFill>
                  <a:srgbClr val="7A808F"/>
                </a:solidFill>
              </a:rPr>
              <a:t>Chaque entrée éclaire une décision réelle et les éléments qui l’étayent.</a:t>
            </a:r>
          </a:p>
        </p:txBody>
      </p:sp>
      <p:cxnSp>
        <p:nvCxnSpPr>
          <p:cNvPr id="1288" name="Accent titre"/>
          <p:cNvCxnSpPr/>
          <p:nvPr/>
        </p:nvCxnSpPr>
        <p:spPr>
          <a:xfrm>
            <a:off x="147535" y="894944"/>
            <a:ext cx="1100000" cy="0"/>
          </a:xfrm>
          <a:prstGeom prst="line">
            <a:avLst/>
          </a:prstGeom>
          <a:ln w="38100" cap="rnd">
            <a:solidFill>
              <a:srgbClr val="FFA53C"/>
            </a:solidFill>
          </a:ln>
        </p:spPr>
      </p:cxnSp>
      <p:sp>
        <p:nvSpPr>
          <p:cNvPr id="1289"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56</a:t>
            </a:r>
          </a:p>
        </p:txBody>
      </p:sp>
    </p:spTree>
    <p:extLst>
      <p:ext uri="{BB962C8B-B14F-4D97-AF65-F5344CB8AC3E}">
        <p14:creationId xmlns:p14="http://schemas.microsoft.com/office/powerpoint/2010/main" val="28991082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29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05 · L’IA EN PRATIQUE</a:t>
            </a:r>
          </a:p>
        </p:txBody>
      </p:sp>
      <p:sp>
        <p:nvSpPr>
          <p:cNvPr id="1290"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GABARIT — ADR</a:t>
            </a:r>
          </a:p>
        </p:txBody>
      </p:sp>
      <p:cxnSp>
        <p:nvCxnSpPr>
          <p:cNvPr id="1291"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292" name="ZoneTexte"/>
          <p:cNvSpPr txBox="1"/>
          <p:nvPr/>
        </p:nvSpPr>
        <p:spPr>
          <a:xfrm>
            <a:off x="147535" y="1150000"/>
            <a:ext cx="11896927" cy="508000"/>
          </a:xfrm>
          <a:prstGeom prst="rect">
            <a:avLst/>
          </a:prstGeom>
          <a:noFill/>
        </p:spPr>
        <p:txBody>
          <a:bodyPr wrap="square" lIns="0" tIns="0" rIns="127000" bIns="0" rtlCol="0" anchor="t"/>
          <a:lstStyle/>
          <a:p>
            <a:r>
              <a:rPr lang="fr-FR" sz="2000" dirty="0">
                <a:solidFill>
                  <a:srgbClr val="ECEEF3"/>
                </a:solidFill>
              </a:rPr>
              <a:t>Un ADR par choix structurant ; conservez l’historique et actualisez son statut.</a:t>
            </a:r>
          </a:p>
        </p:txBody>
      </p:sp>
      <p:sp>
        <p:nvSpPr>
          <p:cNvPr id="1293" name="Bloc de code"/>
          <p:cNvSpPr/>
          <p:nvPr/>
        </p:nvSpPr>
        <p:spPr>
          <a:xfrm>
            <a:off x="147535" y="1808000"/>
            <a:ext cx="11896927" cy="4740250"/>
          </a:xfrm>
          <a:prstGeom prst="roundRect">
            <a:avLst>
              <a:gd name="adj" fmla="val 3500"/>
            </a:avLst>
          </a:prstGeom>
          <a:solidFill>
            <a:srgbClr val="11141B"/>
          </a:solidFill>
          <a:ln w="9525">
            <a:solidFill>
              <a:srgbClr val="2B3140"/>
            </a:solidFill>
          </a:ln>
        </p:spPr>
        <p:txBody>
          <a:bodyPr wrap="square" lIns="228600" tIns="100000" rIns="152400" bIns="100000" rtlCol="0" anchor="t"/>
          <a:lstStyle/>
          <a:p>
            <a:pPr marL="0">
              <a:lnSpc>
                <a:spcPts val="1456"/>
              </a:lnSpc>
              <a:spcBef>
                <a:spcPts val="0"/>
              </a:spcBef>
              <a:spcAft>
                <a:spcPts val="0"/>
              </a:spcAft>
            </a:pPr>
            <a:r>
              <a:rPr lang="fr-FR" sz="1300" b="0" i="0" dirty="0">
                <a:solidFill>
                  <a:srgbClr val="E5E7EB"/>
                </a:solidFill>
                <a:latin typeface="Consolas" pitchFamily="49" charset="0"/>
              </a:rPr>
              <a:t># ADR numéro : intitulé de la décision</a:t>
            </a:r>
          </a:p>
          <a:p>
            <a:pPr>
              <a:lnSpc>
                <a:spcPts val="1456"/>
              </a:lnSpc>
              <a:spcBef>
                <a:spcPts val="0"/>
              </a:spcBef>
              <a:spcAft>
                <a:spcPts val="0"/>
              </a:spcAft>
            </a:pPr>
            <a:endParaRPr lang="fr-FR" sz="130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 Statut et date</a:t>
            </a:r>
          </a:p>
          <a:p>
            <a:pPr marL="0">
              <a:lnSpc>
                <a:spcPts val="1456"/>
              </a:lnSpc>
              <a:spcBef>
                <a:spcPts val="0"/>
              </a:spcBef>
              <a:spcAft>
                <a:spcPts val="0"/>
              </a:spcAft>
            </a:pPr>
            <a:r>
              <a:rPr lang="fr-FR" sz="1300" b="0" i="0" dirty="0">
                <a:solidFill>
                  <a:srgbClr val="E5E7EB"/>
                </a:solidFill>
                <a:latin typeface="Consolas" pitchFamily="49" charset="0"/>
              </a:rPr>
              <a:t>Proposé, accepté ou remplacé ; référence de l’ADR suivant si nécessaire.</a:t>
            </a:r>
          </a:p>
          <a:p>
            <a:pPr>
              <a:lnSpc>
                <a:spcPts val="1456"/>
              </a:lnSpc>
              <a:spcBef>
                <a:spcPts val="0"/>
              </a:spcBef>
              <a:spcAft>
                <a:spcPts val="0"/>
              </a:spcAft>
            </a:pPr>
            <a:endParaRPr lang="fr-FR" sz="130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 Contexte</a:t>
            </a:r>
          </a:p>
          <a:p>
            <a:pPr marL="0">
              <a:lnSpc>
                <a:spcPts val="1456"/>
              </a:lnSpc>
              <a:spcBef>
                <a:spcPts val="0"/>
              </a:spcBef>
              <a:spcAft>
                <a:spcPts val="0"/>
              </a:spcAft>
            </a:pPr>
            <a:r>
              <a:rPr lang="fr-FR" sz="1300" b="0" i="0" dirty="0">
                <a:solidFill>
                  <a:srgbClr val="E5E7EB"/>
                </a:solidFill>
                <a:latin typeface="Consolas" pitchFamily="49" charset="0"/>
              </a:rPr>
              <a:t>Besoin à satisfaire, contraintes et enjeu de la décision.</a:t>
            </a:r>
          </a:p>
          <a:p>
            <a:pPr marL="0">
              <a:lnSpc>
                <a:spcPts val="1456"/>
              </a:lnSpc>
              <a:spcBef>
                <a:spcPts val="0"/>
              </a:spcBef>
              <a:spcAft>
                <a:spcPts val="0"/>
              </a:spcAft>
            </a:pPr>
            <a:endParaRPr lang="fr-FR" sz="1300" b="0" i="0" dirty="0">
              <a:solidFill>
                <a:srgbClr val="E5E7EB"/>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 Options envisagées</a:t>
            </a:r>
          </a:p>
          <a:p>
            <a:pPr>
              <a:lnSpc>
                <a:spcPts val="1456"/>
              </a:lnSpc>
              <a:spcBef>
                <a:spcPts val="0"/>
              </a:spcBef>
              <a:spcAft>
                <a:spcPts val="0"/>
              </a:spcAft>
            </a:pPr>
            <a:r>
              <a:rPr sz="1300" b="0">
                <a:solidFill>
                  <a:srgbClr val="E5E7EB"/>
                </a:solidFill>
              </a:rPr>
              <a:t>Alternatives crédibles, avantages, limites et critères de comparaison.</a:t>
            </a:r>
            <a:endParaRPr lang="fr-FR" sz="1300" i="0" dirty="0">
              <a:solidFill>
                <a:srgbClr val="DCE5F0"/>
              </a:solidFill>
              <a:latin typeface="Consolas" pitchFamily="49" charset="0"/>
            </a:endParaRPr>
          </a:p>
          <a:p>
            <a:pPr marL="0">
              <a:lnSpc>
                <a:spcPts val="1456"/>
              </a:lnSpc>
              <a:spcBef>
                <a:spcPts val="0"/>
              </a:spcBef>
              <a:spcAft>
                <a:spcPts val="0"/>
              </a:spcAft>
            </a:pPr>
            <a:endParaRPr lang="fr-FR" sz="130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 Décision</a:t>
            </a:r>
          </a:p>
          <a:p>
            <a:pPr marL="0">
              <a:lnSpc>
                <a:spcPts val="1456"/>
              </a:lnSpc>
              <a:spcBef>
                <a:spcPts val="0"/>
              </a:spcBef>
              <a:spcAft>
                <a:spcPts val="0"/>
              </a:spcAft>
            </a:pPr>
            <a:r>
              <a:rPr lang="fr-FR" sz="1300" b="0" i="0" dirty="0">
                <a:solidFill>
                  <a:srgbClr val="E5E7EB"/>
                </a:solidFill>
                <a:latin typeface="Consolas" pitchFamily="49" charset="0"/>
              </a:rPr>
              <a:t>Option retenue et raisons du choix dans votre contexte.</a:t>
            </a:r>
          </a:p>
          <a:p>
            <a:pPr marL="0">
              <a:lnSpc>
                <a:spcPts val="1456"/>
              </a:lnSpc>
              <a:spcBef>
                <a:spcPts val="0"/>
              </a:spcBef>
              <a:spcAft>
                <a:spcPts val="0"/>
              </a:spcAft>
            </a:pPr>
            <a:endParaRPr lang="fr-FR" sz="1300" b="0" i="0" dirty="0">
              <a:solidFill>
                <a:srgbClr val="E5E7EB"/>
              </a:solidFill>
              <a:latin typeface="Consolas" pitchFamily="49" charset="0"/>
            </a:endParaRPr>
          </a:p>
          <a:p>
            <a:pPr>
              <a:lnSpc>
                <a:spcPts val="1456"/>
              </a:lnSpc>
              <a:spcBef>
                <a:spcPts val="0"/>
              </a:spcBef>
              <a:spcAft>
                <a:spcPts val="0"/>
              </a:spcAft>
            </a:pPr>
            <a:r>
              <a:rPr sz="1300" b="0">
                <a:solidFill>
                  <a:srgbClr val="E5E7EB"/>
                </a:solidFill>
              </a:rPr>
              <a:t>## Conséquences</a:t>
            </a:r>
            <a:endParaRPr lang="fr-FR" sz="130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Effets attendus, compromis, risques et travail induit.</a:t>
            </a:r>
          </a:p>
          <a:p>
            <a:pPr marL="0">
              <a:lnSpc>
                <a:spcPts val="1456"/>
              </a:lnSpc>
              <a:spcBef>
                <a:spcPts val="0"/>
              </a:spcBef>
              <a:spcAft>
                <a:spcPts val="0"/>
              </a:spcAft>
            </a:pPr>
            <a:endParaRPr lang="fr-FR" sz="1300" b="0" i="0" dirty="0">
              <a:solidFill>
                <a:srgbClr val="E5E7EB"/>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 Vérification et réexamen</a:t>
            </a:r>
          </a:p>
          <a:p>
            <a:pPr>
              <a:lnSpc>
                <a:spcPts val="1456"/>
              </a:lnSpc>
              <a:spcBef>
                <a:spcPts val="0"/>
              </a:spcBef>
              <a:spcAft>
                <a:spcPts val="0"/>
              </a:spcAft>
            </a:pPr>
            <a:r>
              <a:rPr sz="1300" b="0">
                <a:solidFill>
                  <a:srgbClr val="E5E7EB"/>
                </a:solidFill>
              </a:rPr>
              <a:t>Éléments qui étayent le choix ; conditions qui conduiraient à le revoir.</a:t>
            </a:r>
            <a:endParaRPr lang="fr-FR" sz="1300" i="0" dirty="0">
              <a:solidFill>
                <a:srgbClr val="DCE5F0"/>
              </a:solidFill>
              <a:latin typeface="Consolas" pitchFamily="49" charset="0"/>
            </a:endParaRPr>
          </a:p>
          <a:p>
            <a:pPr marL="0">
              <a:lnSpc>
                <a:spcPts val="1456"/>
              </a:lnSpc>
              <a:spcBef>
                <a:spcPts val="0"/>
              </a:spcBef>
              <a:spcAft>
                <a:spcPts val="0"/>
              </a:spcAft>
            </a:pPr>
            <a:endParaRPr lang="fr-FR" sz="130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 Références</a:t>
            </a:r>
          </a:p>
          <a:p>
            <a:pPr marL="0">
              <a:lnSpc>
                <a:spcPts val="1456"/>
              </a:lnSpc>
              <a:spcBef>
                <a:spcPts val="0"/>
              </a:spcBef>
              <a:spcAft>
                <a:spcPts val="0"/>
              </a:spcAft>
            </a:pPr>
            <a:r>
              <a:rPr lang="fr-FR" sz="1300" b="0" i="0" dirty="0">
                <a:solidFill>
                  <a:srgbClr val="E5E7EB"/>
                </a:solidFill>
                <a:latin typeface="Consolas" pitchFamily="49" charset="0"/>
              </a:rPr>
              <a:t>Liens utiles : documentation, issue, expérience ou commit.</a:t>
            </a:r>
          </a:p>
        </p:txBody>
      </p:sp>
      <p:cxnSp>
        <p:nvCxnSpPr>
          <p:cNvPr id="1295" name="Accent titre"/>
          <p:cNvCxnSpPr/>
          <p:nvPr/>
        </p:nvCxnSpPr>
        <p:spPr>
          <a:xfrm>
            <a:off x="147535" y="894944"/>
            <a:ext cx="1100000" cy="0"/>
          </a:xfrm>
          <a:prstGeom prst="line">
            <a:avLst/>
          </a:prstGeom>
          <a:ln w="38100" cap="rnd">
            <a:solidFill>
              <a:srgbClr val="FFA53C"/>
            </a:solidFill>
          </a:ln>
        </p:spPr>
      </p:cxnSp>
      <p:sp>
        <p:nvSpPr>
          <p:cNvPr id="129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57</a:t>
            </a:r>
          </a:p>
        </p:txBody>
      </p:sp>
    </p:spTree>
    <p:extLst>
      <p:ext uri="{BB962C8B-B14F-4D97-AF65-F5344CB8AC3E}">
        <p14:creationId xmlns:p14="http://schemas.microsoft.com/office/powerpoint/2010/main" val="28991082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301"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05 · L’IA EN PRATIQUE</a:t>
            </a:r>
          </a:p>
        </p:txBody>
      </p:sp>
      <p:sp>
        <p:nvSpPr>
          <p:cNvPr id="129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GABARIT — REVUE-IA.md</a:t>
            </a:r>
          </a:p>
        </p:txBody>
      </p:sp>
      <p:cxnSp>
        <p:nvCxnSpPr>
          <p:cNvPr id="129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299" name="ZoneTexte"/>
          <p:cNvSpPr txBox="1"/>
          <p:nvPr/>
        </p:nvSpPr>
        <p:spPr>
          <a:xfrm>
            <a:off x="147535" y="1150000"/>
            <a:ext cx="11896927" cy="317500"/>
          </a:xfrm>
          <a:prstGeom prst="rect">
            <a:avLst/>
          </a:prstGeom>
          <a:noFill/>
        </p:spPr>
        <p:txBody>
          <a:bodyPr wrap="square" lIns="0" tIns="0" rIns="127000" bIns="0" rtlCol="0" anchor="t"/>
          <a:lstStyle/>
          <a:p>
            <a:r>
              <a:rPr lang="fr-FR" sz="2000" dirty="0">
                <a:solidFill>
                  <a:srgbClr val="ECEEF3"/>
                </a:solidFill>
              </a:rPr>
              <a:t>Trois revues minimum : propositions acceptées, adaptées ou rejetées, avec des preuves réelles.</a:t>
            </a:r>
          </a:p>
        </p:txBody>
      </p:sp>
      <p:sp>
        <p:nvSpPr>
          <p:cNvPr id="1300" name="Bloc de code"/>
          <p:cNvSpPr/>
          <p:nvPr/>
        </p:nvSpPr>
        <p:spPr>
          <a:xfrm>
            <a:off x="147535" y="1617500"/>
            <a:ext cx="11896927" cy="4740250"/>
          </a:xfrm>
          <a:prstGeom prst="roundRect">
            <a:avLst>
              <a:gd name="adj" fmla="val 3500"/>
            </a:avLst>
          </a:prstGeom>
          <a:solidFill>
            <a:srgbClr val="11141B"/>
          </a:solidFill>
          <a:ln w="9525">
            <a:solidFill>
              <a:srgbClr val="2B3140"/>
            </a:solidFill>
          </a:ln>
        </p:spPr>
        <p:txBody>
          <a:bodyPr wrap="square" lIns="228600" tIns="73152" rIns="152400" bIns="73152" rtlCol="0" anchor="t"/>
          <a:lstStyle/>
          <a:p>
            <a:pPr marL="0">
              <a:lnSpc>
                <a:spcPts val="1456"/>
              </a:lnSpc>
              <a:spcBef>
                <a:spcPts val="0"/>
              </a:spcBef>
              <a:spcAft>
                <a:spcPts val="0"/>
              </a:spcAft>
            </a:pPr>
            <a:r>
              <a:rPr lang="fr-FR" sz="1300" b="0" i="0" dirty="0">
                <a:solidFill>
                  <a:srgbClr val="E5E7EB"/>
                </a:solidFill>
                <a:latin typeface="Consolas" pitchFamily="49" charset="0"/>
              </a:rPr>
              <a:t>## Revue : un sujet précis de votre projet</a:t>
            </a:r>
          </a:p>
          <a:p>
            <a:pPr>
              <a:lnSpc>
                <a:spcPts val="1456"/>
              </a:lnSpc>
              <a:spcBef>
                <a:spcPts val="0"/>
              </a:spcBef>
              <a:spcAft>
                <a:spcPts val="0"/>
              </a:spcAft>
            </a:pPr>
            <a:r>
              <a:rPr sz="1300" b="0" i="0">
                <a:solidFill>
                  <a:srgbClr val="E5E7EB"/>
                </a:solidFill>
                <a:latin typeface="Consolas"/>
              </a:rPr>
              <a:t>**Proposition examinée**</a:t>
            </a:r>
          </a:p>
          <a:p>
            <a:pPr marL="0">
              <a:lnSpc>
                <a:spcPts val="1456"/>
              </a:lnSpc>
              <a:spcBef>
                <a:spcPts val="0"/>
              </a:spcBef>
              <a:spcAft>
                <a:spcPts val="0"/>
              </a:spcAft>
            </a:pPr>
            <a:r>
              <a:rPr lang="fr-FR" sz="1300" b="0" i="0" dirty="0">
                <a:solidFill>
                  <a:srgbClr val="E5E7EB"/>
                </a:solidFill>
                <a:latin typeface="Consolas" pitchFamily="49" charset="0"/>
              </a:rPr>
              <a:t>Code ou choix concerné, avec sa référence dans le dépôt.</a:t>
            </a:r>
          </a:p>
          <a:p>
            <a:pPr marL="0">
              <a:lnSpc>
                <a:spcPts val="1456"/>
              </a:lnSpc>
              <a:spcBef>
                <a:spcPts val="0"/>
              </a:spcBef>
              <a:spcAft>
                <a:spcPts val="0"/>
              </a:spcAft>
            </a:pPr>
            <a:endParaRPr lang="fr-FR" sz="1300" b="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**Hypothèse à vérifier**</a:t>
            </a:r>
          </a:p>
          <a:p>
            <a:pPr marL="0">
              <a:lnSpc>
                <a:spcPts val="1456"/>
              </a:lnSpc>
              <a:spcBef>
                <a:spcPts val="0"/>
              </a:spcBef>
              <a:spcAft>
                <a:spcPts val="0"/>
              </a:spcAft>
            </a:pPr>
            <a:r>
              <a:rPr lang="fr-FR" sz="1300" b="0" i="0" dirty="0">
                <a:solidFill>
                  <a:srgbClr val="E5E7EB"/>
                </a:solidFill>
                <a:latin typeface="Consolas" pitchFamily="49" charset="0"/>
              </a:rPr>
              <a:t>Ce qui doit être vrai pour que cette proposition soit acceptable.</a:t>
            </a:r>
          </a:p>
          <a:p>
            <a:pPr>
              <a:lnSpc>
                <a:spcPts val="1456"/>
              </a:lnSpc>
              <a:spcBef>
                <a:spcPts val="0"/>
              </a:spcBef>
              <a:spcAft>
                <a:spcPts val="0"/>
              </a:spcAft>
            </a:pPr>
            <a:endParaRPr lang="fr-FR" sz="1300" b="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**Expérience**</a:t>
            </a:r>
          </a:p>
          <a:p>
            <a:pPr marL="0">
              <a:lnSpc>
                <a:spcPts val="1456"/>
              </a:lnSpc>
              <a:spcBef>
                <a:spcPts val="0"/>
              </a:spcBef>
              <a:spcAft>
                <a:spcPts val="0"/>
              </a:spcAft>
            </a:pPr>
            <a:r>
              <a:rPr lang="fr-FR" sz="1300" b="0" i="0" dirty="0">
                <a:solidFill>
                  <a:srgbClr val="E5E7EB"/>
                </a:solidFill>
                <a:latin typeface="Consolas" pitchFamily="49" charset="0"/>
              </a:rPr>
              <a:t>Scénario, données ou commande ; résultat attendu avant exécution.</a:t>
            </a:r>
          </a:p>
          <a:p>
            <a:pPr marL="0">
              <a:lnSpc>
                <a:spcPts val="1456"/>
              </a:lnSpc>
              <a:spcBef>
                <a:spcPts val="0"/>
              </a:spcBef>
              <a:spcAft>
                <a:spcPts val="0"/>
              </a:spcAft>
            </a:pPr>
            <a:r>
              <a:rPr lang="fr-FR" sz="1300" b="0" i="0" dirty="0">
                <a:solidFill>
                  <a:srgbClr val="E5E7EB"/>
                </a:solidFill>
                <a:latin typeface="Consolas" pitchFamily="49" charset="0"/>
              </a:rPr>
              <a:t>Quelle erreur ce contrôle serait-il capable de détecter ?</a:t>
            </a:r>
          </a:p>
          <a:p>
            <a:pPr marL="0">
              <a:lnSpc>
                <a:spcPts val="1456"/>
              </a:lnSpc>
              <a:spcBef>
                <a:spcPts val="0"/>
              </a:spcBef>
              <a:spcAft>
                <a:spcPts val="0"/>
              </a:spcAft>
            </a:pPr>
            <a:endParaRPr lang="fr-FR" sz="1300" b="0" i="0" dirty="0">
              <a:solidFill>
                <a:srgbClr val="DCE5F0"/>
              </a:solidFill>
              <a:latin typeface="Consolas" pitchFamily="49" charset="0"/>
            </a:endParaRPr>
          </a:p>
          <a:p>
            <a:pPr>
              <a:lnSpc>
                <a:spcPts val="1456"/>
              </a:lnSpc>
              <a:spcBef>
                <a:spcPts val="0"/>
              </a:spcBef>
              <a:spcAft>
                <a:spcPts val="0"/>
              </a:spcAft>
            </a:pPr>
            <a:r>
              <a:rPr sz="1300" b="0" i="0">
                <a:solidFill>
                  <a:srgbClr val="E5E7EB"/>
                </a:solidFill>
                <a:latin typeface="Consolas"/>
              </a:rPr>
              <a:t>**Observation**</a:t>
            </a:r>
          </a:p>
          <a:p>
            <a:pPr marL="0">
              <a:lnSpc>
                <a:spcPts val="1456"/>
              </a:lnSpc>
              <a:spcBef>
                <a:spcPts val="0"/>
              </a:spcBef>
              <a:spcAft>
                <a:spcPts val="0"/>
              </a:spcAft>
            </a:pPr>
            <a:r>
              <a:rPr lang="fr-FR" sz="1300" b="0" i="0" dirty="0">
                <a:solidFill>
                  <a:srgbClr val="E5E7EB"/>
                </a:solidFill>
                <a:latin typeface="Consolas" pitchFamily="49" charset="0"/>
              </a:rPr>
              <a:t>Résultat réellement obtenu et éléments permettant de le reproduire.</a:t>
            </a:r>
          </a:p>
          <a:p>
            <a:pPr marL="0">
              <a:lnSpc>
                <a:spcPts val="1456"/>
              </a:lnSpc>
              <a:spcBef>
                <a:spcPts val="0"/>
              </a:spcBef>
              <a:spcAft>
                <a:spcPts val="0"/>
              </a:spcAft>
            </a:pPr>
            <a:endParaRPr lang="fr-FR" sz="1300" b="0" i="0" dirty="0">
              <a:solidFill>
                <a:srgbClr val="E5E7EB"/>
              </a:solidFill>
              <a:latin typeface="Consolas" pitchFamily="49" charset="0"/>
            </a:endParaRPr>
          </a:p>
          <a:p>
            <a:pPr>
              <a:lnSpc>
                <a:spcPts val="1456"/>
              </a:lnSpc>
              <a:spcBef>
                <a:spcPts val="0"/>
              </a:spcBef>
              <a:spcAft>
                <a:spcPts val="0"/>
              </a:spcAft>
            </a:pPr>
            <a:r>
              <a:rPr sz="1300" b="0">
                <a:solidFill>
                  <a:srgbClr val="E5E7EB"/>
                </a:solidFill>
              </a:rPr>
              <a:t>**Décision et justification**</a:t>
            </a:r>
            <a:endParaRPr lang="fr-FR" sz="1300" b="0" i="0" dirty="0">
              <a:solidFill>
                <a:srgbClr val="DCE5F0"/>
              </a:solidFill>
              <a:latin typeface="Consolas" pitchFamily="49" charset="0"/>
            </a:endParaRPr>
          </a:p>
          <a:p>
            <a:pPr marL="0">
              <a:lnSpc>
                <a:spcPts val="1456"/>
              </a:lnSpc>
              <a:spcBef>
                <a:spcPts val="0"/>
              </a:spcBef>
              <a:spcAft>
                <a:spcPts val="0"/>
              </a:spcAft>
            </a:pPr>
            <a:r>
              <a:rPr lang="fr-FR" sz="1300" b="0" i="0" dirty="0">
                <a:solidFill>
                  <a:srgbClr val="E5E7EB"/>
                </a:solidFill>
                <a:latin typeface="Consolas" pitchFamily="49" charset="0"/>
              </a:rPr>
              <a:t>Acceptée, adaptée ou rejetée ; raisons fondées sur les observations.</a:t>
            </a:r>
          </a:p>
          <a:p>
            <a:pPr marL="0">
              <a:lnSpc>
                <a:spcPts val="1456"/>
              </a:lnSpc>
              <a:spcBef>
                <a:spcPts val="0"/>
              </a:spcBef>
              <a:spcAft>
                <a:spcPts val="0"/>
              </a:spcAft>
            </a:pPr>
            <a:endParaRPr lang="fr-FR" sz="1300" b="0" i="0" dirty="0">
              <a:solidFill>
                <a:srgbClr val="E5E7EB"/>
              </a:solidFill>
              <a:latin typeface="Consolas" pitchFamily="49" charset="0"/>
            </a:endParaRPr>
          </a:p>
          <a:p>
            <a:pPr marL="0">
              <a:lnSpc>
                <a:spcPts val="1456"/>
              </a:lnSpc>
              <a:spcBef>
                <a:spcPts val="0"/>
              </a:spcBef>
              <a:spcAft>
                <a:spcPts val="0"/>
              </a:spcAft>
            </a:pPr>
            <a:r>
              <a:rPr sz="1300" b="0">
                <a:solidFill>
                  <a:srgbClr val="E5E7EB"/>
                </a:solidFill>
              </a:rPr>
              <a:t>**Preuves et limites**</a:t>
            </a:r>
            <a:endParaRPr lang="fr-FR" sz="1300" b="0" i="0" dirty="0">
              <a:solidFill>
                <a:srgbClr val="DCE5F0"/>
              </a:solidFill>
              <a:latin typeface="Consolas" pitchFamily="49" charset="0"/>
            </a:endParaRPr>
          </a:p>
          <a:p>
            <a:pPr>
              <a:lnSpc>
                <a:spcPts val="1456"/>
              </a:lnSpc>
              <a:spcBef>
                <a:spcPts val="0"/>
              </a:spcBef>
              <a:spcAft>
                <a:spcPts val="0"/>
              </a:spcAft>
            </a:pPr>
            <a:r>
              <a:rPr sz="1300" b="0" i="0">
                <a:solidFill>
                  <a:srgbClr val="E5E7EB"/>
                </a:solidFill>
                <a:latin typeface="Consolas"/>
              </a:rPr>
              <a:t>Liens vers les commits et les tests ; ce qui reste non vérifié.</a:t>
            </a:r>
          </a:p>
          <a:p>
            <a:pPr marL="0">
              <a:lnSpc>
                <a:spcPts val="1456"/>
              </a:lnSpc>
              <a:spcBef>
                <a:spcPts val="0"/>
              </a:spcBef>
              <a:spcAft>
                <a:spcPts val="0"/>
              </a:spcAft>
            </a:pPr>
            <a:r>
              <a:rPr lang="fr-FR" sz="1300" b="0" i="0" dirty="0">
                <a:solidFill>
                  <a:srgbClr val="E5E7EB"/>
                </a:solidFill>
                <a:latin typeface="Consolas" pitchFamily="49" charset="0"/>
              </a:rPr>
              <a:t>Après correction, comparez le résultat avant et après le changement.</a:t>
            </a:r>
          </a:p>
        </p:txBody>
      </p:sp>
      <p:cxnSp>
        <p:nvCxnSpPr>
          <p:cNvPr id="1302" name="Accent titre"/>
          <p:cNvCxnSpPr/>
          <p:nvPr/>
        </p:nvCxnSpPr>
        <p:spPr>
          <a:xfrm>
            <a:off x="147535" y="894944"/>
            <a:ext cx="1100000" cy="0"/>
          </a:xfrm>
          <a:prstGeom prst="line">
            <a:avLst/>
          </a:prstGeom>
          <a:ln w="38100" cap="rnd">
            <a:solidFill>
              <a:srgbClr val="FFA53C"/>
            </a:solidFill>
          </a:ln>
        </p:spPr>
      </p:cxnSp>
      <p:sp>
        <p:nvSpPr>
          <p:cNvPr id="1303"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58</a:t>
            </a:r>
          </a:p>
        </p:txBody>
      </p:sp>
    </p:spTree>
    <p:extLst>
      <p:ext uri="{BB962C8B-B14F-4D97-AF65-F5344CB8AC3E}">
        <p14:creationId xmlns:p14="http://schemas.microsoft.com/office/powerpoint/2010/main" val="28991082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306" name="Numero section">
            <a:hlinkClick r:id="rId2" action="ppaction://hlinksldjump"/>
          </p:cNvPr>
          <p:cNvSpPr txBox="1"/>
          <p:nvPr/>
        </p:nvSpPr>
        <p:spPr>
          <a:xfrm>
            <a:off x="147535" y="1850000"/>
            <a:ext cx="4000000" cy="1868872"/>
          </a:xfrm>
          <a:prstGeom prst="rect">
            <a:avLst/>
          </a:prstGeom>
          <a:noFill/>
        </p:spPr>
        <p:txBody>
          <a:bodyPr wrap="square" lIns="0" tIns="0" rIns="127000" bIns="0" rtlCol="0" anchor="t"/>
          <a:lstStyle/>
          <a:p>
            <a:r>
              <a:rPr lang="fr-FR" sz="12000" spc="-100" dirty="0">
                <a:solidFill>
                  <a:srgbClr val="FFA53C"/>
                </a:solidFill>
                <a:latin typeface="Segoe UI Semibold"/>
              </a:rPr>
              <a:t>06</a:t>
            </a:r>
          </a:p>
        </p:txBody>
      </p:sp>
      <p:cxnSp>
        <p:nvCxnSpPr>
          <p:cNvPr id="1307" name="Filet section"/>
          <p:cNvCxnSpPr/>
          <p:nvPr/>
        </p:nvCxnSpPr>
        <p:spPr>
          <a:xfrm>
            <a:off x="147535" y="3700000"/>
            <a:ext cx="900000" cy="0"/>
          </a:xfrm>
          <a:prstGeom prst="line">
            <a:avLst/>
          </a:prstGeom>
          <a:ln w="50800" cap="rnd">
            <a:solidFill>
              <a:srgbClr val="FFA53C"/>
            </a:solidFill>
          </a:ln>
        </p:spPr>
      </p:cxnSp>
      <p:sp>
        <p:nvSpPr>
          <p:cNvPr id="1308" name="Section titre"/>
          <p:cNvSpPr txBox="1"/>
          <p:nvPr/>
        </p:nvSpPr>
        <p:spPr>
          <a:xfrm>
            <a:off x="147535" y="4040000"/>
            <a:ext cx="10900000" cy="800000"/>
          </a:xfrm>
          <a:prstGeom prst="rect">
            <a:avLst/>
          </a:prstGeom>
          <a:noFill/>
        </p:spPr>
        <p:txBody>
          <a:bodyPr wrap="square" lIns="0" tIns="0" rIns="127000" bIns="0" rtlCol="0" anchor="t"/>
          <a:lstStyle/>
          <a:p>
            <a:r>
              <a:rPr lang="fr-FR" sz="4400" spc="60" dirty="0">
                <a:solidFill>
                  <a:srgbClr val="FFFFFF"/>
                </a:solidFill>
                <a:latin typeface="Segoe UI Semibold"/>
              </a:rPr>
              <a:t>RENDU &amp; ÉVALUATION</a:t>
            </a:r>
          </a:p>
        </p:txBody>
      </p:sp>
      <p:sp>
        <p:nvSpPr>
          <p:cNvPr id="1309" name="Section sous-titre"/>
          <p:cNvSpPr txBox="1"/>
          <p:nvPr/>
        </p:nvSpPr>
        <p:spPr>
          <a:xfrm>
            <a:off x="147535" y="4940000"/>
            <a:ext cx="10900000" cy="500000"/>
          </a:xfrm>
          <a:prstGeom prst="rect">
            <a:avLst/>
          </a:prstGeom>
          <a:noFill/>
        </p:spPr>
        <p:txBody>
          <a:bodyPr wrap="square" lIns="0" tIns="54864" rIns="127000" bIns="54864" rtlCol="0" anchor="t"/>
          <a:lstStyle/>
          <a:p>
            <a:pPr>
              <a:lnSpc>
                <a:spcPts val="2688"/>
              </a:lnSpc>
              <a:spcBef>
                <a:spcPts val="0"/>
              </a:spcBef>
              <a:spcAft>
                <a:spcPts val="500"/>
              </a:spcAft>
              <a:buNone/>
            </a:pPr>
            <a:r>
              <a:rPr lang="fr-FR" sz="2400" b="0" dirty="0">
                <a:solidFill>
                  <a:srgbClr val="E5E7EB"/>
                </a:solidFill>
                <a:latin typeface="Aptos"/>
              </a:rPr>
              <a:t>Ambition du projet, évaluation et remise</a:t>
            </a:r>
          </a:p>
        </p:txBody>
      </p:sp>
      <p:sp>
        <p:nvSpPr>
          <p:cNvPr id="131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59</a:t>
            </a:r>
          </a:p>
        </p:txBody>
      </p:sp>
    </p:spTree>
    <p:extLst>
      <p:ext uri="{BB962C8B-B14F-4D97-AF65-F5344CB8AC3E}">
        <p14:creationId xmlns:p14="http://schemas.microsoft.com/office/powerpoint/2010/main" val="28991082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314"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06 · RENDU &amp; ÉVALUATION</a:t>
            </a:r>
          </a:p>
        </p:txBody>
      </p:sp>
      <p:sp>
        <p:nvSpPr>
          <p:cNvPr id="1311"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BACKLOG : VOUS FIXEZ L’AMBITION</a:t>
            </a:r>
          </a:p>
        </p:txBody>
      </p:sp>
      <p:cxnSp>
        <p:nvCxnSpPr>
          <p:cNvPr id="1312"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315" name="Accent titre"/>
          <p:cNvCxnSpPr/>
          <p:nvPr/>
        </p:nvCxnSpPr>
        <p:spPr>
          <a:xfrm>
            <a:off x="147535" y="894944"/>
            <a:ext cx="1100000" cy="0"/>
          </a:xfrm>
          <a:prstGeom prst="line">
            <a:avLst/>
          </a:prstGeom>
          <a:ln w="38100" cap="rnd">
            <a:solidFill>
              <a:srgbClr val="FFA53C"/>
            </a:solidFill>
          </a:ln>
        </p:spPr>
      </p:cxnSp>
      <p:sp>
        <p:nvSpPr>
          <p:cNvPr id="1316"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60</a:t>
            </a:r>
          </a:p>
        </p:txBody>
      </p:sp>
      <p:sp>
        <p:nvSpPr>
          <p:cNvPr id="1317"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Le socle constitue votre point de départ</a:t>
            </a:r>
          </a:p>
          <a:p>
            <a:pPr marL="285750" indent="-285750">
              <a:lnSpc>
                <a:spcPts val="2352"/>
              </a:lnSpc>
              <a:spcBef>
                <a:spcPts val="0"/>
              </a:spcBef>
              <a:spcAft>
                <a:spcPts val="500"/>
              </a:spcAft>
              <a:buNone/>
            </a:pPr>
            <a:r>
              <a:rPr lang="fr-FR" sz="2100" b="0" dirty="0">
                <a:solidFill>
                  <a:srgbClr val="E5E7EB"/>
                </a:solidFill>
                <a:latin typeface="Aptos"/>
              </a:rPr>
              <a:t>Avec l’IA et les ressources disponibles, explorez les pistes du backlog et construisez un projet ambitieux.</a:t>
            </a:r>
          </a:p>
          <a:p>
            <a:pPr marL="285750" indent="-285750">
              <a:lnSpc>
                <a:spcPts val="2352"/>
              </a:lnSpc>
              <a:spcBef>
                <a:spcPts val="0"/>
              </a:spcBef>
              <a:spcAft>
                <a:spcPts val="500"/>
              </a:spcAft>
              <a:buNone/>
            </a:pPr>
            <a:r>
              <a:rPr lang="fr-FR" sz="2100" b="1" dirty="0">
                <a:solidFill>
                  <a:srgbClr val="FFAD46"/>
                </a:solidFill>
                <a:latin typeface="Aptos"/>
              </a:rPr>
              <a:t>Des pistes ouvertes</a:t>
            </a:r>
          </a:p>
          <a:p>
            <a:pPr marL="285750" indent="-285750">
              <a:lnSpc>
                <a:spcPts val="2352"/>
              </a:lnSpc>
              <a:spcBef>
                <a:spcPts val="0"/>
              </a:spcBef>
              <a:spcAft>
                <a:spcPts val="500"/>
              </a:spcAft>
              <a:buNone/>
            </a:pPr>
            <a:r>
              <a:rPr lang="fr-FR" sz="2100" b="0" dirty="0">
                <a:solidFill>
                  <a:srgbClr val="E5E7EB"/>
                </a:solidFill>
                <a:latin typeface="Aptos"/>
              </a:rPr>
              <a:t>Multijoueur, adversaire plus élaboré, sauvegarde, historique, statistiques, personnalisation, accessibilité, déploiement… Proposez aussi vos propres idées.</a:t>
            </a:r>
          </a:p>
          <a:p>
            <a:pPr marL="285750" indent="-285750">
              <a:lnSpc>
                <a:spcPts val="2352"/>
              </a:lnSpc>
              <a:spcBef>
                <a:spcPts val="0"/>
              </a:spcBef>
              <a:spcAft>
                <a:spcPts val="500"/>
              </a:spcAft>
              <a:buNone/>
            </a:pPr>
            <a:r>
              <a:rPr lang="fr-FR" sz="2100" b="1" dirty="0">
                <a:solidFill>
                  <a:srgbClr val="FFAD46"/>
                </a:solidFill>
                <a:latin typeface="Aptos"/>
              </a:rPr>
              <a:t>Un périmètre à défendre</a:t>
            </a:r>
          </a:p>
          <a:p>
            <a:pPr marL="285750" indent="-285750">
              <a:lnSpc>
                <a:spcPts val="2352"/>
              </a:lnSpc>
              <a:spcBef>
                <a:spcPts val="0"/>
              </a:spcBef>
              <a:spcAft>
                <a:spcPts val="500"/>
              </a:spcAft>
              <a:buNone/>
            </a:pPr>
            <a:r>
              <a:rPr lang="fr-FR" sz="2100" b="0" dirty="0">
                <a:solidFill>
                  <a:srgbClr val="E5E7EB"/>
                </a:solidFill>
                <a:latin typeface="Aptos"/>
              </a:rPr>
              <a:t>Choisissez vos priorités. Expliquez les fonctionnalités réalisées, celles écartées et les raisons de ces arbitrages.</a:t>
            </a:r>
          </a:p>
          <a:p>
            <a:pPr marL="285750" indent="-285750">
              <a:lnSpc>
                <a:spcPts val="2352"/>
              </a:lnSpc>
              <a:spcBef>
                <a:spcPts val="0"/>
              </a:spcBef>
              <a:spcAft>
                <a:spcPts val="500"/>
              </a:spcAft>
              <a:buNone/>
            </a:pPr>
            <a:r>
              <a:rPr lang="fr-FR" sz="2100" b="0" dirty="0">
                <a:solidFill>
                  <a:srgbClr val="E5E7EB"/>
                </a:solidFill>
                <a:latin typeface="Aptos"/>
              </a:rPr>
              <a:t>L’ambition, la pertinence et la qualité du résultat sont évaluées. Choisir de s’en tenir au minimum engage votre responsabilité et sera apprécié comme tel.</a:t>
            </a:r>
          </a:p>
          <a:p>
            <a:pPr marL="285750" indent="-285750">
              <a:lnSpc>
                <a:spcPts val="2352"/>
              </a:lnSpc>
              <a:spcBef>
                <a:spcPts val="0"/>
              </a:spcBef>
              <a:spcAft>
                <a:spcPts val="500"/>
              </a:spcAft>
              <a:buNone/>
            </a:pPr>
            <a:r>
              <a:rPr lang="fr-FR" sz="2100" b="0" dirty="0">
                <a:solidFill>
                  <a:srgbClr val="E5E7EB"/>
                </a:solidFill>
                <a:latin typeface="Aptos"/>
              </a:rPr>
              <a:t>Chaque fonctionnalité livrée doit être intégrée, vérifiée et comprise par le binôme.</a:t>
            </a:r>
          </a:p>
        </p:txBody>
      </p:sp>
    </p:spTree>
    <p:extLst>
      <p:ext uri="{BB962C8B-B14F-4D97-AF65-F5344CB8AC3E}">
        <p14:creationId xmlns:p14="http://schemas.microsoft.com/office/powerpoint/2010/main" val="28991082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320"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06 · RENDU &amp; ÉVALUATION</a:t>
            </a:r>
          </a:p>
        </p:txBody>
      </p:sp>
      <p:sp>
        <p:nvSpPr>
          <p:cNvPr id="1317"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CE QUI SERA ÉVALUÉ</a:t>
            </a:r>
          </a:p>
        </p:txBody>
      </p:sp>
      <p:cxnSp>
        <p:nvCxnSpPr>
          <p:cNvPr id="1318"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cxnSp>
        <p:nvCxnSpPr>
          <p:cNvPr id="1321" name="Accent titre"/>
          <p:cNvCxnSpPr/>
          <p:nvPr/>
        </p:nvCxnSpPr>
        <p:spPr>
          <a:xfrm>
            <a:off x="147535" y="894944"/>
            <a:ext cx="1100000" cy="0"/>
          </a:xfrm>
          <a:prstGeom prst="line">
            <a:avLst/>
          </a:prstGeom>
          <a:ln w="38100" cap="rnd">
            <a:solidFill>
              <a:srgbClr val="FFA53C"/>
            </a:solidFill>
          </a:ln>
        </p:spPr>
      </p:cxnSp>
      <p:sp>
        <p:nvSpPr>
          <p:cNvPr id="1322"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61</a:t>
            </a:r>
          </a:p>
        </p:txBody>
      </p:sp>
      <p:sp>
        <p:nvSpPr>
          <p:cNvPr id="1323" name="Contenu"/>
          <p:cNvSpPr txBox="1"/>
          <p:nvPr/>
        </p:nvSpPr>
        <p:spPr>
          <a:xfrm>
            <a:off x="146304" y="1124712"/>
            <a:ext cx="11896344" cy="5394960"/>
          </a:xfrm>
          <a:prstGeom prst="rect">
            <a:avLst/>
          </a:prstGeom>
          <a:noFill/>
        </p:spPr>
        <p:txBody>
          <a:bodyPr wrap="square" lIns="0" tIns="54864" rIns="127000" bIns="54864" rtlCol="0" anchor="t"/>
          <a:lstStyle/>
          <a:p>
            <a:pPr marL="285750" indent="-285750">
              <a:lnSpc>
                <a:spcPts val="2352"/>
              </a:lnSpc>
              <a:spcBef>
                <a:spcPts val="0"/>
              </a:spcBef>
              <a:spcAft>
                <a:spcPts val="500"/>
              </a:spcAft>
              <a:buNone/>
            </a:pPr>
            <a:r>
              <a:rPr lang="fr-FR" sz="2100" b="1" dirty="0">
                <a:solidFill>
                  <a:srgbClr val="FFAD46"/>
                </a:solidFill>
                <a:latin typeface="Aptos"/>
              </a:rPr>
              <a:t>Les critères du projet</a:t>
            </a:r>
          </a:p>
          <a:p>
            <a:pPr marL="285750" indent="-285750">
              <a:lnSpc>
                <a:spcPts val="2352"/>
              </a:lnSpc>
              <a:spcBef>
                <a:spcPts val="0"/>
              </a:spcBef>
              <a:spcAft>
                <a:spcPts val="500"/>
              </a:spcAft>
              <a:buNone/>
            </a:pPr>
            <a:r>
              <a:rPr lang="fr-FR" sz="2100" b="0" dirty="0">
                <a:solidFill>
                  <a:srgbClr val="E5E7EB"/>
                </a:solidFill>
                <a:latin typeface="Aptos"/>
              </a:rPr>
              <a:t>Fonctionnement : partie complète et respect des contraintes techniques.</a:t>
            </a:r>
          </a:p>
          <a:p>
            <a:pPr marL="285750" indent="-285750">
              <a:lnSpc>
                <a:spcPts val="2352"/>
              </a:lnSpc>
              <a:spcBef>
                <a:spcPts val="0"/>
              </a:spcBef>
              <a:spcAft>
                <a:spcPts val="500"/>
              </a:spcAft>
              <a:buNone/>
            </a:pPr>
            <a:r>
              <a:rPr lang="fr-FR" sz="2100" b="0" dirty="0">
                <a:solidFill>
                  <a:srgbClr val="E5E7EB"/>
                </a:solidFill>
                <a:latin typeface="Aptos"/>
              </a:rPr>
              <a:t>Qualité du code : responsabilités, lisibilité, cohérence et gestion des erreurs.</a:t>
            </a:r>
          </a:p>
          <a:p>
            <a:pPr marL="285750" indent="-285750">
              <a:lnSpc>
                <a:spcPts val="2352"/>
              </a:lnSpc>
              <a:spcBef>
                <a:spcPts val="0"/>
              </a:spcBef>
              <a:spcAft>
                <a:spcPts val="500"/>
              </a:spcAft>
              <a:buNone/>
            </a:pPr>
            <a:r>
              <a:rPr lang="fr-FR" sz="2100" b="0" dirty="0">
                <a:solidFill>
                  <a:srgbClr val="E5E7EB"/>
                </a:solidFill>
                <a:latin typeface="Aptos"/>
              </a:rPr>
              <a:t>Maîtrise de l’IA : analyse critique, décisions justifiées et vérifications probantes.</a:t>
            </a:r>
          </a:p>
          <a:p>
            <a:pPr marL="285750" indent="-285750">
              <a:lnSpc>
                <a:spcPts val="2352"/>
              </a:lnSpc>
              <a:spcBef>
                <a:spcPts val="0"/>
              </a:spcBef>
              <a:spcAft>
                <a:spcPts val="500"/>
              </a:spcAft>
              <a:buNone/>
            </a:pPr>
            <a:r>
              <a:rPr lang="fr-FR" sz="2100" b="0" dirty="0">
                <a:solidFill>
                  <a:srgbClr val="E5E7EB"/>
                </a:solidFill>
                <a:latin typeface="Aptos"/>
              </a:rPr>
              <a:t>Tests et collaboration : contrôles pertinents, relectures et historique Git exploitable.</a:t>
            </a:r>
          </a:p>
          <a:p>
            <a:pPr marL="285750" indent="-285750">
              <a:lnSpc>
                <a:spcPts val="2352"/>
              </a:lnSpc>
              <a:spcBef>
                <a:spcPts val="0"/>
              </a:spcBef>
              <a:spcAft>
                <a:spcPts val="500"/>
              </a:spcAft>
              <a:buNone/>
            </a:pPr>
            <a:r>
              <a:rPr lang="fr-FR" sz="2100" b="0" dirty="0">
                <a:solidFill>
                  <a:srgbClr val="E5E7EB"/>
                </a:solidFill>
                <a:latin typeface="Aptos"/>
              </a:rPr>
              <a:t>Extensions : ambition et pertinence du périmètre, intégration et finition.</a:t>
            </a:r>
          </a:p>
          <a:p>
            <a:pPr marL="285750" indent="-285750">
              <a:lnSpc>
                <a:spcPts val="2352"/>
              </a:lnSpc>
              <a:spcBef>
                <a:spcPts val="0"/>
              </a:spcBef>
              <a:spcAft>
                <a:spcPts val="500"/>
              </a:spcAft>
              <a:buNone/>
            </a:pPr>
            <a:r>
              <a:rPr lang="fr-FR" sz="2100" b="1" dirty="0">
                <a:solidFill>
                  <a:srgbClr val="FFAD46"/>
                </a:solidFill>
                <a:latin typeface="Aptos"/>
              </a:rPr>
              <a:t>Des choix dont vous répondez</a:t>
            </a:r>
          </a:p>
          <a:p>
            <a:pPr marL="285750" indent="-285750">
              <a:lnSpc>
                <a:spcPts val="2352"/>
              </a:lnSpc>
              <a:spcBef>
                <a:spcPts val="0"/>
              </a:spcBef>
              <a:spcAft>
                <a:spcPts val="500"/>
              </a:spcAft>
              <a:buNone/>
            </a:pPr>
            <a:r>
              <a:rPr lang="fr-FR" sz="2100" b="0" dirty="0">
                <a:solidFill>
                  <a:srgbClr val="E5E7EB"/>
                </a:solidFill>
                <a:latin typeface="Aptos"/>
              </a:rPr>
              <a:t>Le socle fonctionnel constitue la base attendue. Le périmètre complémentaire choisi et réalisé fait partie de l’appréciation du projet.</a:t>
            </a:r>
          </a:p>
          <a:p>
            <a:pPr marL="285750" indent="-285750">
              <a:lnSpc>
                <a:spcPts val="2352"/>
              </a:lnSpc>
              <a:spcBef>
                <a:spcPts val="0"/>
              </a:spcBef>
              <a:spcAft>
                <a:spcPts val="500"/>
              </a:spcAft>
              <a:buNone/>
            </a:pPr>
            <a:r>
              <a:rPr lang="fr-FR" sz="2100" b="0" dirty="0">
                <a:solidFill>
                  <a:srgbClr val="E5E7EB"/>
                </a:solidFill>
                <a:latin typeface="Aptos"/>
              </a:rPr>
              <a:t>Défendez vos priorités et vos renoncements avec les faits du projet. Chaque membre doit comprendre le résultat livré et ses limites.</a:t>
            </a:r>
          </a:p>
        </p:txBody>
      </p:sp>
    </p:spTree>
    <p:extLst>
      <p:ext uri="{BB962C8B-B14F-4D97-AF65-F5344CB8AC3E}">
        <p14:creationId xmlns:p14="http://schemas.microsoft.com/office/powerpoint/2010/main" val="28991082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326"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06 · RENDU &amp; ÉVALUATION</a:t>
            </a:r>
          </a:p>
        </p:txBody>
      </p:sp>
      <p:sp>
        <p:nvSpPr>
          <p:cNvPr id="1323"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LIVRABLES &amp; REMISE</a:t>
            </a:r>
          </a:p>
        </p:txBody>
      </p:sp>
      <p:cxnSp>
        <p:nvCxnSpPr>
          <p:cNvPr id="1324"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325" name="ZoneTexte"/>
          <p:cNvSpPr txBox="1"/>
          <p:nvPr/>
        </p:nvSpPr>
        <p:spPr>
          <a:xfrm>
            <a:off x="147535" y="1150000"/>
            <a:ext cx="11896927" cy="4749800"/>
          </a:xfrm>
          <a:prstGeom prst="rect">
            <a:avLst/>
          </a:prstGeom>
          <a:noFill/>
        </p:spPr>
        <p:txBody>
          <a:bodyPr wrap="square" lIns="0" tIns="0" rIns="127000" bIns="0" rtlCol="0" anchor="t"/>
          <a:lstStyle/>
          <a:p>
            <a:pPr>
              <a:spcBef>
                <a:spcPts val="600"/>
              </a:spcBef>
            </a:pPr>
            <a:r>
              <a:rPr lang="fr-FR" sz="2100" b="1" spc="60" dirty="0">
                <a:solidFill>
                  <a:srgbClr val="FFA53C"/>
                </a:solidFill>
              </a:rPr>
              <a:t>Un dépôt GitHub par binôme</a:t>
            </a:r>
          </a:p>
          <a:p>
            <a:pPr marL="285750" indent="-285750">
              <a:buClr>
                <a:srgbClr val="FFA53C"/>
              </a:buClr>
              <a:buFont typeface="Arial" panose="020B0604020202020204" pitchFamily="34" charset="0"/>
              <a:buChar char="•"/>
            </a:pPr>
            <a:r>
              <a:rPr lang="fr-FR" sz="2100" dirty="0">
                <a:solidFill>
                  <a:srgbClr val="ECEEF3"/>
                </a:solidFill>
              </a:rPr>
              <a:t>Les quatre projets, les éventuels projets supplémentaires et les tests</a:t>
            </a:r>
          </a:p>
          <a:p>
            <a:pPr marL="285750" indent="-285750">
              <a:buClr>
                <a:srgbClr val="FFA53C"/>
              </a:buClr>
              <a:buFont typeface="Arial" panose="020B0604020202020204" pitchFamily="34" charset="0"/>
              <a:buChar char="•"/>
            </a:pPr>
            <a:r>
              <a:rPr lang="fr-FR" sz="2100" dirty="0">
                <a:solidFill>
                  <a:srgbClr val="ECEEF3"/>
                </a:solidFill>
              </a:rPr>
              <a:t>README.md : noms, lancement, fonctionnalités, arbitrages du backlog et limites</a:t>
            </a:r>
          </a:p>
          <a:p>
            <a:pPr marL="285750" indent="-285750">
              <a:buClr>
                <a:srgbClr val="FFA53C"/>
              </a:buClr>
              <a:buFont typeface="Arial" panose="020B0604020202020204" pitchFamily="34" charset="0"/>
              <a:buChar char="•"/>
            </a:pPr>
            <a:r>
              <a:rPr lang="fr-FR" sz="2100" dirty="0">
                <a:solidFill>
                  <a:srgbClr val="ECEEF3"/>
                </a:solidFill>
              </a:rPr>
              <a:t>PROMPTS.md : les échanges décisifs et les preuves de vérification</a:t>
            </a:r>
          </a:p>
          <a:p>
            <a:pPr marL="285750" indent="-285750">
              <a:buClr>
                <a:srgbClr val="FFA53C"/>
              </a:buClr>
              <a:buFont typeface="Arial" panose="020B0604020202020204" pitchFamily="34" charset="0"/>
              <a:buChar char="•"/>
            </a:pPr>
            <a:r>
              <a:rPr lang="fr-FR" sz="2100" dirty="0">
                <a:solidFill>
                  <a:srgbClr val="ECEEF3"/>
                </a:solidFill>
              </a:rPr>
              <a:t>docs/adr/ : les décisions d’architecture</a:t>
            </a:r>
          </a:p>
          <a:p>
            <a:pPr marL="285750" indent="-285750">
              <a:buClr>
                <a:srgbClr val="FFA53C"/>
              </a:buClr>
              <a:buFont typeface="Arial" panose="020B0604020202020204" pitchFamily="34" charset="0"/>
              <a:buChar char="•"/>
            </a:pPr>
            <a:r>
              <a:rPr lang="fr-FR" sz="2100" dirty="0">
                <a:solidFill>
                  <a:srgbClr val="ECEEF3"/>
                </a:solidFill>
              </a:rPr>
              <a:t>REVUE-IA.md : trois revues argumentées minimum</a:t>
            </a:r>
          </a:p>
          <a:p>
            <a:pPr marL="285750" indent="-285750">
              <a:buClr>
                <a:srgbClr val="FFA53C"/>
              </a:buClr>
              <a:buFont typeface="Arial" panose="020B0604020202020204" pitchFamily="34" charset="0"/>
              <a:buChar char="•"/>
            </a:pPr>
            <a:r>
              <a:rPr lang="fr-FR" sz="2100" dirty="0">
                <a:solidFill>
                  <a:srgbClr val="ECEEF3"/>
                </a:solidFill>
              </a:rPr>
              <a:t>Un historique Git avec des changements relus par le binôme</a:t>
            </a:r>
          </a:p>
          <a:p>
            <a:pPr>
              <a:spcBef>
                <a:spcPts val="600"/>
              </a:spcBef>
            </a:pPr>
            <a:r>
              <a:rPr lang="fr-FR" sz="2100" b="1" spc="60" dirty="0">
                <a:solidFill>
                  <a:srgbClr val="FFA53C"/>
                </a:solidFill>
              </a:rPr>
              <a:t>Remise : avant le début du QCM, jour 5</a:t>
            </a:r>
          </a:p>
          <a:p>
            <a:pPr marL="285750" indent="-285750">
              <a:buClr>
                <a:srgbClr val="FFA53C"/>
              </a:buClr>
              <a:buFont typeface="Arial" panose="020B0604020202020204" pitchFamily="34" charset="0"/>
              <a:buChar char="•"/>
            </a:pPr>
            <a:r>
              <a:rPr lang="fr-FR" sz="2100" dirty="0">
                <a:solidFill>
                  <a:srgbClr val="ECEEF3"/>
                </a:solidFill>
              </a:rPr>
              <a:t>Envoyez le lien du dépôt et le hash du commit à contact@hts-learning.com. Donnez l’accès au correcteur si le dépôt est privé. </a:t>
            </a:r>
          </a:p>
          <a:p>
            <a:pPr marL="285750" indent="-285750">
              <a:buClr>
                <a:srgbClr val="FFA53C"/>
              </a:buClr>
              <a:buFont typeface="Arial" panose="020B0604020202020204" pitchFamily="34" charset="0"/>
              <a:buChar char="•"/>
            </a:pPr>
            <a:r>
              <a:rPr lang="fr-FR" sz="2100" dirty="0">
                <a:solidFill>
                  <a:srgbClr val="ECEEF3"/>
                </a:solidFill>
              </a:rPr>
              <a:t>Déposez également le README.md sur votre espace étudiant pour marquer la date de remise.</a:t>
            </a:r>
          </a:p>
          <a:p>
            <a:pPr marL="285750" indent="-285750">
              <a:buClr>
                <a:srgbClr val="FFA53C"/>
              </a:buClr>
              <a:buFont typeface="Arial" panose="020B0604020202020204" pitchFamily="34" charset="0"/>
              <a:buChar char="•"/>
            </a:pPr>
            <a:r>
              <a:rPr lang="fr-FR" sz="2100" dirty="0">
                <a:solidFill>
                  <a:srgbClr val="ECEEF3"/>
                </a:solidFill>
              </a:rPr>
              <a:t>Seul ce commit, poussé avant le début du QCM, est évalué.</a:t>
            </a:r>
          </a:p>
          <a:p>
            <a:r>
              <a:rPr lang="fr-FR" sz="2100" dirty="0">
                <a:solidFill>
                  <a:srgbClr val="7A808F"/>
                </a:solidFill>
              </a:rPr>
              <a:t>Faites lancer le projet par un autre binôme en suivant uniquement le README.</a:t>
            </a:r>
          </a:p>
        </p:txBody>
      </p:sp>
      <p:cxnSp>
        <p:nvCxnSpPr>
          <p:cNvPr id="1327" name="Accent titre"/>
          <p:cNvCxnSpPr/>
          <p:nvPr/>
        </p:nvCxnSpPr>
        <p:spPr>
          <a:xfrm>
            <a:off x="147535" y="894944"/>
            <a:ext cx="1100000" cy="0"/>
          </a:xfrm>
          <a:prstGeom prst="line">
            <a:avLst/>
          </a:prstGeom>
          <a:ln w="38100" cap="rnd">
            <a:solidFill>
              <a:srgbClr val="FFA53C"/>
            </a:solidFill>
          </a:ln>
        </p:spPr>
      </p:cxnSp>
      <p:sp>
        <p:nvSpPr>
          <p:cNvPr id="1328"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62</a:t>
            </a:r>
          </a:p>
        </p:txBody>
      </p:sp>
    </p:spTree>
    <p:extLst>
      <p:ext uri="{BB962C8B-B14F-4D97-AF65-F5344CB8AC3E}">
        <p14:creationId xmlns:p14="http://schemas.microsoft.com/office/powerpoint/2010/main" val="28991082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332"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06 · RENDU &amp; ÉVALUATION</a:t>
            </a:r>
          </a:p>
        </p:txBody>
      </p:sp>
      <p:sp>
        <p:nvSpPr>
          <p:cNvPr id="1329"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CHECKLIST AVANT DE RENDRE</a:t>
            </a:r>
          </a:p>
        </p:txBody>
      </p:sp>
      <p:cxnSp>
        <p:nvCxnSpPr>
          <p:cNvPr id="1330"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331" name="ZoneTexte"/>
          <p:cNvSpPr txBox="1"/>
          <p:nvPr/>
        </p:nvSpPr>
        <p:spPr>
          <a:xfrm>
            <a:off x="147535" y="1150000"/>
            <a:ext cx="11896927" cy="3946525"/>
          </a:xfrm>
          <a:prstGeom prst="rect">
            <a:avLst/>
          </a:prstGeom>
          <a:noFill/>
        </p:spPr>
        <p:txBody>
          <a:bodyPr wrap="square" lIns="0" tIns="0" rIns="127000" bIns="0" rtlCol="0" anchor="t"/>
          <a:lstStyle/>
          <a:p>
            <a:pPr marL="285750" indent="-285750">
              <a:buClr>
                <a:srgbClr val="FFA53C"/>
              </a:buClr>
              <a:buFont typeface="Arial" panose="020B0604020202020204" pitchFamily="34" charset="0"/>
              <a:buChar char="•"/>
            </a:pPr>
            <a:r>
              <a:rPr lang="fr-FR" sz="2100" dirty="0">
                <a:solidFill>
                  <a:srgbClr val="ECEEF3"/>
                </a:solidFill>
              </a:rPr>
              <a:t>Le README suffit à lancer le projet avec les prérequis indiqués</a:t>
            </a:r>
          </a:p>
          <a:p>
            <a:pPr marL="285750" indent="-285750">
              <a:buClr>
                <a:srgbClr val="FFA53C"/>
              </a:buClr>
              <a:buFont typeface="Arial" panose="020B0604020202020204" pitchFamily="34" charset="0"/>
              <a:buChar char="•"/>
            </a:pPr>
            <a:r>
              <a:rPr lang="fr-FR" sz="2100" dirty="0">
                <a:solidFill>
                  <a:srgbClr val="ECEEF3"/>
                </a:solidFill>
              </a:rPr>
              <a:t>Une partie complète se joue, y compris la fin et la création d’une autre partie</a:t>
            </a:r>
          </a:p>
          <a:p>
            <a:pPr marL="285750" indent="-285750">
              <a:buClr>
                <a:srgbClr val="FFA53C"/>
              </a:buClr>
              <a:buFont typeface="Arial" panose="020B0604020202020204" pitchFamily="34" charset="0"/>
              <a:buChar char="•"/>
            </a:pPr>
            <a:r>
              <a:rPr lang="fr-FR" sz="2100" dirty="0">
                <a:solidFill>
                  <a:srgbClr val="ECEEF3"/>
                </a:solidFill>
              </a:rPr>
              <a:t>Un échange gRPC-Web et une erreur attendue sont démontrables</a:t>
            </a:r>
          </a:p>
          <a:p>
            <a:pPr marL="285750" indent="-285750">
              <a:buClr>
                <a:srgbClr val="FFA53C"/>
              </a:buClr>
              <a:buFont typeface="Arial" panose="020B0604020202020204" pitchFamily="34" charset="0"/>
              <a:buChar char="•"/>
            </a:pPr>
            <a:r>
              <a:rPr lang="fr-FR" sz="2100" dirty="0">
                <a:solidFill>
                  <a:srgbClr val="ECEEF3"/>
                </a:solidFill>
              </a:rPr>
              <a:t>Les entrées HTTP et gRPC sont validées ; les règles sont vérifiées côté serveur</a:t>
            </a:r>
          </a:p>
          <a:p>
            <a:pPr marL="285750" indent="-285750">
              <a:buClr>
                <a:srgbClr val="FFA53C"/>
              </a:buClr>
              <a:buFont typeface="Arial" panose="020B0604020202020204" pitchFamily="34" charset="0"/>
              <a:buChar char="•"/>
            </a:pPr>
            <a:r>
              <a:rPr lang="fr-FR" sz="2100" dirty="0">
                <a:solidFill>
                  <a:srgbClr val="ECEEF3"/>
                </a:solidFill>
              </a:rPr>
              <a:t>Les tests passent et détectent des règles violées, pas seulement un succès nominal</a:t>
            </a:r>
          </a:p>
          <a:p>
            <a:pPr marL="285750" indent="-285750">
              <a:buClr>
                <a:srgbClr val="FFA53C"/>
              </a:buClr>
              <a:buFont typeface="Arial" panose="020B0604020202020204" pitchFamily="34" charset="0"/>
              <a:buChar char="•"/>
            </a:pPr>
            <a:r>
              <a:rPr lang="fr-FR" sz="2100" dirty="0">
                <a:solidFill>
                  <a:srgbClr val="ECEEF3"/>
                </a:solidFill>
              </a:rPr>
              <a:t>PROMPTS.md, ADR et trois revues IA sont à jour et reliés aux preuves</a:t>
            </a:r>
          </a:p>
          <a:p>
            <a:pPr marL="285750" indent="-285750">
              <a:buClr>
                <a:srgbClr val="FFA53C"/>
              </a:buClr>
              <a:buFont typeface="Arial" panose="020B0604020202020204" pitchFamily="34" charset="0"/>
              <a:buChar char="•"/>
            </a:pPr>
            <a:r>
              <a:rPr lang="fr-FR" sz="2100" dirty="0">
                <a:solidFill>
                  <a:srgbClr val="ECEEF3"/>
                </a:solidFill>
              </a:rPr>
              <a:t>Les changements ont été relus ; les commits identifient le travail effectué</a:t>
            </a:r>
          </a:p>
          <a:p>
            <a:pPr marL="285750" indent="-285750">
              <a:buClr>
                <a:srgbClr val="FFA53C"/>
              </a:buClr>
              <a:buFont typeface="Arial" panose="020B0604020202020204" pitchFamily="34" charset="0"/>
              <a:buChar char="•"/>
            </a:pPr>
            <a:r>
              <a:rPr lang="fr-FR" sz="2100" dirty="0">
                <a:solidFill>
                  <a:srgbClr val="ECEEF3"/>
                </a:solidFill>
              </a:rPr>
              <a:t>Chaque membre explique le fonctionnement, le périmètre choisi et les limites du projet</a:t>
            </a:r>
          </a:p>
          <a:p>
            <a:pPr>
              <a:spcBef>
                <a:spcPts val="600"/>
              </a:spcBef>
            </a:pPr>
            <a:r>
              <a:rPr lang="fr-FR" sz="2100" b="1" spc="60" dirty="0">
                <a:solidFill>
                  <a:srgbClr val="FFA53C"/>
                </a:solidFill>
              </a:rPr>
              <a:t>Le code généré automatiquement est identifié et son rôle est compris</a:t>
            </a:r>
          </a:p>
          <a:p>
            <a:r>
              <a:rPr lang="fr-FR" sz="2100" dirty="0">
                <a:solidFill>
                  <a:srgbClr val="7A808F"/>
                </a:solidFill>
              </a:rPr>
              <a:t>Vous êtes responsables du résultat livré, quel que soit l’outil utilisé.</a:t>
            </a:r>
          </a:p>
        </p:txBody>
      </p:sp>
      <p:cxnSp>
        <p:nvCxnSpPr>
          <p:cNvPr id="1333" name="Accent titre"/>
          <p:cNvCxnSpPr/>
          <p:nvPr/>
        </p:nvCxnSpPr>
        <p:spPr>
          <a:xfrm>
            <a:off x="147535" y="894944"/>
            <a:ext cx="1100000" cy="0"/>
          </a:xfrm>
          <a:prstGeom prst="line">
            <a:avLst/>
          </a:prstGeom>
          <a:ln w="38100" cap="rnd">
            <a:solidFill>
              <a:srgbClr val="FFA53C"/>
            </a:solidFill>
          </a:ln>
        </p:spPr>
      </p:cxnSp>
      <p:sp>
        <p:nvSpPr>
          <p:cNvPr id="1334"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63</a:t>
            </a:r>
          </a:p>
        </p:txBody>
      </p:sp>
    </p:spTree>
    <p:extLst>
      <p:ext uri="{BB962C8B-B14F-4D97-AF65-F5344CB8AC3E}">
        <p14:creationId xmlns:p14="http://schemas.microsoft.com/office/powerpoint/2010/main" val="28991082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91C22"/>
        </a:solidFill>
        <a:effectLst/>
      </p:bgPr>
    </p:bg>
    <p:spTree>
      <p:nvGrpSpPr>
        <p:cNvPr id="1" name=""/>
        <p:cNvGrpSpPr/>
        <p:nvPr/>
      </p:nvGrpSpPr>
      <p:grpSpPr>
        <a:xfrm>
          <a:off x="0" y="0"/>
          <a:ext cx="0" cy="0"/>
          <a:chOff x="0" y="0"/>
          <a:chExt cx="0" cy="0"/>
        </a:xfrm>
      </p:grpSpPr>
      <p:sp>
        <p:nvSpPr>
          <p:cNvPr id="1338" name="Chapo">
            <a:hlinkClick r:id="rId2" action="ppaction://hlinksldjump"/>
          </p:cNvPr>
          <p:cNvSpPr txBox="1"/>
          <p:nvPr/>
        </p:nvSpPr>
        <p:spPr>
          <a:xfrm>
            <a:off x="147535" y="118000"/>
            <a:ext cx="9000000" cy="210000"/>
          </a:xfrm>
          <a:prstGeom prst="rect">
            <a:avLst/>
          </a:prstGeom>
          <a:noFill/>
        </p:spPr>
        <p:txBody>
          <a:bodyPr wrap="square" lIns="0" tIns="0" rIns="0" bIns="0" rtlCol="0" anchor="t"/>
          <a:lstStyle/>
          <a:p>
            <a:r>
              <a:rPr lang="fr-FR" sz="1100" spc="280" dirty="0">
                <a:solidFill>
                  <a:srgbClr val="FFA53C"/>
                </a:solidFill>
                <a:latin typeface="Segoe UI Semibold"/>
              </a:rPr>
              <a:t>06 · RENDU &amp; ÉVALUATION</a:t>
            </a:r>
          </a:p>
        </p:txBody>
      </p:sp>
      <p:sp>
        <p:nvSpPr>
          <p:cNvPr id="1335" name="Titre 1">
            <a:extLst>
              <a:ext uri="{FF2B5EF4-FFF2-40B4-BE49-F238E27FC236}">
                <a16:creationId xmlns:a16="http://schemas.microsoft.com/office/drawing/2014/main" id="{5CA23E14-01ED-4A5E-8D1E-EB71885E55F9}"/>
              </a:ext>
            </a:extLst>
          </p:cNvPr>
          <p:cNvSpPr>
            <a:spLocks noGrp="1"/>
          </p:cNvSpPr>
          <p:nvPr>
            <p:ph type="title"/>
          </p:nvPr>
        </p:nvSpPr>
        <p:spPr>
          <a:xfrm>
            <a:off x="147535" y="300000"/>
            <a:ext cx="10900000" cy="545000"/>
          </a:xfrm>
        </p:spPr>
        <p:txBody>
          <a:bodyPr lIns="0" tIns="0" rIns="0" bIns="0" anchor="b">
            <a:normAutofit/>
          </a:bodyPr>
          <a:lstStyle/>
          <a:p>
            <a:pPr algn="l"/>
            <a:r>
              <a:rPr lang="fr-FR" sz="2800" spc="40" dirty="0">
                <a:solidFill>
                  <a:srgbClr val="FFFFFF"/>
                </a:solidFill>
                <a:latin typeface="Segoe UI Semibold"/>
              </a:rPr>
              <a:t>OÙ CHERCHER DE L’AIDE</a:t>
            </a:r>
          </a:p>
        </p:txBody>
      </p:sp>
      <p:cxnSp>
        <p:nvCxnSpPr>
          <p:cNvPr id="1336" name="Connecteur droit 4">
            <a:extLst>
              <a:ext uri="{FF2B5EF4-FFF2-40B4-BE49-F238E27FC236}">
                <a16:creationId xmlns:a16="http://schemas.microsoft.com/office/drawing/2014/main" id="{D4CEB88B-8482-4A5E-9CF1-E35242224A31}"/>
              </a:ext>
            </a:extLst>
          </p:cNvPr>
          <p:cNvCxnSpPr>
            <a:cxnSpLocks/>
          </p:cNvCxnSpPr>
          <p:nvPr/>
        </p:nvCxnSpPr>
        <p:spPr>
          <a:xfrm>
            <a:off x="147536" y="894944"/>
            <a:ext cx="11896927" cy="0"/>
          </a:xfrm>
          <a:prstGeom prst="line">
            <a:avLst/>
          </a:prstGeom>
          <a:ln w="9525">
            <a:solidFill>
              <a:srgbClr val="363B47"/>
            </a:solidFill>
          </a:ln>
        </p:spPr>
      </p:cxnSp>
      <p:sp>
        <p:nvSpPr>
          <p:cNvPr id="1337" name="ZoneTexte"/>
          <p:cNvSpPr txBox="1"/>
          <p:nvPr/>
        </p:nvSpPr>
        <p:spPr>
          <a:xfrm>
            <a:off x="147535" y="1150000"/>
            <a:ext cx="11896927" cy="4730750"/>
          </a:xfrm>
          <a:prstGeom prst="rect">
            <a:avLst/>
          </a:prstGeom>
          <a:noFill/>
        </p:spPr>
        <p:txBody>
          <a:bodyPr wrap="square" lIns="0" tIns="0" rIns="127000" bIns="0" rtlCol="0" anchor="t"/>
          <a:lstStyle/>
          <a:p>
            <a:pPr>
              <a:spcBef>
                <a:spcPts val="600"/>
              </a:spcBef>
            </a:pPr>
            <a:r>
              <a:rPr lang="fr-FR" sz="2000" b="1" spc="60" dirty="0">
                <a:solidFill>
                  <a:srgbClr val="FFA53C"/>
                </a:solidFill>
              </a:rPr>
              <a:t>La documentation de référence</a:t>
            </a:r>
          </a:p>
          <a:p>
            <a:pPr marL="285750" indent="-285750">
              <a:buClr>
                <a:srgbClr val="FFA53C"/>
              </a:buClr>
              <a:buFont typeface="Arial" panose="020B0604020202020204" pitchFamily="34" charset="0"/>
              <a:buChar char="•"/>
            </a:pPr>
            <a:r>
              <a:rPr lang="fr-FR" sz="2000" dirty="0">
                <a:solidFill>
                  <a:srgbClr val="80D8FF"/>
                </a:solidFill>
                <a:hlinkClick r:id="rId3"/>
              </a:rPr>
              <a:t>.NET : langage, bibliothèques et commandes CLI</a:t>
            </a:r>
          </a:p>
          <a:p>
            <a:pPr marL="285750" indent="-285750">
              <a:buClr>
                <a:srgbClr val="FFA53C"/>
              </a:buClr>
              <a:buFont typeface="Arial" panose="020B0604020202020204" pitchFamily="34" charset="0"/>
              <a:buChar char="•"/>
            </a:pPr>
            <a:r>
              <a:rPr lang="fr-FR" sz="2000" dirty="0">
                <a:solidFill>
                  <a:srgbClr val="80D8FF"/>
                </a:solidFill>
                <a:hlinkClick r:id="rId4"/>
              </a:rPr>
              <a:t>ASP.NET Core : API, Blazor et gRPC ; sélectionner la version .NET 10</a:t>
            </a:r>
          </a:p>
          <a:p>
            <a:pPr marL="285750" indent="-285750">
              <a:buClr>
                <a:srgbClr val="FFA53C"/>
              </a:buClr>
              <a:buFont typeface="Arial" panose="020B0604020202020204" pitchFamily="34" charset="0"/>
              <a:buChar char="•"/>
            </a:pPr>
            <a:r>
              <a:rPr lang="fr-FR" sz="2000" dirty="0">
                <a:solidFill>
                  <a:srgbClr val="80D8FF"/>
                </a:solidFill>
                <a:hlinkClick r:id="rId5"/>
              </a:rPr>
              <a:t>NuGet : packages, versions et dépendances</a:t>
            </a:r>
          </a:p>
          <a:p>
            <a:pPr marL="285750" indent="-285750">
              <a:buClr>
                <a:srgbClr val="FFA53C"/>
              </a:buClr>
              <a:buFont typeface="Arial" panose="020B0604020202020204" pitchFamily="34" charset="0"/>
              <a:buChar char="•"/>
            </a:pPr>
            <a:r>
              <a:rPr lang="fr-FR" sz="2000" dirty="0">
                <a:solidFill>
                  <a:srgbClr val="80D8FF"/>
                </a:solidFill>
                <a:hlinkClick r:id="rId6"/>
              </a:rPr>
              <a:t>ASP.NET Core sur GitHub : code source et problèmes connus</a:t>
            </a:r>
          </a:p>
          <a:p>
            <a:pPr>
              <a:spcBef>
                <a:spcPts val="600"/>
              </a:spcBef>
            </a:pPr>
            <a:r>
              <a:rPr lang="fr-FR" sz="2000" b="1" spc="60" dirty="0">
                <a:solidFill>
                  <a:srgbClr val="FFA53C"/>
                </a:solidFill>
              </a:rPr>
              <a:t>Les ressources jointes</a:t>
            </a:r>
          </a:p>
          <a:p>
            <a:pPr marL="285750" indent="-285750">
              <a:buClr>
                <a:srgbClr val="FFA53C"/>
              </a:buClr>
              <a:buFont typeface="Arial" panose="020B0604020202020204" pitchFamily="34" charset="0"/>
              <a:buChar char="•"/>
            </a:pPr>
            <a:r>
              <a:rPr lang="fr-FR" sz="2000" dirty="0">
                <a:solidFill>
                  <a:srgbClr val="ECEEF3"/>
                </a:solidFill>
              </a:rPr>
              <a:t>« Ressources Bataille Navale » : référentiel texte, global.json, exemples génériques et gabarits Markdown.</a:t>
            </a:r>
          </a:p>
          <a:p>
            <a:pPr>
              <a:spcBef>
                <a:spcPts val="600"/>
              </a:spcBef>
            </a:pPr>
            <a:r>
              <a:rPr lang="fr-FR" sz="2000" b="1" spc="60" dirty="0">
                <a:solidFill>
                  <a:srgbClr val="FFA53C"/>
                </a:solidFill>
              </a:rPr>
              <a:t>Pour vérifier une proposition</a:t>
            </a:r>
          </a:p>
          <a:p>
            <a:r>
              <a:rPr lang="fr-FR" sz="2000" dirty="0">
                <a:solidFill>
                  <a:srgbClr val="ECEEF3"/>
                </a:solidFill>
              </a:rPr>
              <a:t>Confrontez l’API citée à la documentation, puis à un exemple exécuté. Conservez le test lorsqu’il protège une règle utile.</a:t>
            </a:r>
          </a:p>
          <a:p>
            <a:r>
              <a:rPr lang="fr-FR" sz="2000" dirty="0">
                <a:solidFill>
                  <a:srgbClr val="7A808F"/>
                </a:solidFill>
              </a:rPr>
              <a:t>Organisation ou accès bloqué : contact@hts-learning.com. Joignez un diagnostic ; utilisez d’abord le protocole diapo 22.</a:t>
            </a:r>
          </a:p>
        </p:txBody>
      </p:sp>
      <p:cxnSp>
        <p:nvCxnSpPr>
          <p:cNvPr id="1339" name="Accent titre"/>
          <p:cNvCxnSpPr/>
          <p:nvPr/>
        </p:nvCxnSpPr>
        <p:spPr>
          <a:xfrm>
            <a:off x="147535" y="894944"/>
            <a:ext cx="1100000" cy="0"/>
          </a:xfrm>
          <a:prstGeom prst="line">
            <a:avLst/>
          </a:prstGeom>
          <a:ln w="38100" cap="rnd">
            <a:solidFill>
              <a:srgbClr val="FFA53C"/>
            </a:solidFill>
          </a:ln>
        </p:spPr>
      </p:cxnSp>
      <p:sp>
        <p:nvSpPr>
          <p:cNvPr id="1340" name="Folio"/>
          <p:cNvSpPr txBox="1"/>
          <p:nvPr/>
        </p:nvSpPr>
        <p:spPr>
          <a:xfrm>
            <a:off x="9500000" y="118000"/>
            <a:ext cx="2544462" cy="210000"/>
          </a:xfrm>
          <a:prstGeom prst="rect">
            <a:avLst/>
          </a:prstGeom>
          <a:noFill/>
        </p:spPr>
        <p:txBody>
          <a:bodyPr wrap="square" lIns="0" tIns="0" rIns="101600" bIns="0" rtlCol="0" anchor="t"/>
          <a:lstStyle/>
          <a:p>
            <a:pPr algn="r"/>
            <a:r>
              <a:rPr lang="fr-FR" sz="1100" spc="100" dirty="0">
                <a:solidFill>
                  <a:srgbClr val="7A808F"/>
                </a:solidFill>
                <a:latin typeface="Segoe UI"/>
              </a:rPr>
              <a:t>64</a:t>
            </a:r>
          </a:p>
        </p:txBody>
      </p:sp>
    </p:spTree>
    <p:extLst>
      <p:ext uri="{BB962C8B-B14F-4D97-AF65-F5344CB8AC3E}">
        <p14:creationId xmlns:p14="http://schemas.microsoft.com/office/powerpoint/2010/main" val="289910826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D8FF"/>
      </a:hlink>
      <a:folHlink>
        <a:srgbClr val="B4A8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3593</TotalTime>
  <Words>8112</Words>
  <Application>Microsoft Office PowerPoint</Application>
  <PresentationFormat>Grand écran</PresentationFormat>
  <Paragraphs>966</Paragraphs>
  <Slides>64</Slides>
  <Notes>14</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64</vt:i4>
      </vt:variant>
    </vt:vector>
  </HeadingPairs>
  <TitlesOfParts>
    <vt:vector size="72" baseType="lpstr">
      <vt:lpstr>Aptos</vt:lpstr>
      <vt:lpstr>Arial</vt:lpstr>
      <vt:lpstr>Calibri</vt:lpstr>
      <vt:lpstr>Calibri Light</vt:lpstr>
      <vt:lpstr>Consolas</vt:lpstr>
      <vt:lpstr>Segoe UI</vt:lpstr>
      <vt:lpstr>Segoe UI Semibold</vt:lpstr>
      <vt:lpstr>Thème Office</vt:lpstr>
      <vt:lpstr>COURS C# / ASP.NET</vt:lpstr>
      <vt:lpstr>LE DEAL</vt:lpstr>
      <vt:lpstr>POURQUOI C# ET .NET</vt:lpstr>
      <vt:lpstr>C# VS JAVA</vt:lpstr>
      <vt:lpstr>LA MISSION : BATAILLE NAVALE</vt:lpstr>
      <vt:lpstr>CE QUI EST IMPOSÉ, CE QUI EST LIBRE</vt:lpstr>
      <vt:lpstr>L’IA EST OBLIGATOIRE ICI</vt:lpstr>
      <vt:lpstr>TRAVAILLER EN BINÔME AVEC L’IA</vt:lpstr>
      <vt:lpstr>UNE DÉMARCHE À ADAPTER</vt:lpstr>
      <vt:lpstr>LE CODE GÉNÉRÉ DOIT FAIRE SES PREUVES</vt:lpstr>
      <vt:lpstr>VOS 3 LIVRABLES IA</vt:lpstr>
      <vt:lpstr>ÉVALUATION</vt:lpstr>
      <vt:lpstr>LE QCM FINAL</vt:lpstr>
      <vt:lpstr>VOUS PILOTEZ LE PROJET</vt:lpstr>
      <vt:lpstr>DÉMARREZ MAINTENANT</vt:lpstr>
      <vt:lpstr>COMMENT UTILISER LA SUITE</vt:lpstr>
      <vt:lpstr>Présentation PowerPoint</vt:lpstr>
      <vt:lpstr>Présentation PowerPoint</vt:lpstr>
      <vt:lpstr>INSTALLER SON ENVIRONNEMENT</vt:lpstr>
      <vt:lpstr>RIDER : L’IDE RECOMMANDÉ</vt:lpstr>
      <vt:lpstr>LA CLI DOTNET</vt:lpstr>
      <vt:lpstr>DIAGNOSTIQUER ET TRAITER UN BLOCAGE</vt:lpstr>
      <vt:lpstr>VÉRIFIER UN COMPORTEMENT EN ISOLATION</vt:lpstr>
      <vt:lpstr>LE C# ESSENTIEL — TYPES ET OBJETS</vt:lpstr>
      <vt:lpstr>LE C# ESSENTIEL — COLLECTIONS ET LINQ</vt:lpstr>
      <vt:lpstr>LE C# ESSENTIEL — ASYNCHRONE ET ERREURS</vt:lpstr>
      <vt:lpstr>CE QUI EST NOUVEAU EN C# 14</vt:lpstr>
      <vt:lpstr>CRÉER LA SOLUTION</vt:lpstr>
      <vt:lpstr>LES RESPONSABILITÉS À ORGANISER</vt:lpstr>
      <vt:lpstr>Présentation PowerPoint</vt:lpstr>
      <vt:lpstr>MINIMAL API : LES BASES</vt:lpstr>
      <vt:lpstr>D’OÙ VIENNENT LES PARAMÈTRES</vt:lpstr>
      <vt:lpstr>INJECTION DE DÉPENDANCES</vt:lpstr>
      <vt:lpstr>RÉPONSES ET CODES HTTP</vt:lpstr>
      <vt:lpstr>VOIR ET TESTER SON API</vt:lpstr>
      <vt:lpstr>SPÉCIFICATION 1 — LE MOTEUR DE JEU</vt:lpstr>
      <vt:lpstr>SPÉCIFICATION 2 — LE CONTRAT D’API</vt:lpstr>
      <vt:lpstr>SPÉCIFICATION 3 — LA BOUCLE DE JEU</vt:lpstr>
      <vt:lpstr>TESTER UN COMPORTEMENT AVEC XUNIT</vt:lpstr>
      <vt:lpstr>FLUENTVALIDATION</vt:lpstr>
      <vt:lpstr>Présentation PowerPoint</vt:lpstr>
      <vt:lpstr>BLAZOR : LES BASES</vt:lpstr>
      <vt:lpstr>BLAZOR : CYCLE DE VIE ET RENDU</vt:lpstr>
      <vt:lpstr>BLAZOR : APPELER L’API</vt:lpstr>
      <vt:lpstr>CORS : LES ÉCHANGES ENTRE ORIGINES</vt:lpstr>
      <vt:lpstr>SPÉCIFICATION 4 — L’INTERFACE</vt:lpstr>
      <vt:lpstr>Présentation PowerPoint</vt:lpstr>
      <vt:lpstr>GRPC : POURQUOI ET COMMENT</vt:lpstr>
      <vt:lpstr>LE CONTRAT .PROTO</vt:lpstr>
      <vt:lpstr>GRPC : VALIDER ET RÉPONDRE</vt:lpstr>
      <vt:lpstr>GRPC : CONFIGURER LES DEUX PROJETS</vt:lpstr>
      <vt:lpstr>GRPC : CRÉER LE CLIENT</vt:lpstr>
      <vt:lpstr>Présentation PowerPoint</vt:lpstr>
      <vt:lpstr>VÉRIFIER UNE PROPOSITION TECHNIQUE</vt:lpstr>
      <vt:lpstr>CONSTRUIRE VOS PROPRES VÉRIFICATIONS</vt:lpstr>
      <vt:lpstr>GABARIT — PROMPTS.md</vt:lpstr>
      <vt:lpstr>GABARIT — ADR</vt:lpstr>
      <vt:lpstr>GABARIT — REVUE-IA.md</vt:lpstr>
      <vt:lpstr>Présentation PowerPoint</vt:lpstr>
      <vt:lpstr>BACKLOG : VOUS FIXEZ L’AMBITION</vt:lpstr>
      <vt:lpstr>CE QUI SERA ÉVALUÉ</vt:lpstr>
      <vt:lpstr>LIVRABLES &amp; REMISE</vt:lpstr>
      <vt:lpstr>CHECKLIST AVANT DE RENDRE</vt:lpstr>
      <vt:lpstr>OÙ CHERCHER DE L’AIDE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C# / ASP.NET — Bataille navale</dc:title>
  <dc:creator>Christophe MOMMER</dc:creator>
  <cp:lastModifiedBy>Chris M</cp:lastModifiedBy>
  <cp:revision>88</cp:revision>
  <cp:lastPrinted>2024-02-08T08:08:16Z</cp:lastPrinted>
  <dcterms:created xsi:type="dcterms:W3CDTF">2021-08-20T09:07:18Z</dcterms:created>
  <dcterms:modified xsi:type="dcterms:W3CDTF">2026-09-10T12:09:49Z</dcterms:modified>
</cp:coreProperties>
</file>